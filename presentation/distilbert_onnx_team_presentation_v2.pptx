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1162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Repository README and branch file tree: https://github.com/kkveena/classfication-engine/tree/claude/review-classification-docs-pjYxP
- Project wiki describing the pipeline and architecture: https://raw.githubusercontent.com/kkveena/classfication-engine/claude/review-classification-docs-pjYxP/docs/wiki.md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Repository top-level layout and folders: https://github.com/kkveena/classfication-engine/tree/claude/review-classification-docs-pjYxP
- Project wiki module and test inventory: https://raw.githubusercontent.com/kkveena/classfication-engine/claude/review-classification-docs-pjYxP/docs/wiki.md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Repo README assumptions: local artifacts, no model-hosting access, GPU export for later CPU serving: https://github.com/kkveena/classfication-engine/tree/claude/review-classification-docs-pjYxP
- Project wiki overview and architecture: https://raw.githubusercontent.com/kkveena/classfication-engine/claude/review-classification-docs-pjYxP/docs/wiki.md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PyTorch ONNX documentation: https://docs.pytorch.org/docs/stable/onnx.html
- ONNX Runtime Python API documentation: https://onnxruntime.ai/docs/api/python/api_summary.html
- Hugging Face offline and local_files_only guidance: https://huggingface.co/docs/transformers/en/installation and https://huggingface.co/docs/transformers/v4.40.0/en/installation
- Repository architecture constraints: https://raw.githubusercontent.com/kkveena/classfication-engine/claude/review-classification-docs-pjYxP/docs/wiki.md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wiki system design and data flow: https://raw.githubusercontent.com/kkveena/classfication-engine/claude/review-classification-docs-pjYxP/docs/wiki.md
- Repository README export/serving guide: https://github.com/kkveena/classfication-engine/tree/claude/review-classification-docs-pjYxP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Repository README required artifacts and export workflow: https://github.com/kkveena/classfication-engine/tree/claude/review-classification-docs-pjYxP
- Project wiki export utility and save_model behavior: https://raw.githubusercontent.com/kkveena/classfication-engine/claude/review-classification-docs-pjYxP/docs/wiki.md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Repository branch file tree: https://github.com/kkveena/classfication-engine/tree/claude/review-classification-docs-pjYxP
- Project wiki repository structure section: https://raw.githubusercontent.com/kkveena/classfication-engine/claude/review-classification-docs-pjYxP/docs/wiki.md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wiki module descriptions: https://raw.githubusercontent.com/kkveena/classfication-engine/claude/review-classification-docs-pjYxP/docs/wiki.md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wiki inference flow and endpoint contract: https://raw.githubusercontent.com/kkveena/classfication-engine/claude/review-classification-docs-pjYxP/docs/wiki.md
- ONNX Runtime Python API (InferenceSession): https://onnxruntime.ai/docs/api/python/api_summary.html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wiki export validation and parity sections: https://raw.githubusercontent.com/kkveena/classfication-engine/claude/review-classification-docs-pjYxP/docs/wiki.md
- Repository README acceptance criteria and suggested tolerances: https://github.com/kkveena/classfication-engine/tree/claude/review-classification-docs-pjYxP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wiki test architecture and expected output: https://raw.githubusercontent.com/kkveena/classfication-engine/claude/review-classification-docs-pjYxP/docs/wiki.md
- User-reported validation run: all tests passed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Repository openshift folder contents: https://github.com/kkveena/classfication-engine/tree/claude/review-classification-docs-pjYxP/openshift
- Project wiki OpenShift guidance: https://raw.githubusercontent.com/kkveena/classfication-engine/claude/review-classification-docs-pjYxP/docs/wiki.md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Hugging Face offline mode and local_files_only docs: https://huggingface.co/docs/transformers/en/installation
- Hugging Face offline mode docs (TRANSFORMERS_OFFLINE): https://huggingface.co/docs/transformers/v4.40.0/en/installation
- Repository README local-only operating model: https://github.com/kkveena/classfication-engine/tree/claude/review-classification-docs-pjYxP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Repository README export and serving commands: https://github.com/kkveena/classfication-engine/tree/claude/review-classification-docs-pjYxP
- Project wiki export utility, CLI entry points, and inference service: https://raw.githubusercontent.com/kkveena/classfication-engine/claude/review-classification-docs-pjYxP/docs/wiki.md
- PyTorch ONNX exporter and ONNX Runtime API docs: https://docs.pytorch.org/docs/stable/onnx.html ; https://onnxruntime.ai/docs/api/python/api_summary.html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Repository README caveats and acceptance criteria: https://github.com/kkveena/classfication-engine/tree/claude/review-classification-docs-pjYxP
- Project wiki validation, export, and service sections: https://raw.githubusercontent.com/kkveena/classfication-engine/claude/review-classification-docs-pjYxP/docs/wiki.md
- Hugging Face offline-mode docs: https://huggingface.co/docs/transformers/en/installation ; https://huggingface.co/docs/transformers/v4.40.0/en/installation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Rollout sequence is a synthesis based on the implemented repository capabilities and deployment assets in the branch.
- Repo evidence: https://github.com/kkveena/classfication-engine/tree/claude/review-classification-docs-pjYxP ; https://raw.githubusercontent.com/kkveena/classfication-engine/claude/review-classification-docs-pjYxP/docs/wiki.md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This closing slide is a synthesis based on the repository implementation branch, test suite, and deployment assets.
- Repository branch: https://github.com/kkveena/classfication-engine/tree/claude/review-classification-docs-pjYxP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91672" cy="0"/>
          </a:xfrm>
          <a:prstGeom prst="line">
            <a:avLst/>
          </a:prstGeom>
          <a:noFill/>
          <a:ln w="1651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Engine | ONNX Runtime approach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DistilBERT to ONNX Runtime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576072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approach validated in code and ready for team rollout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 on GPU, export once, serve on CPU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deck explains the architecture, repository design, validation strategy, and deployment path behind the implementation branch.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83880" y="105156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183880" y="1051560"/>
            <a:ext cx="73152" cy="1600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48472" y="1197864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348472" y="1435608"/>
            <a:ext cx="312724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implementation establishes separate PyTorch and ONNX runtime paths, parity validation, FastAPI serving, and OpenShift deployment assets.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97480" y="4416552"/>
            <a:ext cx="128016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32120" y="4416552"/>
            <a:ext cx="128016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7552" y="43068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Fine-tune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87552" y="454456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DistilBERT model on GPU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0" y="41605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22192" y="43068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Export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822192" y="454456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ONNX artifact from local files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41605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9F8E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56832" y="43068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Serve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56832" y="454456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inference via ONNX Runtime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26880" y="41605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91472" y="43068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Deploy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491472" y="454456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+ OpenShift + HPA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experiment proved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93368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77824" y="1097279"/>
            <a:ext cx="5510784" cy="475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local-only, enterprise-safe ONNX export path is practical for a fine-tuned DistilBERT classifier.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3440" y="1742872"/>
            <a:ext cx="5535168" cy="69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implementation preserves PyTorch for training/reference behavior and adds ONNX Runtime for CPU serving.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009445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3440" y="2627643"/>
            <a:ext cx="5535168" cy="47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is not hand-wavy: the branch includes explicit export, parity, service, and runtime tests.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20840" y="109728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E8F1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85432" y="1243584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85432" y="1481328"/>
            <a:ext cx="1161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runtime modules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21040" y="109728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E9F8E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85632" y="1243584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485632" y="1481328"/>
            <a:ext cx="1161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tests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921240" y="109728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85832" y="1243584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085832" y="1481328"/>
            <a:ext cx="1161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OpenShift manifests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0840" y="2560320"/>
            <a:ext cx="4617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20840" y="2560320"/>
            <a:ext cx="73152" cy="1463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85432" y="2706624"/>
            <a:ext cx="4361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repository outputs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85432" y="2944368"/>
            <a:ext cx="43616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runtime package under classifier_runtime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config-driven deployment path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docs/wiki.md as project reference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Dockerfile + requirements + pyproject CLI entry points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399592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of the implementation branch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920240" y="4160520"/>
            <a:ext cx="0" cy="15087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22464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modules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11680" y="4233786"/>
            <a:ext cx="9144000" cy="18859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228832" y="421549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" y="460183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files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011680" y="4610976"/>
            <a:ext cx="7837714" cy="188595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922546" y="459268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" y="497902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OpenShift manifests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011680" y="4988166"/>
            <a:ext cx="6531429" cy="18859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16261" y="496987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535621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Docs/brief files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011680" y="5365356"/>
            <a:ext cx="3918857" cy="188595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03689" y="534706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F71302FA-0C04-8777-1B44-1EF8F9397858}"/>
              </a:ext>
            </a:extLst>
          </p:cNvPr>
          <p:cNvSpPr/>
          <p:nvPr/>
        </p:nvSpPr>
        <p:spPr>
          <a:xfrm>
            <a:off x="711200" y="2878531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constraints that shaped the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E8F1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96112" y="124358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enterprise environment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59536" y="1559052"/>
            <a:ext cx="21671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dependency on remote model hosting during export, validation, or serving.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73552" y="109728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38144" y="124358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artifacts only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438144" y="1481328"/>
            <a:ext cx="21671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Config, weights, tokenizer, and label metadata must travel together.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15584" y="109728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E9F8E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80176" y="124358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export / CPU serve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80176" y="1481328"/>
            <a:ext cx="21671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GPU workstation for conversion, then run inference efficiently on CPU.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57616" y="109728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22208" y="124358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OpenShift topology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22208" y="1481328"/>
            <a:ext cx="21671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 sit behind Service + Route and can scale through an HPA.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2743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implication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1560" y="3840480"/>
            <a:ext cx="169164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3840480"/>
            <a:ext cx="169164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40680" y="3840480"/>
            <a:ext cx="169164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3840480"/>
            <a:ext cx="169164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3401568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78992" y="354787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PyTorch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78992" y="378561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+ source of truth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08960" y="3401568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E8F1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73552" y="354787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metadata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273552" y="378561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 + tokenizer + config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303520" y="3401568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68112" y="354787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to ONNX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468112" y="378561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local directory only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98080" y="3401568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E9F8E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62672" y="354787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via ORT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662672" y="378561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CPUExecutionProvider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692640" y="3401568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57232" y="3547872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857232" y="3785616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+ OpenShift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decision: why the ONNX Runtime path is the best fit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10881360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Offline / local-only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Reuse trained artifact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CPU serving fit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 complexity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 in PyTorch only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Possible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Moderate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Moderate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Convert to TensorFlow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Possible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Moderate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Export to ONNX Runtime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Low–moderate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77240" y="406908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8F1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2"/>
          <p:cNvSpPr/>
          <p:nvPr/>
        </p:nvSpPr>
        <p:spPr>
          <a:xfrm>
            <a:off x="941832" y="4215384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wins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41832" y="4453128"/>
            <a:ext cx="3127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keeps the current fine-tuning path, fits local-only enterprise controls, and maps cleanly to CPU serving.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434840" y="406908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99432" y="4215384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 support the choice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99432" y="4453128"/>
            <a:ext cx="3127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 positions ONNX export as a first-class path; ONNX Runtime provides a clear CPU inference API.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92440" y="406908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9F8E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57032" y="4215384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57032" y="4453128"/>
            <a:ext cx="3127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ONNX as the serving artifact, not as a replacement for the training-time PyTorch wrapper.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88919" y="1965960"/>
            <a:ext cx="1691623" cy="850392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flipH="1">
            <a:off x="6096000" y="1965960"/>
            <a:ext cx="3048" cy="86868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H="1">
            <a:off x="6867144" y="1965960"/>
            <a:ext cx="2532888" cy="850392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65960" y="5029200"/>
            <a:ext cx="178308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57800" y="5029200"/>
            <a:ext cx="178308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549640" y="5029200"/>
            <a:ext cx="178308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109728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E8F1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124358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pipeline (PyTorch)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70432" y="1481328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Fine-tune and evaluate DistilBERT on GPU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5968" y="109728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0560" y="124358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 artifacts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1481328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 + weights + tokenizer + label metadata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16952" y="109728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81544" y="124358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utility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781544" y="1481328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CLI-first ONNX export with programmatic fallback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05840" y="41605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70432" y="430682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ONNX artifacts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70432" y="454456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model.onnx + config + tokenizer + label JSON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15968" y="41605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9F8E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0560" y="430682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inference service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80560" y="454456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ONNX once at startup; expose /health, /predict, /predict-batch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16952" y="41605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81544" y="430682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OpenShift deployment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781544" y="454456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→ Service → Deployment/Pods → HPA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297680" y="2834640"/>
            <a:ext cx="2743200" cy="2560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split is intentional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" y="23317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Training-time path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5394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Serving-time path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Artifact lifecycle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148840" y="2880360"/>
            <a:ext cx="187452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94960" y="2880360"/>
            <a:ext cx="187452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41080" y="2880360"/>
            <a:ext cx="187452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E8F1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1579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model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41832" y="2477008"/>
            <a:ext cx="13898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locally downloaded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DistilBERT checkpoint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23360" y="201168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87952" y="21579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Fine-tuned model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87952" y="2494280"/>
            <a:ext cx="13898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best_model / final_model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weights + tokenizer + labels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269480" y="201168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34072" y="2157984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ONNX output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34072" y="2444496"/>
            <a:ext cx="13898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model.onnx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 + tokenizer + labels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515600" y="2011680"/>
            <a:ext cx="914400" cy="1554480"/>
          </a:xfrm>
          <a:prstGeom prst="roundRect">
            <a:avLst>
              <a:gd name="adj" fmla="val 8000"/>
            </a:avLst>
          </a:prstGeom>
          <a:solidFill>
            <a:srgbClr val="E9F8E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680192" y="21579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680192" y="2457704"/>
            <a:ext cx="6583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loaded once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startup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38750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Saved artifacts that must stay version-aligned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196596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2688" y="429768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config.json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663440"/>
            <a:ext cx="196596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2688" y="475488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weights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5120640"/>
            <a:ext cx="196596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2688" y="521208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tokenizer artifacts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577840"/>
            <a:ext cx="196596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32688" y="566928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label_to_id.json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6035040"/>
            <a:ext cx="196596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32688" y="612648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id_to_label.json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54680" y="448056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19272" y="4626864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rule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319272" y="4864608"/>
            <a:ext cx="253288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from a local model directory only. Preserve tokenizer and label metadata in the ONNX destination.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448056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28232" y="4626864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rule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428232" y="4864608"/>
            <a:ext cx="225856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caller sends plain JSON. The service performs tokenization, numpy conversion, and post-processing internally.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098280" y="448056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262872" y="462686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mode to avoid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262872" y="4864608"/>
            <a:ext cx="193852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merge ONNX loading into the PyTorch wrapper. Keep separate runtime paths.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snapshot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4846320" cy="50749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35608"/>
            <a:ext cx="493776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classfication-engine/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classifier_runtime/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models/classification/distilbert/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schemas.py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pytorch_model.py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onnx_model.py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export_model.py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verify_parity.py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inference_service.py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utils.py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openshift/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root build files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89320" y="1435608"/>
            <a:ext cx="5166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groups represented in the branch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132320" y="1600200"/>
            <a:ext cx="0" cy="1828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89320" y="167792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modules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223760" y="1687068"/>
            <a:ext cx="3749040" cy="228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045952" y="166878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89320" y="213512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files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23760" y="2144268"/>
            <a:ext cx="3213463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0375" y="212598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0" y="259232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OpenShift yaml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23760" y="2601468"/>
            <a:ext cx="2677886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74798" y="258318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89320" y="304952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Top-level control files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23760" y="3058668"/>
            <a:ext cx="3213463" cy="228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10375" y="304038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393192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53912" y="407822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structure buys us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153912" y="4315968"/>
            <a:ext cx="49103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clean separation of concerns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reproducible export + parity workflow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natural place for tests and manifests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easy extension to other models or tasks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BB81E487-754C-B614-DEBC-3B675D777327}"/>
              </a:ext>
            </a:extLst>
          </p:cNvPr>
          <p:cNvSpPr/>
          <p:nvPr/>
        </p:nvSpPr>
        <p:spPr>
          <a:xfrm>
            <a:off x="685800" y="1074420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Top-level structure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Runtime module map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43000"/>
          <a:ext cx="10881360" cy="3657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Module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job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it matters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schemas.py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Pydantic contracts for request / response / export / parity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Keeps the service contract explicit and testable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pytorch_model.py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Reference training + local inference wrapper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 of truth for training-time behavior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onnx_model.py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ONNX Runtime CPU inference wrapper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Serving path with tokenizer + NumPy + InferenceSession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export_model.py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CLI-first ONNX export utility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Turns local saved model directories into deployable ONNX artifacts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verify_parity.py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PyTorch vs ONNX consistency checks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confidence before production cutover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inference_service.py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FastAPI endpoints and startup loading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 interface for pods and clients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utils.py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JSON, softmax, file checks, artifact copy helpers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9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glue that keeps logic simple and reusable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703320" y="5806440"/>
            <a:ext cx="4754880" cy="2560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Principle: each module does one job well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b="1">
                <a:solidFill>
                  <a:srgbClr val="111827"/>
                </a:solidFill>
              </a:rPr>
              <a:t>API contract and data flow</a:t>
            </a:r>
          </a:p>
        </p:txBody>
      </p:sp>
      <p:sp>
        <p:nvSpPr>
          <p:cNvPr id="3" name="Shape 1"/>
          <p:cNvSpPr/>
          <p:nvPr/>
        </p:nvSpPr>
        <p:spPr>
          <a:xfrm>
            <a:off x="2148840" y="2880360"/>
            <a:ext cx="109728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754880" y="2880360"/>
            <a:ext cx="109728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60920" y="2880360"/>
            <a:ext cx="109728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E8F1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2295144"/>
            <a:ext cx="1069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JSON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87552" y="2532888"/>
            <a:ext cx="10698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{"text": ...}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{"texts": [...]}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14884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93592" y="2295144"/>
            <a:ext cx="1069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93592" y="2532888"/>
            <a:ext cx="10698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→ ids + mask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214884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99632" y="2295144"/>
            <a:ext cx="1069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 int64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199632" y="2532888"/>
            <a:ext cx="10698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ORT-ready inputs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41080" y="214884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E9F8E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05672" y="2295144"/>
            <a:ext cx="1069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ONNX Runtime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805672" y="2532888"/>
            <a:ext cx="10698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287000" y="2148840"/>
            <a:ext cx="1097280" cy="114300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451592" y="229514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451592" y="2532888"/>
            <a:ext cx="841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+ label + probs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931920"/>
          <a:ext cx="5577840" cy="16078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</a:rPr>
                        <a:t>Endpoint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</a:rPr>
                        <a:t>Purpose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</a:rPr>
                        <a:t>Contract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 /health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Readiness / model loaded check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{"status":"healthy", "model_loaded": true}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 /predict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Single text classification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PredictRequest → PredictResponse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 /predict-batch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Batch classification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PredictBatchRequest → PredictBatchResponse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720840" y="393192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885432" y="4078224"/>
            <a:ext cx="4407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payload fields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885432" y="4315968"/>
            <a:ext cx="44074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predicted_class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predicted_label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probabilities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logits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657600" y="5715000"/>
            <a:ext cx="5120640" cy="256032"/>
          </a:xfrm>
          <a:prstGeom prst="rect">
            <a:avLst/>
          </a:prstGeom>
          <a:solidFill>
            <a:srgbClr val="E8F1FF"/>
          </a:solidFill>
          <a:ln>
            <a:solidFill>
              <a:srgbClr val="E8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JSON at the boundary; keep tensors internal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strategy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74520" y="1783080"/>
            <a:ext cx="0" cy="54864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617720" y="1783080"/>
            <a:ext cx="0" cy="54864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60920" y="1783080"/>
            <a:ext cx="0" cy="54864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104120" y="1783080"/>
            <a:ext cx="0" cy="54864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097280"/>
            <a:ext cx="2267712" cy="731520"/>
          </a:xfrm>
          <a:prstGeom prst="roundRect">
            <a:avLst>
              <a:gd name="adj" fmla="val 10000"/>
            </a:avLst>
          </a:prstGeom>
          <a:solidFill>
            <a:srgbClr val="E8F1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124358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Source directory checks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56" y="1527048"/>
            <a:ext cx="233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 + weights + tokenizer present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109728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30752" y="124358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Export completes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730752" y="148132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CLI-first; programmatic fallback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124358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Output directory checks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73951" y="156362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.onnx + config + tokenizer + labels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109728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E9F8E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17152" y="124358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Runtime + API checks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217152" y="153517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parity + startup + endpoints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743200"/>
          <a:ext cx="4754880" cy="24688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Gate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 condition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Predicted class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argmax match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Predicted label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same label when metadata exists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Logits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np.allclose within atol=1e-4 / rtol=1e-4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Probabilities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np.allclose within atol=1e-4 / rtol=1e-4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Batch parity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same checks across batched inputs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989320" y="2743200"/>
            <a:ext cx="51663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89320" y="2743200"/>
            <a:ext cx="73152" cy="2468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153912" y="288950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samples used in parity checks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153912" y="3127248"/>
            <a:ext cx="491032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short text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medium text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long text near sequence limit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multi-sentence text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batch predictions on the same set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474720" y="5577840"/>
            <a:ext cx="5303520" cy="2560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happens before any production rollout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suite and quality gates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Documented in the branch wiki: 31 tests total across five focused modules.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38988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by module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965960" y="1554480"/>
            <a:ext cx="0" cy="33832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6951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 model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57400" y="1678656"/>
            <a:ext cx="4069080" cy="3383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99632" y="166036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34616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ONNX model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57400" y="2355312"/>
            <a:ext cx="2034540" cy="3383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65092" y="233702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02282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57400" y="3031968"/>
            <a:ext cx="3560445" cy="338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90997" y="301368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69948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57400" y="3708624"/>
            <a:ext cx="2034540" cy="3383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65092" y="369033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43761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service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57400" y="4385280"/>
            <a:ext cx="4069080" cy="3383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9632" y="43669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20840" y="1508760"/>
            <a:ext cx="4572000" cy="1463040"/>
          </a:xfrm>
          <a:prstGeom prst="roundRect">
            <a:avLst>
              <a:gd name="adj" fmla="val 5000"/>
            </a:avLst>
          </a:prstGeom>
          <a:solidFill>
            <a:srgbClr val="E8F1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85432" y="1655064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gates covered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85432" y="1892808"/>
            <a:ext cx="43159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directory validation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round-trip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completeness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&amp; batch parity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/ endpoint behavior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3246120"/>
            <a:ext cx="4572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85432" y="3392424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85432" y="3630168"/>
            <a:ext cx="43159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branch validates both correctness and operational failure modes, not just happy-path inference.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20840" y="498348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E9F8E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85432" y="5129784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status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885432" y="5367528"/>
            <a:ext cx="43159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your validation run, all tests passed.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OpenShift deployment topology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783080" y="2743200"/>
            <a:ext cx="105156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85840" y="1737360"/>
            <a:ext cx="0" cy="45720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9281160" y="2743200"/>
            <a:ext cx="29718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E8F1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234086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41832" y="2578608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entry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34640" y="2194560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99232" y="234086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99232" y="2578608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internal VIP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92040" y="219456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E9F8E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56632" y="2340864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056632" y="2578608"/>
            <a:ext cx="125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manages pod replicas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60920" y="2194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25512" y="234086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pods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525512" y="257860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ONNX model once per pod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49240" y="10007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13832" y="114706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ConfigMap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513832" y="138480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config + paths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78340" y="2196084"/>
            <a:ext cx="1920240" cy="1004316"/>
          </a:xfrm>
          <a:prstGeom prst="roundRect">
            <a:avLst>
              <a:gd name="adj" fmla="val 9412"/>
            </a:avLst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59112" y="2315972"/>
            <a:ext cx="1664208" cy="25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HPA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706356" y="2880360"/>
            <a:ext cx="1792224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scales deployment based on metrics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" y="457200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33272" y="4718304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 set in the branch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033272" y="4956048"/>
            <a:ext cx="2990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configmap.yaml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deployment.yaml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hpa.yaml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route.yaml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service.yaml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34840" y="457200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99432" y="4718304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behavior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99432" y="4956048"/>
            <a:ext cx="2990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readiness should wait for model load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liveness can stay simple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model session per pod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01000" y="45720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165592" y="4956048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Horizontal scale is the default pattern for CPU inference.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5F2EEAD3-BBBA-C9B7-1309-456C2F476E2F}"/>
              </a:ext>
            </a:extLst>
          </p:cNvPr>
          <p:cNvSpPr/>
          <p:nvPr/>
        </p:nvSpPr>
        <p:spPr>
          <a:xfrm>
            <a:off x="3840480" y="2743200"/>
            <a:ext cx="105156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17A4248E-E353-0ECE-2ACF-CAB303BA07C1}"/>
              </a:ext>
            </a:extLst>
          </p:cNvPr>
          <p:cNvSpPr/>
          <p:nvPr/>
        </p:nvSpPr>
        <p:spPr>
          <a:xfrm flipV="1">
            <a:off x="6400800" y="2651760"/>
            <a:ext cx="960118" cy="1016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DE4E3193-971A-A67B-12C0-F27A14D6F547}"/>
              </a:ext>
            </a:extLst>
          </p:cNvPr>
          <p:cNvSpPr/>
          <p:nvPr/>
        </p:nvSpPr>
        <p:spPr>
          <a:xfrm>
            <a:off x="9628632" y="2514600"/>
            <a:ext cx="144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lens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 / local-only operating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14300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E8F1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41832" y="128930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Artifacts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41832" y="1527048"/>
            <a:ext cx="3218688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the model as a complete local directory</a:t>
            </a:r>
            <a:endParaRPr lang="en-US" sz="1150" dirty="0"/>
          </a:p>
          <a:p>
            <a:pPr marL="0" indent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save_pretrained() / from_pretrained() workflow</a:t>
            </a:r>
            <a:endParaRPr lang="en-US" sz="1150" dirty="0"/>
          </a:p>
          <a:p>
            <a:pPr marL="0" indent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retain config, tokenizer, and label JSON beside weights / ONNX file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61688" y="114300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26280" y="128930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Code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26280" y="1527048"/>
            <a:ext cx="3218688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set HF_HUB_OFFLINE=1</a:t>
            </a:r>
            <a:endParaRPr lang="en-US" sz="1150" dirty="0"/>
          </a:p>
          <a:p>
            <a:pPr marL="0" indent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set TRANSFORMERS_OFFLINE=1</a:t>
            </a:r>
            <a:endParaRPr lang="en-US" sz="1150" dirty="0"/>
          </a:p>
          <a:p>
            <a:pPr marL="0" indent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local_files_only=True for config/tokenizer/model loading</a:t>
            </a:r>
            <a:endParaRPr lang="en-US" sz="1150" dirty="0"/>
          </a:p>
          <a:p>
            <a:pPr marL="0" indent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use remote model identifiers in enterprise code paths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01000" y="1325880"/>
            <a:ext cx="32918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/>
          <a:lstStyle/>
          <a:p>
            <a:pPr marL="0" indent="0" algn="l">
              <a:buNone/>
            </a:pPr>
            <a:r>
              <a:rPr sz="950" b="0">
                <a:solidFill>
                  <a:srgbClr val="0F172A"/>
                </a:solidFill>
                <a:latin typeface="Consolas"/>
              </a:rPr>
              <a:t>export HF_HUB_OFFLINE=1</a:t>
            </a:r>
            <a:endParaRPr lang="en-US" sz="1200" dirty="0"/>
          </a:p>
          <a:p>
            <a:pPr algn="l"/>
            <a:r>
              <a:rPr sz="950" b="0">
                <a:solidFill>
                  <a:srgbClr val="0F172A"/>
                </a:solidFill>
                <a:latin typeface="Consolas"/>
              </a:rPr>
              <a:t>export TRANSFORMERS_OFFLINE=1</a:t>
            </a:r>
          </a:p>
          <a:p>
            <a:pPr algn="l"/>
            <a:endParaRPr sz="950" b="0">
              <a:solidFill>
                <a:srgbClr val="0F172A"/>
              </a:solidFill>
              <a:latin typeface="Consolas"/>
            </a:endParaRPr>
          </a:p>
          <a:p>
            <a:pPr algn="l"/>
            <a:r>
              <a:rPr sz="950" b="0">
                <a:solidFill>
                  <a:srgbClr val="0F172A"/>
                </a:solidFill>
                <a:latin typeface="Consolas"/>
              </a:rPr>
              <a:t>config = AutoConfig.from_pretrained(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onsolas"/>
              </a:rPr>
              <a:t>    model_dir, local_files_only=True)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onsolas"/>
              </a:rPr>
              <a:t>tokenizer = AutoTokenizer.from_pretrained(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onsolas"/>
              </a:rPr>
              <a:t>    model_dir, local_files_only=True)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onsolas"/>
              </a:rPr>
              <a:t>model = AutoModelForSequenceClassification.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onsolas"/>
              </a:rPr>
              <a:t>    from_pretrained(model_dir, config=config,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onsolas"/>
              </a:rPr>
              <a:t>    local_files_only=True)</a:t>
            </a:r>
          </a:p>
        </p:txBody>
      </p:sp>
      <p:sp>
        <p:nvSpPr>
          <p:cNvPr id="10" name="Shape 8"/>
          <p:cNvSpPr/>
          <p:nvPr/>
        </p:nvSpPr>
        <p:spPr>
          <a:xfrm>
            <a:off x="8001000" y="3429000"/>
            <a:ext cx="32918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65592" y="357530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Packages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65592" y="3813048"/>
            <a:ext cx="303580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00" b="0">
                <a:solidFill>
                  <a:srgbClr val="475569"/>
                </a:solidFill>
                <a:latin typeface="Aptos"/>
              </a:rPr>
              <a:t>Use an internal package mirror, approved wheelhouse, or base image.</a:t>
            </a:r>
            <a:endParaRPr lang="en-US" sz="1150" dirty="0"/>
          </a:p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The model can stay local-only; package delivery still needs an enterprise path.</a:t>
            </a:r>
          </a:p>
        </p:txBody>
      </p:sp>
      <p:sp>
        <p:nvSpPr>
          <p:cNvPr id="13" name="Text 11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flow in practice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GPU workstation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461772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HF_HUB_OFFLINE=1 TRANSFORMERS_OFFLINE=1 \
2 optimum-cli export onnx \
3   --model ./artifacts/distilbert/final_model \
4   --task text-classification \
5   --opset 18 \
6   --device cuda \
7   ./artifacts/distilbert/final_model_onnx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 flipV="1">
            <a:off x="5440680" y="2395728"/>
            <a:ext cx="137160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00600" y="2743200"/>
            <a:ext cx="2743200" cy="256032"/>
          </a:xfrm>
          <a:prstGeom prst="rect">
            <a:avLst/>
          </a:prstGeom>
          <a:solidFill>
            <a:srgbClr val="E8F1FF"/>
          </a:solidFill>
          <a:ln>
            <a:solidFill>
              <a:srgbClr val="E8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artifact now portable to CPU pods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12280" y="960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CPU-serving environment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12280" y="1234440"/>
            <a:ext cx="443484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serve
2 # or
3 uvicorn classifier_runtime.models.classification.distilbert.inference_service:app \
4   --host 0.0.0.0 --port 8080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12280" y="3035808"/>
            <a:ext cx="4434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76872" y="3163824"/>
            <a:ext cx="4178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details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76872" y="3429000"/>
            <a:ext cx="41788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ONNX model loads once during service startup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providers=["CPUExecutionProvider"] by default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tokenizer runs inside the service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02336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E9F8E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33272" y="4169664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split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33272" y="4407408"/>
            <a:ext cx="431596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00" b="0" dirty="0">
                <a:solidFill>
                  <a:srgbClr val="0F172A"/>
                </a:solidFill>
                <a:latin typeface="Aptos"/>
              </a:rPr>
              <a:t>Export runs on the build workstation.</a:t>
            </a:r>
            <a:endParaRPr lang="en-US" sz="1150" dirty="0"/>
          </a:p>
          <a:p>
            <a:pPr algn="l"/>
            <a:r>
              <a:rPr sz="1100" b="0" dirty="0">
                <a:solidFill>
                  <a:srgbClr val="0F172A"/>
                </a:solidFill>
                <a:latin typeface="Aptos"/>
              </a:rPr>
              <a:t>Serving runs in CPU pods.</a:t>
            </a:r>
          </a:p>
          <a:p>
            <a:pPr algn="l"/>
            <a:r>
              <a:rPr sz="1100" b="0" dirty="0">
                <a:solidFill>
                  <a:srgbClr val="0F172A"/>
                </a:solidFill>
                <a:latin typeface="Aptos"/>
              </a:rPr>
              <a:t>Keeping them separate simplifies ownership, troubleshooting, and rollback.</a:t>
            </a:r>
          </a:p>
        </p:txBody>
      </p:sp>
      <p:sp>
        <p:nvSpPr>
          <p:cNvPr id="15" name="Shape 13"/>
          <p:cNvSpPr/>
          <p:nvPr/>
        </p:nvSpPr>
        <p:spPr>
          <a:xfrm>
            <a:off x="5806440" y="4754880"/>
            <a:ext cx="5440680" cy="822960"/>
          </a:xfrm>
          <a:prstGeom prst="roundRect">
            <a:avLst>
              <a:gd name="adj" fmla="val 8889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71032" y="4901184"/>
            <a:ext cx="5184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export CLI packaging is not available, the branch includes a programmatic fallback.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18" name="TextBox 17"/>
          <p:cNvSpPr txBox="1"/>
          <p:nvPr/>
        </p:nvSpPr>
        <p:spPr>
          <a:xfrm>
            <a:off x="5989320" y="5138928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Fallback path: use a programmatic exporter only when the CLI is unavailable.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Outputs must remain identical: model.onnx + config + tokenizer + label JSON.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4241800"/>
            <a:ext cx="40233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475569"/>
                </a:solidFill>
                <a:latin typeface="Aptos"/>
              </a:rPr>
              <a:t>Local run command and container entry</a:t>
            </a:r>
            <a:r>
              <a:rPr lang="en-US" sz="100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000" b="0" dirty="0">
                <a:solidFill>
                  <a:srgbClr val="475569"/>
                </a:solidFill>
                <a:latin typeface="Aptos"/>
              </a:rPr>
              <a:t>point can wrap the same module.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and mitigations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2743200"/>
            <a:ext cx="822960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91640" y="2743200"/>
            <a:ext cx="82296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14600" y="2743200"/>
            <a:ext cx="822960" cy="685800"/>
          </a:xfrm>
          <a:prstGeom prst="rect">
            <a:avLst/>
          </a:prstGeom>
          <a:solidFill>
            <a:srgbClr val="FEFC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82296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91640" y="2057400"/>
            <a:ext cx="822960" cy="685800"/>
          </a:xfrm>
          <a:prstGeom prst="rect">
            <a:avLst/>
          </a:prstGeom>
          <a:solidFill>
            <a:srgbClr val="FEFC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14600" y="2057400"/>
            <a:ext cx="822960" cy="685800"/>
          </a:xfrm>
          <a:prstGeom prst="rect">
            <a:avLst/>
          </a:prstGeom>
          <a:solidFill>
            <a:srgbClr val="ECFCC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822960" cy="685800"/>
          </a:xfrm>
          <a:prstGeom prst="rect">
            <a:avLst/>
          </a:prstGeom>
          <a:solidFill>
            <a:srgbClr val="FEFC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91640" y="1371600"/>
            <a:ext cx="822960" cy="685800"/>
          </a:xfrm>
          <a:prstGeom prst="rect">
            <a:avLst/>
          </a:prstGeom>
          <a:solidFill>
            <a:srgbClr val="ECFCC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1371600"/>
            <a:ext cx="82296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8961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Impact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 rot="16200000">
            <a:off x="91440" y="1993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Likelihood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49300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349300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349300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High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29992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23134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16276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High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1463040"/>
            <a:ext cx="256032" cy="25603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67128" y="1508760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80160" y="214884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44168" y="2194560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96896" y="2148840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60904" y="2194560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38528" y="246888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02536" y="2514600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32304" y="2434590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496312" y="2480310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E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0" y="1234440"/>
          <a:ext cx="7360920" cy="361188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label metadata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Persist and validate label JSON during save/export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 availability inside enterprise network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internal mirror / wheelhouse / base image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Shape mismatch after export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 long inputs and batch parity early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Runtime divergence vs PyTorch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explicit parity checks and tolerances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Startup failures in pods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Gate readiness on model/session load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27432" marB="2743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868680" y="4114800"/>
            <a:ext cx="10287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33272" y="4261104"/>
            <a:ext cx="10030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1033272" y="4498848"/>
            <a:ext cx="10030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of the real risk is operational, not conceptual. The architecture is straightforward; the team’s job is to make artifact handling, export validation, and deployment hygiene repeatable.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rollout plan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43" name="TextBox 42"/>
          <p:cNvSpPr txBox="1"/>
          <p:nvPr/>
        </p:nvSpPr>
        <p:spPr>
          <a:xfrm>
            <a:off x="822960" y="914400"/>
            <a:ext cx="3931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Illustrative 3-week path; parity is optional, not a blocker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54480" y="1417320"/>
            <a:ext cx="2029967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554480" y="1490472"/>
            <a:ext cx="202996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Aptos"/>
              </a:rPr>
              <a:t>Week 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0" y="1417320"/>
            <a:ext cx="2029967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0" y="1490472"/>
            <a:ext cx="202996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Aptos"/>
              </a:rPr>
              <a:t>Week 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0" y="1417320"/>
            <a:ext cx="2029967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60720" y="1490472"/>
            <a:ext cx="202996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Aptos"/>
              </a:rPr>
              <a:t>Week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2176272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Aptos"/>
              </a:rPr>
              <a:t>Track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17320" y="217627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0F172A"/>
                </a:solidFill>
                <a:latin typeface="Aptos"/>
              </a:rPr>
              <a:t>Export + artifact hardening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554479" y="1883664"/>
            <a:ext cx="1965960" cy="3108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2960" y="28346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Aptos"/>
              </a:rPr>
              <a:t>Track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17320" y="2834640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0F172A"/>
                </a:solidFill>
                <a:latin typeface="Aptos"/>
              </a:rPr>
              <a:t>Parity (optional)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85899" y="2551176"/>
            <a:ext cx="4069079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2960" y="3493008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Aptos"/>
              </a:rPr>
              <a:t>Track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17320" y="349300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0F172A"/>
                </a:solidFill>
                <a:latin typeface="Aptos"/>
              </a:rPr>
              <a:t>CPU runtime + 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554479" y="3229862"/>
            <a:ext cx="6236208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2960" y="4151375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Aptos"/>
              </a:rPr>
              <a:t>Track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17320" y="4151375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0F172A"/>
                </a:solidFill>
                <a:latin typeface="Aptos"/>
              </a:rPr>
              <a:t>Container + manifests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508760" y="3854195"/>
            <a:ext cx="1965960" cy="310896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22960" y="4809744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Aptos"/>
              </a:rPr>
              <a:t>Track 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17320" y="4809744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0F172A"/>
                </a:solidFill>
                <a:latin typeface="Aptos"/>
              </a:rPr>
              <a:t>Dev deploy + smoke / perf checks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417320" y="4496816"/>
            <a:ext cx="2912363" cy="310896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7889240" y="2057400"/>
            <a:ext cx="3474720" cy="658368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072119" y="217627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0F172A"/>
                </a:solidFill>
                <a:latin typeface="Aptos"/>
              </a:rPr>
              <a:t>Optional parity track:</a:t>
            </a:r>
          </a:p>
          <a:p>
            <a:pPr algn="l"/>
            <a:r>
              <a:rPr sz="1050" b="0" dirty="0">
                <a:solidFill>
                  <a:srgbClr val="0F172A"/>
                </a:solidFill>
                <a:latin typeface="Aptos"/>
              </a:rPr>
              <a:t>run in parallel when benchmark time is available.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68680" y="5257800"/>
            <a:ext cx="3063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33272" y="53949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Decision gate 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3272" y="5623560"/>
            <a:ext cx="2743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Export reproducible; artifact complete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60520" y="5257800"/>
            <a:ext cx="3063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25112" y="53949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Decision gate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25112" y="5623560"/>
            <a:ext cx="2743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CPU service healthy in dev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452360" y="5257800"/>
            <a:ext cx="3063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616952" y="53949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Decision gate 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16952" y="5623560"/>
            <a:ext cx="2743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Aptos"/>
              </a:rPr>
              <a:t>Ready for team handoff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74720" y="6263640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2563EB"/>
                </a:solidFill>
                <a:latin typeface="Aptos"/>
              </a:rPr>
              <a:t>Recommended team message: prove exportability first, then operationalize the CPU-serving path.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 for the team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E8F1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87552" y="1380744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Treat the branch as a reference implementation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" y="1722730"/>
            <a:ext cx="30815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to define the team standard for export, parity, and service behavior.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434840" y="123444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99432" y="1380744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Decide the benchmark harness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99432" y="1618488"/>
            <a:ext cx="30815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latency, throughput, startup time, and memory under CPU-serving conditions.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0" y="123444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E9F8EF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11312" y="1380744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Pick the rollout target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11312" y="1618488"/>
            <a:ext cx="30815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/ test namespace first, then production once the operational checklist is complete.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Questions to align 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157728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9264" y="3063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owns the local model artifact lifecycle?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3545840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0600" y="3561182"/>
            <a:ext cx="5120640" cy="272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benchmark dataset or replay traffic should represent production load?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4102811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0600" y="4086555"/>
            <a:ext cx="51206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 ONNX artifacts be baked into the image or mounted at runtime?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2960" y="4695952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2980" y="467553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HPA signals and SLOs will decide production readiness?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0" y="2926080"/>
            <a:ext cx="4800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0" y="2926080"/>
            <a:ext cx="73152" cy="2377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65392" y="3072384"/>
            <a:ext cx="4544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65392" y="3310128"/>
            <a:ext cx="454456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technical risk has already been retired: the approach is feasible and implemented. The remaining work is operational hardening, benchmarking, and rollout discipline.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34640" y="5806440"/>
            <a:ext cx="6492240" cy="256032"/>
          </a:xfrm>
          <a:prstGeom prst="rect">
            <a:avLst/>
          </a:prstGeom>
          <a:solidFill>
            <a:srgbClr val="E8F1FF"/>
          </a:solidFill>
          <a:ln>
            <a:solidFill>
              <a:srgbClr val="E8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call to action: run one managed pilot on OpenShift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8428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3232</Words>
  <Application>Microsoft Macintosh PowerPoint</Application>
  <PresentationFormat>Widescreen</PresentationFormat>
  <Paragraphs>468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DistilBERT ONNX Runtime Implementation Approach</dc:title>
  <dc:subject>ONNX Runtime implementation approach</dc:subject>
  <dc:creator>OpenAI</dc:creator>
  <cp:lastModifiedBy>OMSA Class</cp:lastModifiedBy>
  <cp:revision>13</cp:revision>
  <dcterms:created xsi:type="dcterms:W3CDTF">2026-03-22T12:54:40Z</dcterms:created>
  <dcterms:modified xsi:type="dcterms:W3CDTF">2026-03-22T14:18:53Z</dcterms:modified>
</cp:coreProperties>
</file>