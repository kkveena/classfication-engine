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3.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4.xml" ContentType="application/vnd.openxmlformats-officedocument.drawingml.chart+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Net Exposure</c:v>
                </c:pt>
              </c:strCache>
            </c:strRef>
          </c:tx>
          <c:spPr>
            <a:ln w="25400" cap="flat">
              <a:solidFill>
                <a:srgbClr val="2F6BFF"/>
              </a:solidFill>
              <a:prstDash val="solid"/>
              <a:round/>
            </a:ln>
            <a:effectLst/>
          </c:spPr>
          <c:marker>
            <c:symbol val="circle"/>
            <c:size val="6"/>
            <c:spPr>
              <a:solidFill>
                <a:srgbClr val="2F6BFF"/>
              </a:solidFill>
              <a:ln w="9525" cap="flat">
                <a:solidFill>
                  <a:srgbClr val="2F6BFF"/>
                </a:solidFill>
                <a:prstDash val="solid"/>
                <a:round/>
              </a:ln>
              <a:effectLst/>
            </c:spPr>
          </c:marke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18</c:v>
                </c:pt>
                <c:pt idx="1">
                  <c:v>22</c:v>
                </c:pt>
                <c:pt idx="2">
                  <c:v>19</c:v>
                </c:pt>
                <c:pt idx="3">
                  <c:v>26</c:v>
                </c:pt>
                <c:pt idx="4">
                  <c:v>24</c:v>
                </c:pt>
                <c:pt idx="5">
                  <c:v>29</c:v>
                </c:pt>
              </c:numCache>
            </c:numRef>
          </c:val>
          <c:smooth val="0"/>
          <c:extLst>
            <c:ext xmlns:c16="http://schemas.microsoft.com/office/drawing/2014/chart" uri="{C3380CC4-5D6E-409C-BE32-E72D297353CC}">
              <c16:uniqueId val="{00000000-FFDC-5C48-B888-EBA4D166E14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35"/>
          <c:min val="0"/>
        </c:scaling>
        <c:delete val="0"/>
        <c:axPos val="l"/>
        <c:majorGridlines>
          <c:spPr>
            <a:ln w="12700" cap="flat">
              <a:solidFill>
                <a:srgbClr val="D9E1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ptos"/>
              </a:defRPr>
            </a:pPr>
            <a:endParaRPr lang="en-US"/>
          </a:p>
        </c:txPr>
        <c:crossAx val="2094734554"/>
        <c:crosses val="autoZero"/>
        <c:crossBetween val="between"/>
        <c:majorUnit val="5"/>
      </c:valAx>
      <c:spPr>
        <a:noFill/>
        <a:ln>
          <a:noFill/>
        </a:ln>
        <a:effectLst/>
      </c:spPr>
    </c:plotArea>
    <c:plotVisOnly val="1"/>
    <c:dispBlanksAs val="span"/>
    <c:showDLblsOverMax val="1"/>
  </c:chart>
  <c:spPr>
    <a:noFill/>
    <a:ln w="12700" cap="flat">
      <a:solidFill>
        <a:srgbClr val="D8E1EE"/>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Breaches</c:v>
                </c:pt>
              </c:strCache>
            </c:strRef>
          </c:tx>
          <c:spPr>
            <a:solidFill>
              <a:srgbClr val="E95D5D"/>
            </a:solidFill>
            <a:effectLst/>
          </c:spPr>
          <c:invertIfNegative val="0"/>
          <c:cat>
            <c:strRef>
              <c:f>Sheet1!$A$2:$A$2</c:f>
              <c:strCache>
                <c:ptCount val="1"/>
                <c:pt idx="0">
                  <c:v>Threshold &gt; $5M</c:v>
                </c:pt>
              </c:strCache>
            </c:strRef>
          </c:cat>
          <c:val>
            <c:numRef>
              <c:f>Sheet1!$B$2:$B$2</c:f>
              <c:numCache>
                <c:formatCode>General</c:formatCode>
                <c:ptCount val="1"/>
                <c:pt idx="0">
                  <c:v>7</c:v>
                </c:pt>
              </c:numCache>
            </c:numRef>
          </c:val>
          <c:extLst>
            <c:ext xmlns:c16="http://schemas.microsoft.com/office/drawing/2014/chart" uri="{C3380CC4-5D6E-409C-BE32-E72D297353CC}">
              <c16:uniqueId val="{00000000-CBBB-DE42-99B7-8726178A0DF0}"/>
            </c:ext>
          </c:extLst>
        </c:ser>
        <c:ser>
          <c:idx val="1"/>
          <c:order val="1"/>
          <c:tx>
            <c:strRef>
              <c:f>Sheet1!$C$1</c:f>
              <c:strCache>
                <c:ptCount val="1"/>
                <c:pt idx="0">
                  <c:v>Below threshold</c:v>
                </c:pt>
              </c:strCache>
            </c:strRef>
          </c:tx>
          <c:spPr>
            <a:solidFill>
              <a:srgbClr val="17B9A6"/>
            </a:solidFill>
            <a:effectLst/>
          </c:spPr>
          <c:invertIfNegative val="0"/>
          <c:cat>
            <c:strRef>
              <c:f>Sheet1!$A$2:$A$2</c:f>
              <c:strCache>
                <c:ptCount val="1"/>
                <c:pt idx="0">
                  <c:v>Threshold &gt; $5M</c:v>
                </c:pt>
              </c:strCache>
            </c:strRef>
          </c:cat>
          <c:val>
            <c:numRef>
              <c:f>Sheet1!$C$2:$C$2</c:f>
              <c:numCache>
                <c:formatCode>General</c:formatCode>
                <c:ptCount val="1"/>
                <c:pt idx="0">
                  <c:v>19</c:v>
                </c:pt>
              </c:numCache>
            </c:numRef>
          </c:val>
          <c:extLst>
            <c:ext xmlns:c16="http://schemas.microsoft.com/office/drawing/2014/chart" uri="{C3380CC4-5D6E-409C-BE32-E72D297353CC}">
              <c16:uniqueId val="{00000001-CBBB-DE42-99B7-8726178A0DF0}"/>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30"/>
          <c:min val="0"/>
        </c:scaling>
        <c:delete val="0"/>
        <c:axPos val="b"/>
        <c:majorGridlines>
          <c:spPr>
            <a:ln w="12700" cap="flat">
              <a:solidFill>
                <a:srgbClr val="D9E1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majorUnit val="5"/>
      </c:valAx>
      <c:spPr>
        <a:noFill/>
        <a:ln>
          <a:noFill/>
        </a:ln>
        <a:effectLst/>
      </c:spPr>
    </c:plotArea>
    <c:legend>
      <c:legendPos val="b"/>
      <c:overlay val="0"/>
      <c:txPr>
        <a:bodyPr/>
        <a:lstStyle/>
        <a:p>
          <a:pPr>
            <a:defRPr sz="1100"/>
          </a:pPr>
          <a:endParaRPr lang="en-US"/>
        </a:p>
      </c:txPr>
    </c:legend>
    <c:plotVisOnly val="1"/>
    <c:dispBlanksAs val="span"/>
    <c:showDLblsOverMax val="1"/>
  </c:chart>
  <c:spPr>
    <a:noFill/>
    <a:ln w="12700" cap="flat">
      <a:solidFill>
        <a:srgbClr val="D8E1EE"/>
      </a:solid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Original Spider</c:v>
                </c:pt>
              </c:strCache>
            </c:strRef>
          </c:tx>
          <c:spPr>
            <a:solidFill>
              <a:srgbClr val="1F5FBF"/>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DIN-SQL</c:v>
                </c:pt>
                <c:pt idx="1">
                  <c:v>DAIL-SQL</c:v>
                </c:pt>
                <c:pt idx="2">
                  <c:v>MAC-SQL</c:v>
                </c:pt>
              </c:strCache>
            </c:strRef>
          </c:cat>
          <c:val>
            <c:numRef>
              <c:f>Sheet1!$B$2:$B$4</c:f>
              <c:numCache>
                <c:formatCode>General</c:formatCode>
                <c:ptCount val="3"/>
                <c:pt idx="0">
                  <c:v>78.900000000000006</c:v>
                </c:pt>
                <c:pt idx="1">
                  <c:v>83.2</c:v>
                </c:pt>
                <c:pt idx="2">
                  <c:v>82.4</c:v>
                </c:pt>
              </c:numCache>
            </c:numRef>
          </c:val>
          <c:extLst>
            <c:ext xmlns:c16="http://schemas.microsoft.com/office/drawing/2014/chart" uri="{C3380CC4-5D6E-409C-BE32-E72D297353CC}">
              <c16:uniqueId val="{00000000-D4F8-8343-A3FF-8EED9CC5FEF8}"/>
            </c:ext>
          </c:extLst>
        </c:ser>
        <c:ser>
          <c:idx val="1"/>
          <c:order val="1"/>
          <c:tx>
            <c:strRef>
              <c:f>Sheet1!$C$1</c:f>
              <c:strCache>
                <c:ptCount val="1"/>
                <c:pt idx="0">
                  <c:v>Amb-Spider</c:v>
                </c:pt>
              </c:strCache>
            </c:strRef>
          </c:tx>
          <c:spPr>
            <a:solidFill>
              <a:srgbClr val="C53030"/>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DIN-SQL</c:v>
                </c:pt>
                <c:pt idx="1">
                  <c:v>DAIL-SQL</c:v>
                </c:pt>
                <c:pt idx="2">
                  <c:v>MAC-SQL</c:v>
                </c:pt>
              </c:strCache>
            </c:strRef>
          </c:cat>
          <c:val>
            <c:numRef>
              <c:f>Sheet1!$C$2:$C$4</c:f>
              <c:numCache>
                <c:formatCode>General</c:formatCode>
                <c:ptCount val="3"/>
                <c:pt idx="0">
                  <c:v>65.599999999999994</c:v>
                </c:pt>
                <c:pt idx="1">
                  <c:v>58.4</c:v>
                </c:pt>
                <c:pt idx="2">
                  <c:v>78.8</c:v>
                </c:pt>
              </c:numCache>
            </c:numRef>
          </c:val>
          <c:extLst>
            <c:ext xmlns:c16="http://schemas.microsoft.com/office/drawing/2014/chart" uri="{C3380CC4-5D6E-409C-BE32-E72D297353CC}">
              <c16:uniqueId val="{00000001-D4F8-8343-A3FF-8EED9CC5FEF8}"/>
            </c:ext>
          </c:extLst>
        </c:ser>
        <c:ser>
          <c:idx val="2"/>
          <c:order val="2"/>
          <c:tx>
            <c:strRef>
              <c:f>Sheet1!$D$1</c:f>
              <c:strCache>
                <c:ptCount val="1"/>
                <c:pt idx="0">
                  <c:v>After refinement</c:v>
                </c:pt>
              </c:strCache>
            </c:strRef>
          </c:tx>
          <c:spPr>
            <a:solidFill>
              <a:srgbClr val="2F855A"/>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DIN-SQL</c:v>
                </c:pt>
                <c:pt idx="1">
                  <c:v>DAIL-SQL</c:v>
                </c:pt>
                <c:pt idx="2">
                  <c:v>MAC-SQL</c:v>
                </c:pt>
              </c:strCache>
            </c:strRef>
          </c:cat>
          <c:val>
            <c:numRef>
              <c:f>Sheet1!$D$2:$D$4</c:f>
              <c:numCache>
                <c:formatCode>General</c:formatCode>
                <c:ptCount val="3"/>
                <c:pt idx="0">
                  <c:v>72.599999999999994</c:v>
                </c:pt>
                <c:pt idx="1">
                  <c:v>69.5</c:v>
                </c:pt>
                <c:pt idx="2">
                  <c:v>78.900000000000006</c:v>
                </c:pt>
              </c:numCache>
            </c:numRef>
          </c:val>
          <c:extLst>
            <c:ext xmlns:c16="http://schemas.microsoft.com/office/drawing/2014/chart" uri="{C3380CC4-5D6E-409C-BE32-E72D297353CC}">
              <c16:uniqueId val="{00000002-D4F8-8343-A3FF-8EED9CC5FEF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4"/>
        <c:crosses val="autoZero"/>
        <c:crossBetween val="between"/>
        <c:majorUnit val="20"/>
      </c:valAx>
      <c:spPr>
        <a:noFill/>
        <a:ln>
          <a:noFill/>
        </a:ln>
        <a:effectLst/>
      </c:spPr>
    </c:plotArea>
    <c:legend>
      <c:legendPos val="b"/>
      <c:overlay val="0"/>
      <c:txPr>
        <a:bodyPr/>
        <a:lstStyle/>
        <a:p>
          <a:pPr>
            <a:defRPr sz="1000">
              <a:latin typeface="Aptos"/>
              <a:cs typeface="Aptos"/>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Exact Match %</c:v>
                </c:pt>
              </c:strCache>
            </c:strRef>
          </c:tx>
          <c:spPr>
            <a:solidFill>
              <a:srgbClr val="49C6E5"/>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Claude 3.5 Sonnet</c:v>
                </c:pt>
                <c:pt idx="1">
                  <c:v>GPT-4o mini</c:v>
                </c:pt>
                <c:pt idx="2">
                  <c:v>GPT-4o</c:v>
                </c:pt>
                <c:pt idx="3">
                  <c:v>Gemini 1.5 Pro</c:v>
                </c:pt>
              </c:strCache>
            </c:strRef>
          </c:cat>
          <c:val>
            <c:numRef>
              <c:f>Sheet1!$B$2:$B$5</c:f>
              <c:numCache>
                <c:formatCode>General</c:formatCode>
                <c:ptCount val="4"/>
                <c:pt idx="0">
                  <c:v>74.3</c:v>
                </c:pt>
                <c:pt idx="1">
                  <c:v>73.7</c:v>
                </c:pt>
                <c:pt idx="2">
                  <c:v>71.8</c:v>
                </c:pt>
                <c:pt idx="3">
                  <c:v>70.2</c:v>
                </c:pt>
              </c:numCache>
            </c:numRef>
          </c:val>
          <c:extLst>
            <c:ext xmlns:c16="http://schemas.microsoft.com/office/drawing/2014/chart" uri="{C3380CC4-5D6E-409C-BE32-E72D297353CC}">
              <c16:uniqueId val="{00000000-AF12-4C40-8608-EE699878FC8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majorGridlines>
          <c:spPr>
            <a:ln w="12700" cap="flat">
              <a:solidFill>
                <a:srgbClr val="1E293B"/>
              </a:solidFill>
              <a:prstDash val="solid"/>
              <a:round/>
            </a:ln>
          </c:spPr>
        </c:majorGridlines>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CBD5E1"/>
                </a:solidFill>
                <a:latin typeface="Aptos"/>
              </a:defRPr>
            </a:pPr>
            <a:endParaRPr lang="en-US"/>
          </a:p>
        </c:txPr>
        <c:crossAx val="2094734552"/>
        <c:crosses val="autoZero"/>
        <c:auto val="1"/>
        <c:lblAlgn val="ctr"/>
        <c:lblOffset val="100"/>
        <c:noMultiLvlLbl val="1"/>
      </c:catAx>
      <c:valAx>
        <c:axId val="2094734552"/>
        <c:scaling>
          <c:orientation val="minMax"/>
          <c:max val="80"/>
          <c:min val="0"/>
        </c:scaling>
        <c:delete val="0"/>
        <c:axPos val="l"/>
        <c:majorGridlines>
          <c:spPr>
            <a:ln w="12700" cap="flat">
              <a:solidFill>
                <a:srgbClr val="3341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CBD5E1"/>
                </a:solidFill>
                <a:latin typeface="Aptos"/>
              </a:defRPr>
            </a:pPr>
            <a:endParaRPr lang="en-US"/>
          </a:p>
        </c:txPr>
        <c:crossAx val="2094734554"/>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8268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content and architecture guidance from this chat (March 19, 2026).
- Any chart values marked illustrative are conceptual only and not derived from production 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content and architecture guidance from this chat (March 19, 2026).
- Any chart values marked illustrative are conceptual only and not derived from production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content and architecture guidance from this chat (March 19, 2026).
- Any chart values marked illustrative are conceptual only and not derived from production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content and architecture guidance from this chat (March 19, 2026).
- Any chart values marked illustrative are conceptual only and not derived from production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content and architecture guidance from this chat (March 19, 2026).
- Any chart values marked illustrative are conceptual only and not derived from production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content and architecture guidance from this chat (March 19, 2026).
- Any chart values marked illustrative are conceptual only and not derived from production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content and architecture guidance from this chat (March 19, 2026).
- Any chart values marked illustrative are conceptual only and not derived from production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content and architecture guidance from this chat (March 19, 2026).
- Any chart values marked illustrative are conceptual only and not derived from production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content and architecture guidance from this chat (March 19, 2026).
- Any chart values marked illustrative are conceptual only and not derived from production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content and architecture guidance from this chat (March 19, 2026).
- Any chart values marked illustrative are conceptual only and not derived from production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content and architecture guidance from this chat (March 19, 2026).
- Any chart values marked illustrative are conceptual only and not derived from production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content and architecture guidance from this chat (March 19, 2026).
- Any chart values marked illustrative are conceptual only and not derived from production data.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content and architecture guidance from this chat (March 19, 2026).
- Any chart values marked illustrative are conceptual only and not derived from production data.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content and architecture guidance from this chat (March 19, 2026).
- Any chart values marked illustrative are conceptual only and not derived from production data.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technical content and architecture guidance from this chat (March 19, 2026).
- Any chart values marked illustrative are conceptual only and not derived from production data.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OpenReview forum page for status and TL;DR: https://openreview.net/forum?id=CVYUcrHKCE (ICLR 2026 withdrawn submission; describes the framework as cleaning and standardizing ambiguous schemas).
- OpenReview PDF, abstract and method description: https://openreview.net/pdf?id=CVYUcrHKCE (pp.1-3; lines 54-73, 277-289, 365-370 in extracted text).
- OpenReview PDF, Table 1 and Figure 3/Table 4 values used in chart: https://openreview.net/pdf?id=CVYUcrHKCE (p.5 lines 656-669; p.7 lines 925-950; p.8 lines 1006-1013).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OpenReview PDF method and contribution summary: https://openreview.net/pdf?id=CVYUcrHKCE (pp.1-3; lines 64-73, 277-289, 365-370 in extracted text).
- dbt Semantic Layer FAQ: https://docs.getdbt.com/docs/use-dbt-semantic-layer/sl-faqs (lines 107-126, 131-146, 181-199, 229-231 in extracted text) for central metric definition, dynamic SQL generation, APIs, consistency, and query optimization.
- dbt Semantic models docs: https://docs.getdbt.com/docs/build/semantic-models (lines 128-179 in extracted text) for semantic models, entities, and dimensions.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Paper: Querying Databases with Function Calling, arXiv:2502.00032. Key claims from the abstract: unified tool schema for search, filters, aggregation, groupby, and collection routing; benchmark name DBGorilla; top Exact Match scores for Claude 3.5 Sonnet (74.3), GPT-4o mini (73.7), GPT-4o (71.8), and Gemini 1.5 Pro (70.2). Source viewed at: https://arxiv.org/pdf/2502.00032
- Supporting passages captured from the PDF lines around abstract and methodology: lines 25-54, 103-148, and 191-210 in the reviewed PDF.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Paper: Querying Databases with Function Calling, arXiv:2502.00032. Relevant claims used on this slide: function-calling loop, query_database function design, single-step evaluation, tool-selection rate, and ablation result that parallel tool calling / rationale / separate tool definitions / structured outputs have minimal performance impact. Source viewed at: https://arxiv.org/pdf/2502.00032
- Supporting PDF passages used: lines 149-162, 191-210, and 139-148.
- dbt docs used for recommendation framing:
  * dbt Semantic Layer FAQ: centrally define metrics, dynamic SQL generation, APIs to query metrics and dimensions, and central consistency of metrics. Source: https://docs.getdbt.com/docs/use-dbt-semantic-layer/sl-faqs
  * About MetricFlow: MetricFlow powers the Semantic Layer, handles SQL query construction, and lets teams define metrics in dbt semantic models. Source: https://docs.getdbt.com/docs/build/about-metricflow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MASTER">
    <p:bg>
      <p:bgPr>
        <a:solidFill>
          <a:srgbClr val="0B1020"/>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49C6E5"/>
          </a:solidFill>
          <a:ln w="12700">
            <a:solidFill>
              <a:srgbClr val="49C6E5"/>
            </a:solidFill>
            <a:prstDash val="solid"/>
          </a:ln>
        </p:spPr>
        <p:txBody>
          <a:bodyPr/>
          <a:lstStyle/>
          <a:p>
            <a:endParaRPr lang="en-US"/>
          </a:p>
        </p:txBody>
      </p:sp>
      <p:sp>
        <p:nvSpPr>
          <p:cNvPr id="3" name="Text 1"/>
          <p:cNvSpPr/>
          <p:nvPr/>
        </p:nvSpPr>
        <p:spPr>
          <a:xfrm>
            <a:off x="411480" y="6428232"/>
            <a:ext cx="5303520" cy="182880"/>
          </a:xfrm>
          <a:prstGeom prst="rect">
            <a:avLst/>
          </a:prstGeom>
          <a:noFill/>
          <a:ln/>
        </p:spPr>
        <p:txBody>
          <a:bodyPr wrap="square" lIns="0" tIns="0" rIns="0" bIns="0" rtlCol="0" anchor="ctr"/>
          <a:lstStyle/>
          <a:p>
            <a:pPr marL="0" indent="0">
              <a:buNone/>
            </a:pPr>
            <a:r>
              <a:rPr lang="en-US" sz="900" dirty="0">
                <a:solidFill>
                  <a:srgbClr val="94A3B8"/>
                </a:solidFill>
                <a:latin typeface="Aptos" pitchFamily="34" charset="0"/>
                <a:ea typeface="Aptos" pitchFamily="34" charset="-122"/>
                <a:cs typeface="Aptos" pitchFamily="34" charset="-120"/>
              </a:rPr>
              <a:t>Semantic GenAI for BI — manager summary</a:t>
            </a:r>
            <a:endParaRPr lang="en-US" sz="900" dirty="0"/>
          </a:p>
        </p:txBody>
      </p:sp>
      <p:sp>
        <p:nvSpPr>
          <p:cNvPr id="4" name="Text 2"/>
          <p:cNvSpPr/>
          <p:nvPr/>
        </p:nvSpPr>
        <p:spPr>
          <a:xfrm>
            <a:off x="11475720" y="6400800"/>
            <a:ext cx="320040" cy="182880"/>
          </a:xfrm>
          <a:prstGeom prst="rect">
            <a:avLst/>
          </a:prstGeom>
          <a:noFill/>
          <a:ln/>
        </p:spPr>
        <p:txBody>
          <a:bodyPr wrap="square" lIns="0" tIns="0" rIns="0" bIns="0" rtlCol="0" anchor="ctr"/>
          <a:lstStyle/>
          <a:p>
            <a:pPr marL="0" indent="0" algn="r">
              <a:buNone/>
            </a:pPr>
            <a:r>
              <a:rPr lang="en-US" sz="900" dirty="0">
                <a:solidFill>
                  <a:srgbClr val="94A3B8"/>
                </a:solidFill>
                <a:latin typeface="Aptos" pitchFamily="34" charset="0"/>
                <a:ea typeface="Aptos" pitchFamily="34" charset="-122"/>
                <a:cs typeface="Aptos" pitchFamily="34" charset="-120"/>
              </a:rPr>
              <a:t>1</a:t>
            </a:r>
            <a:endParaRPr lang="en-US" sz="900" dirty="0"/>
          </a:p>
        </p:txBody>
      </p:sp>
    </p:spTree>
    <p:extLst>
      <p:ext uri="{BB962C8B-B14F-4D97-AF65-F5344CB8AC3E}">
        <p14:creationId xmlns:p14="http://schemas.microsoft.com/office/powerpoint/2010/main" val="6793136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3233F"/>
          </a:solidFill>
          <a:ln w="12700">
            <a:solidFill>
              <a:srgbClr val="13233F">
                <a:alpha val="0"/>
              </a:srgbClr>
            </a:solidFill>
            <a:prstDash val="solid"/>
          </a:ln>
        </p:spPr>
        <p:txBody>
          <a:bodyPr/>
          <a:lstStyle/>
          <a:p>
            <a:endParaRPr lang="en-US"/>
          </a:p>
        </p:txBody>
      </p:sp>
      <p:sp>
        <p:nvSpPr>
          <p:cNvPr id="3" name="Text 1"/>
          <p:cNvSpPr/>
          <p:nvPr/>
        </p:nvSpPr>
        <p:spPr>
          <a:xfrm>
            <a:off x="566928" y="164592"/>
            <a:ext cx="8046720" cy="237744"/>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Phase 1 Revised Technical Blueprint</a:t>
            </a:r>
            <a:endParaRPr lang="en-US" sz="2600" dirty="0"/>
          </a:p>
        </p:txBody>
      </p:sp>
      <p:sp>
        <p:nvSpPr>
          <p:cNvPr id="4" name="Text 2"/>
          <p:cNvSpPr/>
          <p:nvPr/>
        </p:nvSpPr>
        <p:spPr>
          <a:xfrm>
            <a:off x="9281160" y="164592"/>
            <a:ext cx="2240280" cy="219456"/>
          </a:xfrm>
          <a:prstGeom prst="rect">
            <a:avLst/>
          </a:prstGeom>
          <a:noFill/>
          <a:ln/>
        </p:spPr>
        <p:txBody>
          <a:bodyPr wrap="square" lIns="0" tIns="0" rIns="0" bIns="0" rtlCol="0" anchor="ctr"/>
          <a:lstStyle/>
          <a:p>
            <a:pPr marL="0" indent="0" algn="r">
              <a:buNone/>
            </a:pPr>
            <a:r>
              <a:rPr lang="en-US" sz="1050" dirty="0">
                <a:solidFill>
                  <a:srgbClr val="D7E2FF"/>
                </a:solidFill>
                <a:latin typeface="Aptos" pitchFamily="34" charset="0"/>
                <a:ea typeface="Aptos" pitchFamily="34" charset="-122"/>
                <a:cs typeface="Aptos" pitchFamily="34" charset="-120"/>
              </a:rPr>
              <a:t>Semantic GenAI for BI · Revised Phase 1</a:t>
            </a:r>
            <a:endParaRPr lang="en-US" sz="1050" dirty="0"/>
          </a:p>
        </p:txBody>
      </p:sp>
      <p:sp>
        <p:nvSpPr>
          <p:cNvPr id="5" name="Shape 3"/>
          <p:cNvSpPr/>
          <p:nvPr/>
        </p:nvSpPr>
        <p:spPr>
          <a:xfrm>
            <a:off x="566928" y="6382512"/>
            <a:ext cx="11064240" cy="0"/>
          </a:xfrm>
          <a:prstGeom prst="line">
            <a:avLst/>
          </a:prstGeom>
          <a:noFill/>
          <a:ln w="12700">
            <a:solidFill>
              <a:srgbClr val="D8E1EE"/>
            </a:solidFill>
            <a:prstDash val="solid"/>
          </a:ln>
        </p:spPr>
        <p:txBody>
          <a:bodyPr/>
          <a:lstStyle/>
          <a:p>
            <a:endParaRPr lang="en-US"/>
          </a:p>
        </p:txBody>
      </p:sp>
      <p:sp>
        <p:nvSpPr>
          <p:cNvPr id="6" name="Text 4"/>
          <p:cNvSpPr/>
          <p:nvPr/>
        </p:nvSpPr>
        <p:spPr>
          <a:xfrm>
            <a:off x="777240" y="987552"/>
            <a:ext cx="6172200" cy="512064"/>
          </a:xfrm>
          <a:prstGeom prst="rect">
            <a:avLst/>
          </a:prstGeom>
          <a:noFill/>
          <a:ln/>
        </p:spPr>
        <p:txBody>
          <a:bodyPr wrap="square" lIns="0" tIns="0" rIns="0" bIns="0" rtlCol="0" anchor="ctr"/>
          <a:lstStyle/>
          <a:p>
            <a:pPr marL="0" indent="0">
              <a:buNone/>
            </a:pPr>
            <a:r>
              <a:rPr lang="en-US" sz="2750" b="1" dirty="0">
                <a:solidFill>
                  <a:srgbClr val="13233F"/>
                </a:solidFill>
              </a:rPr>
              <a:t>Source-to-Semantic design for both JSON files and direct SQL sources</a:t>
            </a:r>
            <a:endParaRPr lang="en-US" sz="2750" dirty="0"/>
          </a:p>
        </p:txBody>
      </p:sp>
      <p:sp>
        <p:nvSpPr>
          <p:cNvPr id="7" name="Text 5"/>
          <p:cNvSpPr/>
          <p:nvPr/>
        </p:nvSpPr>
        <p:spPr>
          <a:xfrm>
            <a:off x="777240" y="1664208"/>
            <a:ext cx="5669280" cy="786384"/>
          </a:xfrm>
          <a:prstGeom prst="rect">
            <a:avLst/>
          </a:prstGeom>
          <a:noFill/>
          <a:ln/>
        </p:spPr>
        <p:txBody>
          <a:bodyPr wrap="square" lIns="0" tIns="0" rIns="0" bIns="0" rtlCol="0" anchor="ctr"/>
          <a:lstStyle/>
          <a:p>
            <a:pPr marL="0" indent="0">
              <a:buNone/>
            </a:pPr>
            <a:r>
              <a:rPr lang="en-US" sz="1900" dirty="0">
                <a:solidFill>
                  <a:srgbClr val="1E2A3A"/>
                </a:solidFill>
              </a:rPr>
              <a:t>Goal: translate raw or consolidated operational data into a governed dbt semantic model that Gemini can query without guessing fields, joins, or formulas.</a:t>
            </a:r>
            <a:endParaRPr lang="en-US" sz="1900" dirty="0"/>
          </a:p>
        </p:txBody>
      </p:sp>
      <p:sp>
        <p:nvSpPr>
          <p:cNvPr id="8" name="Shape 6"/>
          <p:cNvSpPr/>
          <p:nvPr/>
        </p:nvSpPr>
        <p:spPr>
          <a:xfrm>
            <a:off x="777240" y="2651760"/>
            <a:ext cx="1554480" cy="329184"/>
          </a:xfrm>
          <a:prstGeom prst="roundRect">
            <a:avLst>
              <a:gd name="adj" fmla="val 22222"/>
            </a:avLst>
          </a:prstGeom>
          <a:solidFill>
            <a:srgbClr val="EAF1FF"/>
          </a:solidFill>
          <a:ln w="12700">
            <a:solidFill>
              <a:srgbClr val="EAF1FF">
                <a:alpha val="0"/>
              </a:srgbClr>
            </a:solidFill>
            <a:prstDash val="solid"/>
          </a:ln>
        </p:spPr>
        <p:txBody>
          <a:bodyPr/>
          <a:lstStyle/>
          <a:p>
            <a:endParaRPr lang="en-US"/>
          </a:p>
        </p:txBody>
      </p:sp>
      <p:sp>
        <p:nvSpPr>
          <p:cNvPr id="9" name="Text 7"/>
          <p:cNvSpPr/>
          <p:nvPr/>
        </p:nvSpPr>
        <p:spPr>
          <a:xfrm>
            <a:off x="850392" y="2724912"/>
            <a:ext cx="1408176" cy="146304"/>
          </a:xfrm>
          <a:prstGeom prst="rect">
            <a:avLst/>
          </a:prstGeom>
          <a:noFill/>
          <a:ln/>
        </p:spPr>
        <p:txBody>
          <a:bodyPr wrap="square" lIns="0" tIns="0" rIns="0" bIns="0" rtlCol="0" anchor="ctr"/>
          <a:lstStyle/>
          <a:p>
            <a:pPr marL="0" indent="0" algn="ctr">
              <a:buNone/>
            </a:pPr>
            <a:r>
              <a:rPr lang="en-US" sz="1100" b="1" dirty="0">
                <a:solidFill>
                  <a:srgbClr val="13233F"/>
                </a:solidFill>
              </a:rPr>
              <a:t>Zero hallucination</a:t>
            </a:r>
            <a:endParaRPr lang="en-US" sz="1100" dirty="0"/>
          </a:p>
        </p:txBody>
      </p:sp>
      <p:sp>
        <p:nvSpPr>
          <p:cNvPr id="10" name="Shape 8"/>
          <p:cNvSpPr/>
          <p:nvPr/>
        </p:nvSpPr>
        <p:spPr>
          <a:xfrm>
            <a:off x="2450592" y="2651760"/>
            <a:ext cx="1737360" cy="329184"/>
          </a:xfrm>
          <a:prstGeom prst="roundRect">
            <a:avLst>
              <a:gd name="adj" fmla="val 22222"/>
            </a:avLst>
          </a:prstGeom>
          <a:solidFill>
            <a:srgbClr val="DFF7F3"/>
          </a:solidFill>
          <a:ln w="12700">
            <a:solidFill>
              <a:srgbClr val="DFF7F3">
                <a:alpha val="0"/>
              </a:srgbClr>
            </a:solidFill>
            <a:prstDash val="solid"/>
          </a:ln>
        </p:spPr>
        <p:txBody>
          <a:bodyPr/>
          <a:lstStyle/>
          <a:p>
            <a:endParaRPr lang="en-US"/>
          </a:p>
        </p:txBody>
      </p:sp>
      <p:sp>
        <p:nvSpPr>
          <p:cNvPr id="11" name="Text 9"/>
          <p:cNvSpPr/>
          <p:nvPr/>
        </p:nvSpPr>
        <p:spPr>
          <a:xfrm>
            <a:off x="2523744" y="2724912"/>
            <a:ext cx="1591056" cy="146304"/>
          </a:xfrm>
          <a:prstGeom prst="rect">
            <a:avLst/>
          </a:prstGeom>
          <a:noFill/>
          <a:ln/>
        </p:spPr>
        <p:txBody>
          <a:bodyPr wrap="square" lIns="0" tIns="0" rIns="0" bIns="0" rtlCol="0" anchor="ctr"/>
          <a:lstStyle/>
          <a:p>
            <a:pPr marL="0" indent="0" algn="ctr">
              <a:buNone/>
            </a:pPr>
            <a:r>
              <a:rPr lang="en-US" sz="1100" b="1" dirty="0">
                <a:solidFill>
                  <a:srgbClr val="13233F"/>
                </a:solidFill>
              </a:rPr>
              <a:t>Calculation accuracy</a:t>
            </a:r>
            <a:endParaRPr lang="en-US" sz="1100" dirty="0"/>
          </a:p>
        </p:txBody>
      </p:sp>
      <p:sp>
        <p:nvSpPr>
          <p:cNvPr id="12" name="Shape 10"/>
          <p:cNvSpPr/>
          <p:nvPr/>
        </p:nvSpPr>
        <p:spPr>
          <a:xfrm>
            <a:off x="4343400" y="2651760"/>
            <a:ext cx="1737360" cy="329184"/>
          </a:xfrm>
          <a:prstGeom prst="roundRect">
            <a:avLst>
              <a:gd name="adj" fmla="val 22222"/>
            </a:avLst>
          </a:prstGeom>
          <a:solidFill>
            <a:srgbClr val="FFF2D7"/>
          </a:solidFill>
          <a:ln w="12700">
            <a:solidFill>
              <a:srgbClr val="FFF2D7">
                <a:alpha val="0"/>
              </a:srgbClr>
            </a:solidFill>
            <a:prstDash val="solid"/>
          </a:ln>
        </p:spPr>
        <p:txBody>
          <a:bodyPr/>
          <a:lstStyle/>
          <a:p>
            <a:endParaRPr lang="en-US"/>
          </a:p>
        </p:txBody>
      </p:sp>
      <p:sp>
        <p:nvSpPr>
          <p:cNvPr id="13" name="Text 11"/>
          <p:cNvSpPr/>
          <p:nvPr/>
        </p:nvSpPr>
        <p:spPr>
          <a:xfrm>
            <a:off x="4416552" y="2724912"/>
            <a:ext cx="1591056" cy="146304"/>
          </a:xfrm>
          <a:prstGeom prst="rect">
            <a:avLst/>
          </a:prstGeom>
          <a:noFill/>
          <a:ln/>
        </p:spPr>
        <p:txBody>
          <a:bodyPr wrap="square" lIns="0" tIns="0" rIns="0" bIns="0" rtlCol="0" anchor="ctr"/>
          <a:lstStyle/>
          <a:p>
            <a:pPr marL="0" indent="0" algn="ctr">
              <a:buNone/>
            </a:pPr>
            <a:r>
              <a:rPr lang="en-US" sz="1100" b="1" dirty="0">
                <a:solidFill>
                  <a:srgbClr val="F5A623"/>
                </a:solidFill>
              </a:rPr>
              <a:t>Audit-ready lineage</a:t>
            </a:r>
            <a:endParaRPr lang="en-US" sz="1100" dirty="0"/>
          </a:p>
        </p:txBody>
      </p:sp>
      <p:sp>
        <p:nvSpPr>
          <p:cNvPr id="14" name="Shape 12"/>
          <p:cNvSpPr/>
          <p:nvPr/>
        </p:nvSpPr>
        <p:spPr>
          <a:xfrm>
            <a:off x="7479792" y="1078992"/>
            <a:ext cx="3794760" cy="4389120"/>
          </a:xfrm>
          <a:prstGeom prst="roundRect">
            <a:avLst>
              <a:gd name="adj" fmla="val 1928"/>
            </a:avLst>
          </a:prstGeom>
          <a:solidFill>
            <a:srgbClr val="FFFFFF"/>
          </a:solidFill>
          <a:ln w="12700">
            <a:solidFill>
              <a:srgbClr val="D8E1EE"/>
            </a:solidFill>
            <a:prstDash val="solid"/>
          </a:ln>
        </p:spPr>
        <p:txBody>
          <a:bodyPr/>
          <a:lstStyle/>
          <a:p>
            <a:endParaRPr lang="en-US"/>
          </a:p>
        </p:txBody>
      </p:sp>
      <p:sp>
        <p:nvSpPr>
          <p:cNvPr id="15" name="Text 13"/>
          <p:cNvSpPr/>
          <p:nvPr/>
        </p:nvSpPr>
        <p:spPr>
          <a:xfrm>
            <a:off x="7726680" y="1325880"/>
            <a:ext cx="1645920" cy="219456"/>
          </a:xfrm>
          <a:prstGeom prst="rect">
            <a:avLst/>
          </a:prstGeom>
          <a:noFill/>
          <a:ln/>
        </p:spPr>
        <p:txBody>
          <a:bodyPr wrap="square" lIns="0" tIns="0" rIns="0" bIns="0" rtlCol="0" anchor="ctr"/>
          <a:lstStyle/>
          <a:p>
            <a:pPr marL="0" indent="0">
              <a:buNone/>
            </a:pPr>
            <a:r>
              <a:rPr lang="en-US" sz="2000" b="1" dirty="0">
                <a:solidFill>
                  <a:srgbClr val="13233F"/>
                </a:solidFill>
              </a:rPr>
              <a:t>Phase 1 scope</a:t>
            </a:r>
            <a:endParaRPr lang="en-US" sz="2000" dirty="0"/>
          </a:p>
        </p:txBody>
      </p:sp>
      <p:sp>
        <p:nvSpPr>
          <p:cNvPr id="16" name="Shape 14"/>
          <p:cNvSpPr/>
          <p:nvPr/>
        </p:nvSpPr>
        <p:spPr>
          <a:xfrm>
            <a:off x="7882128" y="1993392"/>
            <a:ext cx="0" cy="2633472"/>
          </a:xfrm>
          <a:prstGeom prst="line">
            <a:avLst/>
          </a:prstGeom>
          <a:noFill/>
          <a:ln w="12700">
            <a:solidFill>
              <a:srgbClr val="17B9A6"/>
            </a:solidFill>
            <a:prstDash val="solid"/>
            <a:headEnd type="none"/>
            <a:tailEnd type="triangle"/>
          </a:ln>
        </p:spPr>
        <p:txBody>
          <a:bodyPr/>
          <a:lstStyle/>
          <a:p>
            <a:endParaRPr lang="en-US"/>
          </a:p>
        </p:txBody>
      </p:sp>
      <p:sp>
        <p:nvSpPr>
          <p:cNvPr id="17" name="Shape 15"/>
          <p:cNvSpPr/>
          <p:nvPr/>
        </p:nvSpPr>
        <p:spPr>
          <a:xfrm>
            <a:off x="7516368" y="1828800"/>
            <a:ext cx="310896" cy="310896"/>
          </a:xfrm>
          <a:prstGeom prst="ellipse">
            <a:avLst/>
          </a:prstGeom>
          <a:solidFill>
            <a:srgbClr val="FFFFFF"/>
          </a:solidFill>
          <a:ln w="12700">
            <a:solidFill>
              <a:srgbClr val="17B9A6"/>
            </a:solidFill>
            <a:prstDash val="solid"/>
          </a:ln>
        </p:spPr>
        <p:txBody>
          <a:bodyPr/>
          <a:lstStyle/>
          <a:p>
            <a:endParaRPr lang="en-US"/>
          </a:p>
        </p:txBody>
      </p:sp>
      <p:sp>
        <p:nvSpPr>
          <p:cNvPr id="18" name="Text 16"/>
          <p:cNvSpPr/>
          <p:nvPr/>
        </p:nvSpPr>
        <p:spPr>
          <a:xfrm>
            <a:off x="7516368" y="1892808"/>
            <a:ext cx="310896" cy="109728"/>
          </a:xfrm>
          <a:prstGeom prst="rect">
            <a:avLst/>
          </a:prstGeom>
          <a:noFill/>
          <a:ln/>
        </p:spPr>
        <p:txBody>
          <a:bodyPr wrap="square" lIns="0" tIns="0" rIns="0" bIns="0" rtlCol="0" anchor="ctr"/>
          <a:lstStyle/>
          <a:p>
            <a:pPr marL="0" indent="0" algn="ctr">
              <a:buNone/>
            </a:pPr>
            <a:r>
              <a:rPr lang="en-US" sz="1200" b="1" dirty="0">
                <a:solidFill>
                  <a:srgbClr val="17B9A6"/>
                </a:solidFill>
              </a:rPr>
              <a:t>1</a:t>
            </a:r>
            <a:endParaRPr lang="en-US" sz="1200" dirty="0"/>
          </a:p>
        </p:txBody>
      </p:sp>
      <p:sp>
        <p:nvSpPr>
          <p:cNvPr id="19" name="Text 17"/>
          <p:cNvSpPr/>
          <p:nvPr/>
        </p:nvSpPr>
        <p:spPr>
          <a:xfrm>
            <a:off x="8001000" y="1819656"/>
            <a:ext cx="2651760" cy="164592"/>
          </a:xfrm>
          <a:prstGeom prst="rect">
            <a:avLst/>
          </a:prstGeom>
          <a:noFill/>
          <a:ln/>
        </p:spPr>
        <p:txBody>
          <a:bodyPr wrap="square" lIns="0" tIns="0" rIns="0" bIns="0" rtlCol="0" anchor="ctr"/>
          <a:lstStyle/>
          <a:p>
            <a:pPr marL="0" indent="0">
              <a:buNone/>
            </a:pPr>
            <a:r>
              <a:rPr lang="en-US" sz="1450" b="1" dirty="0">
                <a:solidFill>
                  <a:srgbClr val="1E2A3A"/>
                </a:solidFill>
              </a:rPr>
              <a:t>Register the source</a:t>
            </a:r>
            <a:endParaRPr lang="en-US" sz="1450" dirty="0"/>
          </a:p>
        </p:txBody>
      </p:sp>
      <p:sp>
        <p:nvSpPr>
          <p:cNvPr id="20" name="Text 18"/>
          <p:cNvSpPr/>
          <p:nvPr/>
        </p:nvSpPr>
        <p:spPr>
          <a:xfrm>
            <a:off x="8001000" y="2002536"/>
            <a:ext cx="2788920" cy="164592"/>
          </a:xfrm>
          <a:prstGeom prst="rect">
            <a:avLst/>
          </a:prstGeom>
          <a:noFill/>
          <a:ln/>
        </p:spPr>
        <p:txBody>
          <a:bodyPr wrap="square" lIns="0" tIns="0" rIns="0" bIns="0" rtlCol="0" anchor="ctr"/>
          <a:lstStyle/>
          <a:p>
            <a:pPr marL="0" indent="0">
              <a:buNone/>
            </a:pPr>
            <a:r>
              <a:rPr lang="en-US" sz="1150" dirty="0">
                <a:solidFill>
                  <a:srgbClr val="6C7A89"/>
                </a:solidFill>
              </a:rPr>
              <a:t>JSON files or SQL view</a:t>
            </a:r>
            <a:endParaRPr lang="en-US" sz="1150" dirty="0"/>
          </a:p>
        </p:txBody>
      </p:sp>
      <p:sp>
        <p:nvSpPr>
          <p:cNvPr id="21" name="Shape 19"/>
          <p:cNvSpPr/>
          <p:nvPr/>
        </p:nvSpPr>
        <p:spPr>
          <a:xfrm>
            <a:off x="7516368" y="2633472"/>
            <a:ext cx="310896" cy="310896"/>
          </a:xfrm>
          <a:prstGeom prst="ellipse">
            <a:avLst/>
          </a:prstGeom>
          <a:solidFill>
            <a:srgbClr val="FFFFFF"/>
          </a:solidFill>
          <a:ln w="12700">
            <a:solidFill>
              <a:srgbClr val="17B9A6"/>
            </a:solidFill>
            <a:prstDash val="solid"/>
          </a:ln>
        </p:spPr>
        <p:txBody>
          <a:bodyPr/>
          <a:lstStyle/>
          <a:p>
            <a:endParaRPr lang="en-US"/>
          </a:p>
        </p:txBody>
      </p:sp>
      <p:sp>
        <p:nvSpPr>
          <p:cNvPr id="22" name="Text 20"/>
          <p:cNvSpPr/>
          <p:nvPr/>
        </p:nvSpPr>
        <p:spPr>
          <a:xfrm>
            <a:off x="7516368" y="2697480"/>
            <a:ext cx="310896" cy="109728"/>
          </a:xfrm>
          <a:prstGeom prst="rect">
            <a:avLst/>
          </a:prstGeom>
          <a:noFill/>
          <a:ln/>
        </p:spPr>
        <p:txBody>
          <a:bodyPr wrap="square" lIns="0" tIns="0" rIns="0" bIns="0" rtlCol="0" anchor="ctr"/>
          <a:lstStyle/>
          <a:p>
            <a:pPr marL="0" indent="0" algn="ctr">
              <a:buNone/>
            </a:pPr>
            <a:r>
              <a:rPr lang="en-US" sz="1200" b="1" dirty="0">
                <a:solidFill>
                  <a:srgbClr val="17B9A6"/>
                </a:solidFill>
              </a:rPr>
              <a:t>2</a:t>
            </a:r>
            <a:endParaRPr lang="en-US" sz="1200" dirty="0"/>
          </a:p>
        </p:txBody>
      </p:sp>
      <p:sp>
        <p:nvSpPr>
          <p:cNvPr id="23" name="Text 21"/>
          <p:cNvSpPr/>
          <p:nvPr/>
        </p:nvSpPr>
        <p:spPr>
          <a:xfrm>
            <a:off x="8001000" y="2624328"/>
            <a:ext cx="2651760" cy="164592"/>
          </a:xfrm>
          <a:prstGeom prst="rect">
            <a:avLst/>
          </a:prstGeom>
          <a:noFill/>
          <a:ln/>
        </p:spPr>
        <p:txBody>
          <a:bodyPr wrap="square" lIns="0" tIns="0" rIns="0" bIns="0" rtlCol="0" anchor="ctr"/>
          <a:lstStyle/>
          <a:p>
            <a:pPr marL="0" indent="0">
              <a:buNone/>
            </a:pPr>
            <a:r>
              <a:rPr lang="en-US" sz="1450" b="1" dirty="0">
                <a:solidFill>
                  <a:srgbClr val="1E2A3A"/>
                </a:solidFill>
              </a:rPr>
              <a:t>Standardize fields</a:t>
            </a:r>
            <a:endParaRPr lang="en-US" sz="1450" dirty="0"/>
          </a:p>
        </p:txBody>
      </p:sp>
      <p:sp>
        <p:nvSpPr>
          <p:cNvPr id="24" name="Text 22"/>
          <p:cNvSpPr/>
          <p:nvPr/>
        </p:nvSpPr>
        <p:spPr>
          <a:xfrm>
            <a:off x="8001000" y="2807208"/>
            <a:ext cx="2788920" cy="164592"/>
          </a:xfrm>
          <a:prstGeom prst="rect">
            <a:avLst/>
          </a:prstGeom>
          <a:noFill/>
          <a:ln/>
        </p:spPr>
        <p:txBody>
          <a:bodyPr wrap="square" lIns="0" tIns="0" rIns="0" bIns="0" rtlCol="0" anchor="ctr"/>
          <a:lstStyle/>
          <a:p>
            <a:pPr marL="0" indent="0">
              <a:buNone/>
            </a:pPr>
            <a:r>
              <a:rPr lang="en-US" sz="1150" dirty="0">
                <a:solidFill>
                  <a:srgbClr val="6C7A89"/>
                </a:solidFill>
              </a:rPr>
              <a:t>cast, alias, and map status</a:t>
            </a:r>
            <a:endParaRPr lang="en-US" sz="1150" dirty="0"/>
          </a:p>
        </p:txBody>
      </p:sp>
      <p:sp>
        <p:nvSpPr>
          <p:cNvPr id="25" name="Shape 23"/>
          <p:cNvSpPr/>
          <p:nvPr/>
        </p:nvSpPr>
        <p:spPr>
          <a:xfrm>
            <a:off x="7516368" y="3438144"/>
            <a:ext cx="310896" cy="310896"/>
          </a:xfrm>
          <a:prstGeom prst="ellipse">
            <a:avLst/>
          </a:prstGeom>
          <a:solidFill>
            <a:srgbClr val="FFFFFF"/>
          </a:solidFill>
          <a:ln w="12700">
            <a:solidFill>
              <a:srgbClr val="17B9A6"/>
            </a:solidFill>
            <a:prstDash val="solid"/>
          </a:ln>
        </p:spPr>
        <p:txBody>
          <a:bodyPr/>
          <a:lstStyle/>
          <a:p>
            <a:endParaRPr lang="en-US"/>
          </a:p>
        </p:txBody>
      </p:sp>
      <p:sp>
        <p:nvSpPr>
          <p:cNvPr id="26" name="Text 24"/>
          <p:cNvSpPr/>
          <p:nvPr/>
        </p:nvSpPr>
        <p:spPr>
          <a:xfrm>
            <a:off x="7516368" y="3502152"/>
            <a:ext cx="310896" cy="109728"/>
          </a:xfrm>
          <a:prstGeom prst="rect">
            <a:avLst/>
          </a:prstGeom>
          <a:noFill/>
          <a:ln/>
        </p:spPr>
        <p:txBody>
          <a:bodyPr wrap="square" lIns="0" tIns="0" rIns="0" bIns="0" rtlCol="0" anchor="ctr"/>
          <a:lstStyle/>
          <a:p>
            <a:pPr marL="0" indent="0" algn="ctr">
              <a:buNone/>
            </a:pPr>
            <a:r>
              <a:rPr lang="en-US" sz="1200" b="1" dirty="0">
                <a:solidFill>
                  <a:srgbClr val="17B9A6"/>
                </a:solidFill>
              </a:rPr>
              <a:t>3</a:t>
            </a:r>
            <a:endParaRPr lang="en-US" sz="1200" dirty="0"/>
          </a:p>
        </p:txBody>
      </p:sp>
      <p:sp>
        <p:nvSpPr>
          <p:cNvPr id="27" name="Text 25"/>
          <p:cNvSpPr/>
          <p:nvPr/>
        </p:nvSpPr>
        <p:spPr>
          <a:xfrm>
            <a:off x="8001000" y="3429000"/>
            <a:ext cx="2651760" cy="164592"/>
          </a:xfrm>
          <a:prstGeom prst="rect">
            <a:avLst/>
          </a:prstGeom>
          <a:noFill/>
          <a:ln/>
        </p:spPr>
        <p:txBody>
          <a:bodyPr wrap="square" lIns="0" tIns="0" rIns="0" bIns="0" rtlCol="0" anchor="ctr"/>
          <a:lstStyle/>
          <a:p>
            <a:pPr marL="0" indent="0">
              <a:buNone/>
            </a:pPr>
            <a:r>
              <a:rPr lang="en-US" sz="1450" b="1" dirty="0">
                <a:solidFill>
                  <a:srgbClr val="1E2A3A"/>
                </a:solidFill>
              </a:rPr>
              <a:t>Publish semantic model</a:t>
            </a:r>
            <a:endParaRPr lang="en-US" sz="1450" dirty="0"/>
          </a:p>
        </p:txBody>
      </p:sp>
      <p:sp>
        <p:nvSpPr>
          <p:cNvPr id="28" name="Text 26"/>
          <p:cNvSpPr/>
          <p:nvPr/>
        </p:nvSpPr>
        <p:spPr>
          <a:xfrm>
            <a:off x="8001000" y="3611880"/>
            <a:ext cx="2788920" cy="164592"/>
          </a:xfrm>
          <a:prstGeom prst="rect">
            <a:avLst/>
          </a:prstGeom>
          <a:noFill/>
          <a:ln/>
        </p:spPr>
        <p:txBody>
          <a:bodyPr wrap="square" lIns="0" tIns="0" rIns="0" bIns="0" rtlCol="0" anchor="ctr"/>
          <a:lstStyle/>
          <a:p>
            <a:pPr marL="0" indent="0">
              <a:buNone/>
            </a:pPr>
            <a:r>
              <a:rPr lang="en-US" sz="1150" dirty="0">
                <a:solidFill>
                  <a:srgbClr val="6C7A89"/>
                </a:solidFill>
              </a:rPr>
              <a:t>metrics, dimensions, synonyms</a:t>
            </a:r>
            <a:endParaRPr lang="en-US" sz="1150" dirty="0"/>
          </a:p>
        </p:txBody>
      </p:sp>
      <p:sp>
        <p:nvSpPr>
          <p:cNvPr id="29" name="Shape 27"/>
          <p:cNvSpPr/>
          <p:nvPr/>
        </p:nvSpPr>
        <p:spPr>
          <a:xfrm>
            <a:off x="7516368" y="4242816"/>
            <a:ext cx="310896" cy="310896"/>
          </a:xfrm>
          <a:prstGeom prst="ellipse">
            <a:avLst/>
          </a:prstGeom>
          <a:solidFill>
            <a:srgbClr val="FFFFFF"/>
          </a:solidFill>
          <a:ln w="12700">
            <a:solidFill>
              <a:srgbClr val="17B9A6"/>
            </a:solidFill>
            <a:prstDash val="solid"/>
          </a:ln>
        </p:spPr>
        <p:txBody>
          <a:bodyPr/>
          <a:lstStyle/>
          <a:p>
            <a:endParaRPr lang="en-US"/>
          </a:p>
        </p:txBody>
      </p:sp>
      <p:sp>
        <p:nvSpPr>
          <p:cNvPr id="30" name="Text 28"/>
          <p:cNvSpPr/>
          <p:nvPr/>
        </p:nvSpPr>
        <p:spPr>
          <a:xfrm>
            <a:off x="7516368" y="4306824"/>
            <a:ext cx="310896" cy="109728"/>
          </a:xfrm>
          <a:prstGeom prst="rect">
            <a:avLst/>
          </a:prstGeom>
          <a:noFill/>
          <a:ln/>
        </p:spPr>
        <p:txBody>
          <a:bodyPr wrap="square" lIns="0" tIns="0" rIns="0" bIns="0" rtlCol="0" anchor="ctr"/>
          <a:lstStyle/>
          <a:p>
            <a:pPr marL="0" indent="0" algn="ctr">
              <a:buNone/>
            </a:pPr>
            <a:r>
              <a:rPr lang="en-US" sz="1200" b="1" dirty="0">
                <a:solidFill>
                  <a:srgbClr val="17B9A6"/>
                </a:solidFill>
              </a:rPr>
              <a:t>4</a:t>
            </a:r>
            <a:endParaRPr lang="en-US" sz="1200" dirty="0"/>
          </a:p>
        </p:txBody>
      </p:sp>
      <p:sp>
        <p:nvSpPr>
          <p:cNvPr id="31" name="Text 29"/>
          <p:cNvSpPr/>
          <p:nvPr/>
        </p:nvSpPr>
        <p:spPr>
          <a:xfrm>
            <a:off x="8001000" y="4233672"/>
            <a:ext cx="2651760" cy="164592"/>
          </a:xfrm>
          <a:prstGeom prst="rect">
            <a:avLst/>
          </a:prstGeom>
          <a:noFill/>
          <a:ln/>
        </p:spPr>
        <p:txBody>
          <a:bodyPr wrap="square" lIns="0" tIns="0" rIns="0" bIns="0" rtlCol="0" anchor="ctr"/>
          <a:lstStyle/>
          <a:p>
            <a:pPr marL="0" indent="0">
              <a:buNone/>
            </a:pPr>
            <a:r>
              <a:rPr lang="en-US" sz="1450" b="1" dirty="0">
                <a:solidFill>
                  <a:srgbClr val="1E2A3A"/>
                </a:solidFill>
              </a:rPr>
              <a:t>Answer through Gemini</a:t>
            </a:r>
            <a:endParaRPr lang="en-US" sz="1450" dirty="0"/>
          </a:p>
        </p:txBody>
      </p:sp>
      <p:sp>
        <p:nvSpPr>
          <p:cNvPr id="32" name="Text 30"/>
          <p:cNvSpPr/>
          <p:nvPr/>
        </p:nvSpPr>
        <p:spPr>
          <a:xfrm>
            <a:off x="8001000" y="4416552"/>
            <a:ext cx="2788920" cy="164592"/>
          </a:xfrm>
          <a:prstGeom prst="rect">
            <a:avLst/>
          </a:prstGeom>
          <a:noFill/>
          <a:ln/>
        </p:spPr>
        <p:txBody>
          <a:bodyPr wrap="square" lIns="0" tIns="0" rIns="0" bIns="0" rtlCol="0" anchor="ctr"/>
          <a:lstStyle/>
          <a:p>
            <a:pPr marL="0" indent="0">
              <a:buNone/>
            </a:pPr>
            <a:r>
              <a:rPr lang="en-US" sz="1150" dirty="0">
                <a:solidFill>
                  <a:srgbClr val="6C7A89"/>
                </a:solidFill>
              </a:rPr>
              <a:t>metric request → SQL → narrated result</a:t>
            </a:r>
            <a:endParaRPr lang="en-US" sz="1150" dirty="0"/>
          </a:p>
        </p:txBody>
      </p:sp>
      <p:sp>
        <p:nvSpPr>
          <p:cNvPr id="33" name="Text 31"/>
          <p:cNvSpPr/>
          <p:nvPr/>
        </p:nvSpPr>
        <p:spPr>
          <a:xfrm>
            <a:off x="566928" y="6437376"/>
            <a:ext cx="9875520" cy="164592"/>
          </a:xfrm>
          <a:prstGeom prst="rect">
            <a:avLst/>
          </a:prstGeom>
          <a:noFill/>
          <a:ln/>
        </p:spPr>
        <p:txBody>
          <a:bodyPr wrap="square" lIns="0" tIns="0" rIns="0" bIns="0" rtlCol="0" anchor="ctr"/>
          <a:lstStyle/>
          <a:p>
            <a:pPr marL="0" indent="0">
              <a:buNone/>
            </a:pPr>
            <a:r>
              <a:rPr lang="en-US" sz="950" dirty="0">
                <a:solidFill>
                  <a:srgbClr val="6C7A89"/>
                </a:solidFill>
              </a:rPr>
              <a:t>Revised approach: JSON + DuckDB or direct SQL source</a:t>
            </a:r>
            <a:endParaRPr lang="en-US" sz="950" dirty="0"/>
          </a:p>
        </p:txBody>
      </p:sp>
      <p:sp>
        <p:nvSpPr>
          <p:cNvPr id="34" name="Text 32"/>
          <p:cNvSpPr/>
          <p:nvPr/>
        </p:nvSpPr>
        <p:spPr>
          <a:xfrm>
            <a:off x="11155680" y="6409944"/>
            <a:ext cx="411480" cy="182880"/>
          </a:xfrm>
          <a:prstGeom prst="rect">
            <a:avLst/>
          </a:prstGeom>
          <a:noFill/>
          <a:ln/>
        </p:spPr>
        <p:txBody>
          <a:bodyPr wrap="square" lIns="0" tIns="0" rIns="0" bIns="0" rtlCol="0" anchor="ctr"/>
          <a:lstStyle/>
          <a:p>
            <a:pPr marL="0" indent="0" algn="r">
              <a:buNone/>
            </a:pPr>
            <a:r>
              <a:rPr lang="en-US" sz="1000" b="1" dirty="0">
                <a:solidFill>
                  <a:srgbClr val="6C7A89"/>
                </a:solidFill>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3233F"/>
          </a:solidFill>
          <a:ln w="12700">
            <a:solidFill>
              <a:srgbClr val="13233F">
                <a:alpha val="0"/>
              </a:srgbClr>
            </a:solidFill>
            <a:prstDash val="solid"/>
          </a:ln>
        </p:spPr>
        <p:txBody>
          <a:bodyPr/>
          <a:lstStyle/>
          <a:p>
            <a:endParaRPr lang="en-US"/>
          </a:p>
        </p:txBody>
      </p:sp>
      <p:sp>
        <p:nvSpPr>
          <p:cNvPr id="3" name="Text 1"/>
          <p:cNvSpPr/>
          <p:nvPr/>
        </p:nvSpPr>
        <p:spPr>
          <a:xfrm>
            <a:off x="566928" y="164592"/>
            <a:ext cx="8046720" cy="237744"/>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Executive takeaway: the semantic layer stays constant</a:t>
            </a:r>
            <a:endParaRPr lang="en-US" sz="2600" dirty="0"/>
          </a:p>
        </p:txBody>
      </p:sp>
      <p:sp>
        <p:nvSpPr>
          <p:cNvPr id="4" name="Text 2"/>
          <p:cNvSpPr/>
          <p:nvPr/>
        </p:nvSpPr>
        <p:spPr>
          <a:xfrm>
            <a:off x="9281160" y="164592"/>
            <a:ext cx="2240280" cy="219456"/>
          </a:xfrm>
          <a:prstGeom prst="rect">
            <a:avLst/>
          </a:prstGeom>
          <a:noFill/>
          <a:ln/>
        </p:spPr>
        <p:txBody>
          <a:bodyPr wrap="square" lIns="0" tIns="0" rIns="0" bIns="0" rtlCol="0" anchor="ctr"/>
          <a:lstStyle/>
          <a:p>
            <a:pPr marL="0" indent="0" algn="r">
              <a:buNone/>
            </a:pPr>
            <a:r>
              <a:rPr lang="en-US" sz="1050" dirty="0">
                <a:solidFill>
                  <a:srgbClr val="D7E2FF"/>
                </a:solidFill>
                <a:latin typeface="Aptos" pitchFamily="34" charset="0"/>
                <a:ea typeface="Aptos" pitchFamily="34" charset="-122"/>
                <a:cs typeface="Aptos" pitchFamily="34" charset="-120"/>
              </a:rPr>
              <a:t>Semantic GenAI for BI · Phase 1</a:t>
            </a:r>
            <a:endParaRPr lang="en-US" sz="1050" dirty="0"/>
          </a:p>
        </p:txBody>
      </p:sp>
      <p:sp>
        <p:nvSpPr>
          <p:cNvPr id="5" name="Shape 3"/>
          <p:cNvSpPr/>
          <p:nvPr/>
        </p:nvSpPr>
        <p:spPr>
          <a:xfrm>
            <a:off x="566928" y="6382512"/>
            <a:ext cx="11064240" cy="0"/>
          </a:xfrm>
          <a:prstGeom prst="line">
            <a:avLst/>
          </a:prstGeom>
          <a:noFill/>
          <a:ln w="12700">
            <a:solidFill>
              <a:srgbClr val="D8E1EE"/>
            </a:solidFill>
            <a:prstDash val="solid"/>
          </a:ln>
        </p:spPr>
        <p:txBody>
          <a:bodyPr/>
          <a:lstStyle/>
          <a:p>
            <a:endParaRPr lang="en-US"/>
          </a:p>
        </p:txBody>
      </p:sp>
      <p:sp>
        <p:nvSpPr>
          <p:cNvPr id="6" name="Shape 4"/>
          <p:cNvSpPr/>
          <p:nvPr/>
        </p:nvSpPr>
        <p:spPr>
          <a:xfrm>
            <a:off x="731520" y="914400"/>
            <a:ext cx="3566160" cy="1828800"/>
          </a:xfrm>
          <a:prstGeom prst="roundRect">
            <a:avLst>
              <a:gd name="adj" fmla="val 3000"/>
            </a:avLst>
          </a:prstGeom>
          <a:solidFill>
            <a:srgbClr val="FFFFFF"/>
          </a:solidFill>
          <a:ln w="12700">
            <a:solidFill>
              <a:srgbClr val="D8E1EE"/>
            </a:solidFill>
            <a:prstDash val="solid"/>
          </a:ln>
        </p:spPr>
        <p:txBody>
          <a:bodyPr/>
          <a:lstStyle/>
          <a:p>
            <a:endParaRPr lang="en-US"/>
          </a:p>
        </p:txBody>
      </p:sp>
      <p:sp>
        <p:nvSpPr>
          <p:cNvPr id="7" name="Shape 5"/>
          <p:cNvSpPr/>
          <p:nvPr/>
        </p:nvSpPr>
        <p:spPr>
          <a:xfrm>
            <a:off x="731520" y="914400"/>
            <a:ext cx="109728" cy="1828800"/>
          </a:xfrm>
          <a:prstGeom prst="rect">
            <a:avLst/>
          </a:prstGeom>
          <a:solidFill>
            <a:srgbClr val="2F6BFF"/>
          </a:solidFill>
          <a:ln w="12700">
            <a:solidFill>
              <a:srgbClr val="2F6BFF">
                <a:alpha val="0"/>
              </a:srgbClr>
            </a:solidFill>
            <a:prstDash val="solid"/>
          </a:ln>
        </p:spPr>
        <p:txBody>
          <a:bodyPr/>
          <a:lstStyle/>
          <a:p>
            <a:endParaRPr lang="en-US"/>
          </a:p>
        </p:txBody>
      </p:sp>
      <p:sp>
        <p:nvSpPr>
          <p:cNvPr id="8" name="Text 6"/>
          <p:cNvSpPr/>
          <p:nvPr/>
        </p:nvSpPr>
        <p:spPr>
          <a:xfrm>
            <a:off x="932688" y="1078992"/>
            <a:ext cx="3246120" cy="219456"/>
          </a:xfrm>
          <a:prstGeom prst="rect">
            <a:avLst/>
          </a:prstGeom>
          <a:noFill/>
          <a:ln/>
        </p:spPr>
        <p:txBody>
          <a:bodyPr wrap="square" lIns="0" tIns="0" rIns="0" bIns="0" rtlCol="0" anchor="ctr"/>
          <a:lstStyle/>
          <a:p>
            <a:pPr marL="0" indent="0">
              <a:buNone/>
            </a:pPr>
            <a:r>
              <a:rPr lang="en-US" sz="1900" b="1" dirty="0">
                <a:solidFill>
                  <a:srgbClr val="13233F"/>
                </a:solidFill>
              </a:rPr>
              <a:t>What changed</a:t>
            </a:r>
            <a:endParaRPr lang="en-US" sz="1900" dirty="0"/>
          </a:p>
        </p:txBody>
      </p:sp>
      <p:sp>
        <p:nvSpPr>
          <p:cNvPr id="9" name="Text 7"/>
          <p:cNvSpPr/>
          <p:nvPr/>
        </p:nvSpPr>
        <p:spPr>
          <a:xfrm>
            <a:off x="932688" y="1399032"/>
            <a:ext cx="3218688" cy="1261872"/>
          </a:xfrm>
          <a:prstGeom prst="rect">
            <a:avLst/>
          </a:prstGeom>
          <a:noFill/>
          <a:ln/>
        </p:spPr>
        <p:txBody>
          <a:bodyPr wrap="square" lIns="0" tIns="0" rIns="0" bIns="0" rtlCol="0" anchor="t"/>
          <a:lstStyle/>
          <a:p>
            <a:pPr marL="0" indent="0">
              <a:buNone/>
            </a:pPr>
            <a:r>
              <a:rPr lang="en-US" sz="1450" dirty="0">
                <a:solidFill>
                  <a:srgbClr val="1E2A3A"/>
                </a:solidFill>
              </a:rPr>
              <a:t>• Phase 1 now supports a second ingestion path: direct SQL source.</a:t>
            </a:r>
            <a:endParaRPr lang="en-US" sz="1450" dirty="0"/>
          </a:p>
          <a:p>
            <a:pPr marL="0" indent="0">
              <a:buNone/>
            </a:pPr>
            <a:r>
              <a:rPr lang="en-US" sz="1450" dirty="0">
                <a:solidFill>
                  <a:srgbClr val="1E2A3A"/>
                </a:solidFill>
              </a:rPr>
              <a:t>• DuckDB remains valuable when the source is file-native JSON.</a:t>
            </a:r>
            <a:endParaRPr lang="en-US" sz="1450" dirty="0"/>
          </a:p>
          <a:p>
            <a:pPr marL="0" indent="0">
              <a:buNone/>
            </a:pPr>
            <a:r>
              <a:rPr lang="en-US" sz="1450" dirty="0">
                <a:solidFill>
                  <a:srgbClr val="1E2A3A"/>
                </a:solidFill>
              </a:rPr>
              <a:t>• If a curated consolidated query/view already exists, DuckDB becomes optional.</a:t>
            </a:r>
            <a:endParaRPr lang="en-US" sz="1450" dirty="0"/>
          </a:p>
        </p:txBody>
      </p:sp>
      <p:sp>
        <p:nvSpPr>
          <p:cNvPr id="10" name="Shape 8"/>
          <p:cNvSpPr/>
          <p:nvPr/>
        </p:nvSpPr>
        <p:spPr>
          <a:xfrm>
            <a:off x="731520" y="2971800"/>
            <a:ext cx="3566160" cy="2057400"/>
          </a:xfrm>
          <a:prstGeom prst="roundRect">
            <a:avLst>
              <a:gd name="adj" fmla="val 2667"/>
            </a:avLst>
          </a:prstGeom>
          <a:solidFill>
            <a:srgbClr val="FFFFFF"/>
          </a:solidFill>
          <a:ln w="12700">
            <a:solidFill>
              <a:srgbClr val="D8E1EE"/>
            </a:solidFill>
            <a:prstDash val="solid"/>
          </a:ln>
        </p:spPr>
        <p:txBody>
          <a:bodyPr/>
          <a:lstStyle/>
          <a:p>
            <a:endParaRPr lang="en-US"/>
          </a:p>
        </p:txBody>
      </p:sp>
      <p:sp>
        <p:nvSpPr>
          <p:cNvPr id="11" name="Shape 9"/>
          <p:cNvSpPr/>
          <p:nvPr/>
        </p:nvSpPr>
        <p:spPr>
          <a:xfrm>
            <a:off x="731520" y="2971800"/>
            <a:ext cx="109728" cy="2057400"/>
          </a:xfrm>
          <a:prstGeom prst="rect">
            <a:avLst/>
          </a:prstGeom>
          <a:solidFill>
            <a:srgbClr val="17B9A6"/>
          </a:solidFill>
          <a:ln w="12700">
            <a:solidFill>
              <a:srgbClr val="17B9A6">
                <a:alpha val="0"/>
              </a:srgbClr>
            </a:solidFill>
            <a:prstDash val="solid"/>
          </a:ln>
        </p:spPr>
        <p:txBody>
          <a:bodyPr/>
          <a:lstStyle/>
          <a:p>
            <a:endParaRPr lang="en-US"/>
          </a:p>
        </p:txBody>
      </p:sp>
      <p:sp>
        <p:nvSpPr>
          <p:cNvPr id="12" name="Text 10"/>
          <p:cNvSpPr/>
          <p:nvPr/>
        </p:nvSpPr>
        <p:spPr>
          <a:xfrm>
            <a:off x="932688" y="3136392"/>
            <a:ext cx="3246120" cy="219456"/>
          </a:xfrm>
          <a:prstGeom prst="rect">
            <a:avLst/>
          </a:prstGeom>
          <a:noFill/>
          <a:ln/>
        </p:spPr>
        <p:txBody>
          <a:bodyPr wrap="square" lIns="0" tIns="0" rIns="0" bIns="0" rtlCol="0" anchor="ctr"/>
          <a:lstStyle/>
          <a:p>
            <a:pPr marL="0" indent="0">
              <a:buNone/>
            </a:pPr>
            <a:r>
              <a:rPr lang="en-US" sz="1900" b="1" dirty="0">
                <a:solidFill>
                  <a:srgbClr val="13233F"/>
                </a:solidFill>
              </a:rPr>
              <a:t>What did not change</a:t>
            </a:r>
            <a:endParaRPr lang="en-US" sz="1900" dirty="0"/>
          </a:p>
        </p:txBody>
      </p:sp>
      <p:sp>
        <p:nvSpPr>
          <p:cNvPr id="13" name="Text 11"/>
          <p:cNvSpPr/>
          <p:nvPr/>
        </p:nvSpPr>
        <p:spPr>
          <a:xfrm>
            <a:off x="932688" y="3456432"/>
            <a:ext cx="3218688" cy="1490472"/>
          </a:xfrm>
          <a:prstGeom prst="rect">
            <a:avLst/>
          </a:prstGeom>
          <a:noFill/>
          <a:ln/>
        </p:spPr>
        <p:txBody>
          <a:bodyPr wrap="square" lIns="0" tIns="0" rIns="0" bIns="0" rtlCol="0" anchor="t"/>
          <a:lstStyle/>
          <a:p>
            <a:pPr marL="0" indent="0">
              <a:buNone/>
            </a:pPr>
            <a:r>
              <a:rPr lang="en-US" sz="1450" dirty="0">
                <a:solidFill>
                  <a:srgbClr val="1E2A3A"/>
                </a:solidFill>
              </a:rPr>
              <a:t>• dbt still governs aliases, type casting, status mapping, and metric logic.</a:t>
            </a:r>
            <a:endParaRPr lang="en-US" sz="1450" dirty="0"/>
          </a:p>
          <a:p>
            <a:pPr marL="0" indent="0">
              <a:buNone/>
            </a:pPr>
            <a:r>
              <a:rPr lang="en-US" sz="1450" dirty="0">
                <a:solidFill>
                  <a:srgbClr val="1E2A3A"/>
                </a:solidFill>
              </a:rPr>
              <a:t>• Gemini still reasons over semantic definitions, not raw schemas.</a:t>
            </a:r>
            <a:endParaRPr lang="en-US" sz="1450" dirty="0"/>
          </a:p>
          <a:p>
            <a:pPr marL="0" indent="0">
              <a:buNone/>
            </a:pPr>
            <a:r>
              <a:rPr lang="en-US" sz="1450" dirty="0">
                <a:solidFill>
                  <a:srgbClr val="1E2A3A"/>
                </a:solidFill>
              </a:rPr>
              <a:t>• Accuracy and traceability remain the primary KPI.</a:t>
            </a:r>
            <a:endParaRPr lang="en-US" sz="1450" dirty="0"/>
          </a:p>
        </p:txBody>
      </p:sp>
      <p:sp>
        <p:nvSpPr>
          <p:cNvPr id="14" name="Shape 12"/>
          <p:cNvSpPr/>
          <p:nvPr/>
        </p:nvSpPr>
        <p:spPr>
          <a:xfrm>
            <a:off x="4937760" y="1828800"/>
            <a:ext cx="1097280" cy="0"/>
          </a:xfrm>
          <a:prstGeom prst="line">
            <a:avLst/>
          </a:prstGeom>
          <a:noFill/>
          <a:ln w="12700">
            <a:solidFill>
              <a:srgbClr val="D8E1EE"/>
            </a:solidFill>
            <a:prstDash val="solid"/>
            <a:tailEnd type="triangle"/>
          </a:ln>
        </p:spPr>
        <p:txBody>
          <a:bodyPr/>
          <a:lstStyle/>
          <a:p>
            <a:endParaRPr lang="en-US"/>
          </a:p>
        </p:txBody>
      </p:sp>
      <p:sp>
        <p:nvSpPr>
          <p:cNvPr id="15" name="Shape 13"/>
          <p:cNvSpPr/>
          <p:nvPr/>
        </p:nvSpPr>
        <p:spPr>
          <a:xfrm>
            <a:off x="4937760" y="4023360"/>
            <a:ext cx="1097280" cy="0"/>
          </a:xfrm>
          <a:prstGeom prst="line">
            <a:avLst/>
          </a:prstGeom>
          <a:noFill/>
          <a:ln w="12700">
            <a:solidFill>
              <a:srgbClr val="D8E1EE"/>
            </a:solidFill>
            <a:prstDash val="solid"/>
            <a:tailEnd type="triangle"/>
          </a:ln>
        </p:spPr>
        <p:txBody>
          <a:bodyPr/>
          <a:lstStyle/>
          <a:p>
            <a:endParaRPr lang="en-US"/>
          </a:p>
        </p:txBody>
      </p:sp>
      <p:sp>
        <p:nvSpPr>
          <p:cNvPr id="16" name="Shape 14"/>
          <p:cNvSpPr/>
          <p:nvPr/>
        </p:nvSpPr>
        <p:spPr>
          <a:xfrm>
            <a:off x="4526280" y="1536192"/>
            <a:ext cx="1554480" cy="658368"/>
          </a:xfrm>
          <a:prstGeom prst="roundRect">
            <a:avLst>
              <a:gd name="adj" fmla="val 8333"/>
            </a:avLst>
          </a:prstGeom>
          <a:solidFill>
            <a:srgbClr val="EAF1FF"/>
          </a:solidFill>
          <a:ln w="12700">
            <a:solidFill>
              <a:srgbClr val="2F6BFF"/>
            </a:solidFill>
            <a:prstDash val="solid"/>
          </a:ln>
        </p:spPr>
        <p:txBody>
          <a:bodyPr/>
          <a:lstStyle/>
          <a:p>
            <a:endParaRPr lang="en-US"/>
          </a:p>
        </p:txBody>
      </p:sp>
      <p:sp>
        <p:nvSpPr>
          <p:cNvPr id="17" name="Text 15"/>
          <p:cNvSpPr/>
          <p:nvPr/>
        </p:nvSpPr>
        <p:spPr>
          <a:xfrm>
            <a:off x="4636008" y="1664208"/>
            <a:ext cx="1335024" cy="201168"/>
          </a:xfrm>
          <a:prstGeom prst="rect">
            <a:avLst/>
          </a:prstGeom>
          <a:noFill/>
          <a:ln/>
        </p:spPr>
        <p:txBody>
          <a:bodyPr wrap="square" lIns="0" tIns="0" rIns="0" bIns="0" rtlCol="0" anchor="ctr"/>
          <a:lstStyle/>
          <a:p>
            <a:pPr marL="0" indent="0" algn="ctr">
              <a:buNone/>
            </a:pPr>
            <a:r>
              <a:rPr lang="en-US" sz="1600" b="1" dirty="0">
                <a:solidFill>
                  <a:srgbClr val="13233F"/>
                </a:solidFill>
              </a:rPr>
              <a:t>JSON files</a:t>
            </a:r>
            <a:endParaRPr lang="en-US" sz="1600" dirty="0"/>
          </a:p>
        </p:txBody>
      </p:sp>
      <p:sp>
        <p:nvSpPr>
          <p:cNvPr id="18" name="Text 16"/>
          <p:cNvSpPr/>
          <p:nvPr/>
        </p:nvSpPr>
        <p:spPr>
          <a:xfrm>
            <a:off x="4636008" y="1920240"/>
            <a:ext cx="1335024" cy="182880"/>
          </a:xfrm>
          <a:prstGeom prst="rect">
            <a:avLst/>
          </a:prstGeom>
          <a:noFill/>
          <a:ln/>
        </p:spPr>
        <p:txBody>
          <a:bodyPr wrap="square" lIns="254" tIns="254" rIns="254" bIns="254" rtlCol="0" anchor="ctr"/>
          <a:lstStyle/>
          <a:p>
            <a:pPr marL="0" indent="0" algn="ctr">
              <a:buNone/>
            </a:pPr>
            <a:r>
              <a:rPr lang="en-US" sz="1150" dirty="0">
                <a:solidFill>
                  <a:srgbClr val="1E2A3A"/>
                </a:solidFill>
              </a:rPr>
              <a:t>DuckDB path</a:t>
            </a:r>
            <a:endParaRPr lang="en-US" sz="1150" dirty="0"/>
          </a:p>
        </p:txBody>
      </p:sp>
      <p:sp>
        <p:nvSpPr>
          <p:cNvPr id="19" name="Shape 17"/>
          <p:cNvSpPr/>
          <p:nvPr/>
        </p:nvSpPr>
        <p:spPr>
          <a:xfrm>
            <a:off x="4526280" y="3685032"/>
            <a:ext cx="1554480" cy="658368"/>
          </a:xfrm>
          <a:prstGeom prst="roundRect">
            <a:avLst>
              <a:gd name="adj" fmla="val 8333"/>
            </a:avLst>
          </a:prstGeom>
          <a:solidFill>
            <a:srgbClr val="DFF7F3"/>
          </a:solidFill>
          <a:ln w="12700">
            <a:solidFill>
              <a:srgbClr val="17B9A6"/>
            </a:solidFill>
            <a:prstDash val="solid"/>
          </a:ln>
        </p:spPr>
        <p:txBody>
          <a:bodyPr/>
          <a:lstStyle/>
          <a:p>
            <a:endParaRPr lang="en-US"/>
          </a:p>
        </p:txBody>
      </p:sp>
      <p:sp>
        <p:nvSpPr>
          <p:cNvPr id="20" name="Text 18"/>
          <p:cNvSpPr/>
          <p:nvPr/>
        </p:nvSpPr>
        <p:spPr>
          <a:xfrm>
            <a:off x="4636008" y="3813048"/>
            <a:ext cx="1335024" cy="201168"/>
          </a:xfrm>
          <a:prstGeom prst="rect">
            <a:avLst/>
          </a:prstGeom>
          <a:noFill/>
          <a:ln/>
        </p:spPr>
        <p:txBody>
          <a:bodyPr wrap="square" lIns="0" tIns="0" rIns="0" bIns="0" rtlCol="0" anchor="ctr"/>
          <a:lstStyle/>
          <a:p>
            <a:pPr marL="0" indent="0" algn="ctr">
              <a:buNone/>
            </a:pPr>
            <a:r>
              <a:rPr lang="en-US" sz="1600" b="1" dirty="0">
                <a:solidFill>
                  <a:srgbClr val="13233F"/>
                </a:solidFill>
              </a:rPr>
              <a:t>SQL view/table</a:t>
            </a:r>
            <a:endParaRPr lang="en-US" sz="1600" dirty="0"/>
          </a:p>
        </p:txBody>
      </p:sp>
      <p:sp>
        <p:nvSpPr>
          <p:cNvPr id="21" name="Text 19"/>
          <p:cNvSpPr/>
          <p:nvPr/>
        </p:nvSpPr>
        <p:spPr>
          <a:xfrm>
            <a:off x="4636008" y="4069080"/>
            <a:ext cx="1335024" cy="182880"/>
          </a:xfrm>
          <a:prstGeom prst="rect">
            <a:avLst/>
          </a:prstGeom>
          <a:noFill/>
          <a:ln/>
        </p:spPr>
        <p:txBody>
          <a:bodyPr wrap="square" lIns="254" tIns="254" rIns="254" bIns="254" rtlCol="0" anchor="ctr"/>
          <a:lstStyle/>
          <a:p>
            <a:pPr marL="0" indent="0" algn="ctr">
              <a:buNone/>
            </a:pPr>
            <a:r>
              <a:rPr lang="en-US" sz="1150" dirty="0">
                <a:solidFill>
                  <a:srgbClr val="1E2A3A"/>
                </a:solidFill>
              </a:rPr>
              <a:t>direct path</a:t>
            </a:r>
            <a:endParaRPr lang="en-US" sz="1150" dirty="0"/>
          </a:p>
        </p:txBody>
      </p:sp>
      <p:sp>
        <p:nvSpPr>
          <p:cNvPr id="22" name="Shape 20"/>
          <p:cNvSpPr/>
          <p:nvPr/>
        </p:nvSpPr>
        <p:spPr>
          <a:xfrm>
            <a:off x="6355080" y="2468880"/>
            <a:ext cx="1828800" cy="1051560"/>
          </a:xfrm>
          <a:prstGeom prst="roundRect">
            <a:avLst>
              <a:gd name="adj" fmla="val 5217"/>
            </a:avLst>
          </a:prstGeom>
          <a:solidFill>
            <a:srgbClr val="FFFFFF"/>
          </a:solidFill>
          <a:ln w="12700">
            <a:solidFill>
              <a:srgbClr val="2F6BFF"/>
            </a:solidFill>
            <a:prstDash val="solid"/>
          </a:ln>
        </p:spPr>
        <p:txBody>
          <a:bodyPr/>
          <a:lstStyle/>
          <a:p>
            <a:endParaRPr lang="en-US"/>
          </a:p>
        </p:txBody>
      </p:sp>
      <p:sp>
        <p:nvSpPr>
          <p:cNvPr id="23" name="Text 21"/>
          <p:cNvSpPr/>
          <p:nvPr/>
        </p:nvSpPr>
        <p:spPr>
          <a:xfrm>
            <a:off x="6464808" y="2596896"/>
            <a:ext cx="1609344" cy="201168"/>
          </a:xfrm>
          <a:prstGeom prst="rect">
            <a:avLst/>
          </a:prstGeom>
          <a:noFill/>
          <a:ln/>
        </p:spPr>
        <p:txBody>
          <a:bodyPr wrap="square" lIns="0" tIns="0" rIns="0" bIns="0" rtlCol="0" anchor="ctr"/>
          <a:lstStyle/>
          <a:p>
            <a:pPr marL="0" indent="0" algn="ctr">
              <a:buNone/>
            </a:pPr>
            <a:r>
              <a:rPr lang="en-US" sz="1600" b="1" dirty="0">
                <a:solidFill>
                  <a:srgbClr val="13233F"/>
                </a:solidFill>
              </a:rPr>
              <a:t>dbt staging</a:t>
            </a:r>
            <a:endParaRPr lang="en-US" sz="1600" dirty="0"/>
          </a:p>
        </p:txBody>
      </p:sp>
      <p:sp>
        <p:nvSpPr>
          <p:cNvPr id="24" name="Text 22"/>
          <p:cNvSpPr/>
          <p:nvPr/>
        </p:nvSpPr>
        <p:spPr>
          <a:xfrm>
            <a:off x="6464808" y="2852928"/>
            <a:ext cx="1609344" cy="576072"/>
          </a:xfrm>
          <a:prstGeom prst="rect">
            <a:avLst/>
          </a:prstGeom>
          <a:noFill/>
          <a:ln/>
        </p:spPr>
        <p:txBody>
          <a:bodyPr wrap="square" lIns="254" tIns="254" rIns="254" bIns="254" rtlCol="0" anchor="ctr"/>
          <a:lstStyle/>
          <a:p>
            <a:pPr marL="0" indent="0" algn="ctr">
              <a:buNone/>
            </a:pPr>
            <a:r>
              <a:rPr lang="en-US" sz="1150" dirty="0">
                <a:solidFill>
                  <a:srgbClr val="1E2A3A"/>
                </a:solidFill>
              </a:rPr>
              <a:t>cast · alias · status map · net_val</a:t>
            </a:r>
            <a:endParaRPr lang="en-US" sz="1150" dirty="0"/>
          </a:p>
        </p:txBody>
      </p:sp>
      <p:sp>
        <p:nvSpPr>
          <p:cNvPr id="25" name="Shape 23"/>
          <p:cNvSpPr/>
          <p:nvPr/>
        </p:nvSpPr>
        <p:spPr>
          <a:xfrm>
            <a:off x="8183880" y="2999232"/>
            <a:ext cx="1188720" cy="0"/>
          </a:xfrm>
          <a:prstGeom prst="line">
            <a:avLst/>
          </a:prstGeom>
          <a:noFill/>
          <a:ln w="12700">
            <a:solidFill>
              <a:srgbClr val="2F6BFF"/>
            </a:solidFill>
            <a:prstDash val="solid"/>
            <a:headEnd type="none"/>
            <a:tailEnd type="triangle"/>
          </a:ln>
        </p:spPr>
        <p:txBody>
          <a:bodyPr/>
          <a:lstStyle/>
          <a:p>
            <a:endParaRPr lang="en-US"/>
          </a:p>
        </p:txBody>
      </p:sp>
      <p:sp>
        <p:nvSpPr>
          <p:cNvPr id="26" name="Shape 24"/>
          <p:cNvSpPr/>
          <p:nvPr/>
        </p:nvSpPr>
        <p:spPr>
          <a:xfrm>
            <a:off x="9418320" y="2468880"/>
            <a:ext cx="1828800" cy="1051560"/>
          </a:xfrm>
          <a:prstGeom prst="roundRect">
            <a:avLst>
              <a:gd name="adj" fmla="val 5217"/>
            </a:avLst>
          </a:prstGeom>
          <a:solidFill>
            <a:srgbClr val="FFFFFF"/>
          </a:solidFill>
          <a:ln w="12700">
            <a:solidFill>
              <a:srgbClr val="17B9A6"/>
            </a:solidFill>
            <a:prstDash val="solid"/>
          </a:ln>
        </p:spPr>
        <p:txBody>
          <a:bodyPr/>
          <a:lstStyle/>
          <a:p>
            <a:endParaRPr lang="en-US"/>
          </a:p>
        </p:txBody>
      </p:sp>
      <p:sp>
        <p:nvSpPr>
          <p:cNvPr id="27" name="Text 25"/>
          <p:cNvSpPr/>
          <p:nvPr/>
        </p:nvSpPr>
        <p:spPr>
          <a:xfrm>
            <a:off x="9528048" y="2596896"/>
            <a:ext cx="1609344" cy="201168"/>
          </a:xfrm>
          <a:prstGeom prst="rect">
            <a:avLst/>
          </a:prstGeom>
          <a:noFill/>
          <a:ln/>
        </p:spPr>
        <p:txBody>
          <a:bodyPr wrap="square" lIns="0" tIns="0" rIns="0" bIns="0" rtlCol="0" anchor="ctr"/>
          <a:lstStyle/>
          <a:p>
            <a:pPr marL="0" indent="0" algn="ctr">
              <a:buNone/>
            </a:pPr>
            <a:r>
              <a:rPr lang="en-US" sz="1600" b="1" dirty="0">
                <a:solidFill>
                  <a:srgbClr val="13233F"/>
                </a:solidFill>
              </a:rPr>
              <a:t>Semantic model</a:t>
            </a:r>
            <a:endParaRPr lang="en-US" sz="1600" dirty="0"/>
          </a:p>
        </p:txBody>
      </p:sp>
      <p:sp>
        <p:nvSpPr>
          <p:cNvPr id="28" name="Text 26"/>
          <p:cNvSpPr/>
          <p:nvPr/>
        </p:nvSpPr>
        <p:spPr>
          <a:xfrm>
            <a:off x="9528048" y="2852928"/>
            <a:ext cx="1609344" cy="576072"/>
          </a:xfrm>
          <a:prstGeom prst="rect">
            <a:avLst/>
          </a:prstGeom>
          <a:noFill/>
          <a:ln/>
        </p:spPr>
        <p:txBody>
          <a:bodyPr wrap="square" lIns="254" tIns="254" rIns="254" bIns="254" rtlCol="0" anchor="ctr"/>
          <a:lstStyle/>
          <a:p>
            <a:pPr marL="0" indent="0" algn="ctr">
              <a:buNone/>
            </a:pPr>
            <a:r>
              <a:rPr lang="en-US" sz="1150" dirty="0">
                <a:solidFill>
                  <a:srgbClr val="1E2A3A"/>
                </a:solidFill>
              </a:rPr>
              <a:t>metrics · dimensions · entities</a:t>
            </a:r>
            <a:endParaRPr lang="en-US" sz="1150" dirty="0"/>
          </a:p>
        </p:txBody>
      </p:sp>
      <p:sp>
        <p:nvSpPr>
          <p:cNvPr id="29" name="Text 27"/>
          <p:cNvSpPr/>
          <p:nvPr/>
        </p:nvSpPr>
        <p:spPr>
          <a:xfrm>
            <a:off x="4572000" y="4754880"/>
            <a:ext cx="6583680" cy="1097280"/>
          </a:xfrm>
          <a:prstGeom prst="rect">
            <a:avLst/>
          </a:prstGeom>
          <a:noFill/>
          <a:ln/>
        </p:spPr>
        <p:txBody>
          <a:bodyPr wrap="square" lIns="0" tIns="0" rIns="0" bIns="0" rtlCol="0" anchor="ctr"/>
          <a:lstStyle/>
          <a:p>
            <a:pPr marL="0" indent="0">
              <a:buNone/>
            </a:pPr>
            <a:r>
              <a:rPr lang="en-US" sz="1500" dirty="0">
                <a:solidFill>
                  <a:srgbClr val="1E2A3A"/>
                </a:solidFill>
              </a:rPr>
              <a:t>• One semantic contract can support multiple physical ingestion patterns.</a:t>
            </a:r>
            <a:endParaRPr lang="en-US" sz="1500" dirty="0"/>
          </a:p>
          <a:p>
            <a:pPr marL="0" indent="0">
              <a:buNone/>
            </a:pPr>
            <a:r>
              <a:rPr lang="en-US" sz="1500" dirty="0">
                <a:solidFill>
                  <a:srgbClr val="1E2A3A"/>
                </a:solidFill>
              </a:rPr>
              <a:t>• This keeps the LLM anchored to governed business terms while giving engineering flexibility upstream.</a:t>
            </a:r>
            <a:endParaRPr lang="en-US" sz="1500" dirty="0"/>
          </a:p>
        </p:txBody>
      </p:sp>
      <p:sp>
        <p:nvSpPr>
          <p:cNvPr id="30" name="Text 28"/>
          <p:cNvSpPr/>
          <p:nvPr/>
        </p:nvSpPr>
        <p:spPr>
          <a:xfrm>
            <a:off x="566928" y="6437376"/>
            <a:ext cx="9875520" cy="164592"/>
          </a:xfrm>
          <a:prstGeom prst="rect">
            <a:avLst/>
          </a:prstGeom>
          <a:noFill/>
          <a:ln/>
        </p:spPr>
        <p:txBody>
          <a:bodyPr wrap="square" lIns="0" tIns="0" rIns="0" bIns="0" rtlCol="0" anchor="ctr"/>
          <a:lstStyle/>
          <a:p>
            <a:pPr marL="0" indent="0">
              <a:buNone/>
            </a:pPr>
            <a:r>
              <a:rPr lang="en-US" sz="950" dirty="0">
                <a:solidFill>
                  <a:srgbClr val="6C7A89"/>
                </a:solidFill>
              </a:rPr>
              <a:t>Revised approach: JSON + DuckDB or direct SQL source</a:t>
            </a:r>
            <a:endParaRPr lang="en-US" sz="950" dirty="0"/>
          </a:p>
        </p:txBody>
      </p:sp>
      <p:sp>
        <p:nvSpPr>
          <p:cNvPr id="31" name="Text 29"/>
          <p:cNvSpPr/>
          <p:nvPr/>
        </p:nvSpPr>
        <p:spPr>
          <a:xfrm>
            <a:off x="11155680" y="6409944"/>
            <a:ext cx="411480" cy="182880"/>
          </a:xfrm>
          <a:prstGeom prst="rect">
            <a:avLst/>
          </a:prstGeom>
          <a:noFill/>
          <a:ln/>
        </p:spPr>
        <p:txBody>
          <a:bodyPr wrap="square" lIns="0" tIns="0" rIns="0" bIns="0" rtlCol="0" anchor="ctr"/>
          <a:lstStyle/>
          <a:p>
            <a:pPr marL="0" indent="0" algn="r">
              <a:buNone/>
            </a:pPr>
            <a:r>
              <a:rPr lang="en-US" sz="1000" b="1" dirty="0">
                <a:solidFill>
                  <a:srgbClr val="6C7A89"/>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3233F"/>
          </a:solidFill>
          <a:ln w="12700">
            <a:solidFill>
              <a:srgbClr val="13233F">
                <a:alpha val="0"/>
              </a:srgbClr>
            </a:solidFill>
            <a:prstDash val="solid"/>
          </a:ln>
        </p:spPr>
        <p:txBody>
          <a:bodyPr/>
          <a:lstStyle/>
          <a:p>
            <a:endParaRPr lang="en-US"/>
          </a:p>
        </p:txBody>
      </p:sp>
      <p:sp>
        <p:nvSpPr>
          <p:cNvPr id="3" name="Text 1"/>
          <p:cNvSpPr/>
          <p:nvPr/>
        </p:nvSpPr>
        <p:spPr>
          <a:xfrm>
            <a:off x="566928" y="164592"/>
            <a:ext cx="8046720" cy="237744"/>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Why revise Phase 1 to include direct SQL sourcing</a:t>
            </a:r>
            <a:endParaRPr lang="en-US" sz="2600" dirty="0"/>
          </a:p>
        </p:txBody>
      </p:sp>
      <p:sp>
        <p:nvSpPr>
          <p:cNvPr id="4" name="Text 2"/>
          <p:cNvSpPr/>
          <p:nvPr/>
        </p:nvSpPr>
        <p:spPr>
          <a:xfrm>
            <a:off x="9281160" y="164592"/>
            <a:ext cx="2240280" cy="219456"/>
          </a:xfrm>
          <a:prstGeom prst="rect">
            <a:avLst/>
          </a:prstGeom>
          <a:noFill/>
          <a:ln/>
        </p:spPr>
        <p:txBody>
          <a:bodyPr wrap="square" lIns="0" tIns="0" rIns="0" bIns="0" rtlCol="0" anchor="ctr"/>
          <a:lstStyle/>
          <a:p>
            <a:pPr marL="0" indent="0" algn="r">
              <a:buNone/>
            </a:pPr>
            <a:r>
              <a:rPr lang="en-US" sz="1050" dirty="0">
                <a:solidFill>
                  <a:srgbClr val="D7E2FF"/>
                </a:solidFill>
                <a:latin typeface="Aptos" pitchFamily="34" charset="0"/>
                <a:ea typeface="Aptos" pitchFamily="34" charset="-122"/>
                <a:cs typeface="Aptos" pitchFamily="34" charset="-120"/>
              </a:rPr>
              <a:t>Semantic GenAI for BI · Phase 1</a:t>
            </a:r>
            <a:endParaRPr lang="en-US" sz="1050" dirty="0"/>
          </a:p>
        </p:txBody>
      </p:sp>
      <p:sp>
        <p:nvSpPr>
          <p:cNvPr id="5" name="Shape 3"/>
          <p:cNvSpPr/>
          <p:nvPr/>
        </p:nvSpPr>
        <p:spPr>
          <a:xfrm>
            <a:off x="566928" y="6382512"/>
            <a:ext cx="11064240" cy="0"/>
          </a:xfrm>
          <a:prstGeom prst="line">
            <a:avLst/>
          </a:prstGeom>
          <a:noFill/>
          <a:ln w="12700">
            <a:solidFill>
              <a:srgbClr val="D8E1EE"/>
            </a:solidFill>
            <a:prstDash val="solid"/>
          </a:ln>
        </p:spPr>
        <p:txBody>
          <a:bodyPr/>
          <a:lstStyle/>
          <a:p>
            <a:endParaRPr lang="en-US"/>
          </a:p>
        </p:txBody>
      </p:sp>
      <p:sp>
        <p:nvSpPr>
          <p:cNvPr id="6" name="Text 4"/>
          <p:cNvSpPr/>
          <p:nvPr/>
        </p:nvSpPr>
        <p:spPr>
          <a:xfrm>
            <a:off x="777240" y="896112"/>
            <a:ext cx="8046720" cy="320040"/>
          </a:xfrm>
          <a:prstGeom prst="rect">
            <a:avLst/>
          </a:prstGeom>
          <a:noFill/>
          <a:ln/>
        </p:spPr>
        <p:txBody>
          <a:bodyPr wrap="square" lIns="0" tIns="0" rIns="0" bIns="0" rtlCol="0" anchor="ctr"/>
          <a:lstStyle/>
          <a:p>
            <a:pPr marL="0" indent="0">
              <a:buNone/>
            </a:pPr>
            <a:r>
              <a:rPr lang="en-US" sz="2000" dirty="0">
                <a:solidFill>
                  <a:srgbClr val="1E2A3A"/>
                </a:solidFill>
              </a:rPr>
              <a:t>The original blueprint assumed file-native JSON. A consolidated SQL source changes the optimal architecture.</a:t>
            </a:r>
            <a:endParaRPr lang="en-US" sz="2000" dirty="0"/>
          </a:p>
        </p:txBody>
      </p:sp>
      <p:sp>
        <p:nvSpPr>
          <p:cNvPr id="7" name="Shape 5"/>
          <p:cNvSpPr/>
          <p:nvPr/>
        </p:nvSpPr>
        <p:spPr>
          <a:xfrm>
            <a:off x="731520" y="1417320"/>
            <a:ext cx="5166360" cy="3429000"/>
          </a:xfrm>
          <a:prstGeom prst="roundRect">
            <a:avLst>
              <a:gd name="adj" fmla="val 1600"/>
            </a:avLst>
          </a:prstGeom>
          <a:solidFill>
            <a:srgbClr val="FBFDFF"/>
          </a:solidFill>
          <a:ln w="12700">
            <a:solidFill>
              <a:srgbClr val="D8E1EE"/>
            </a:solidFill>
            <a:prstDash val="solid"/>
          </a:ln>
        </p:spPr>
        <p:txBody>
          <a:bodyPr/>
          <a:lstStyle/>
          <a:p>
            <a:endParaRPr lang="en-US"/>
          </a:p>
        </p:txBody>
      </p:sp>
      <p:sp>
        <p:nvSpPr>
          <p:cNvPr id="8" name="Shape 6"/>
          <p:cNvSpPr/>
          <p:nvPr/>
        </p:nvSpPr>
        <p:spPr>
          <a:xfrm>
            <a:off x="731520" y="1417320"/>
            <a:ext cx="109728" cy="3429000"/>
          </a:xfrm>
          <a:prstGeom prst="rect">
            <a:avLst/>
          </a:prstGeom>
          <a:solidFill>
            <a:srgbClr val="2F6BFF"/>
          </a:solidFill>
          <a:ln w="12700">
            <a:solidFill>
              <a:srgbClr val="2F6BFF">
                <a:alpha val="0"/>
              </a:srgbClr>
            </a:solidFill>
            <a:prstDash val="solid"/>
          </a:ln>
        </p:spPr>
        <p:txBody>
          <a:bodyPr/>
          <a:lstStyle/>
          <a:p>
            <a:endParaRPr lang="en-US"/>
          </a:p>
        </p:txBody>
      </p:sp>
      <p:sp>
        <p:nvSpPr>
          <p:cNvPr id="9" name="Text 7"/>
          <p:cNvSpPr/>
          <p:nvPr/>
        </p:nvSpPr>
        <p:spPr>
          <a:xfrm>
            <a:off x="932688" y="1581912"/>
            <a:ext cx="4846320" cy="219456"/>
          </a:xfrm>
          <a:prstGeom prst="rect">
            <a:avLst/>
          </a:prstGeom>
          <a:noFill/>
          <a:ln/>
        </p:spPr>
        <p:txBody>
          <a:bodyPr wrap="square" lIns="0" tIns="0" rIns="0" bIns="0" rtlCol="0" anchor="ctr"/>
          <a:lstStyle/>
          <a:p>
            <a:pPr marL="0" indent="0">
              <a:buNone/>
            </a:pPr>
            <a:r>
              <a:rPr lang="en-US" sz="1900" b="1" dirty="0">
                <a:solidFill>
                  <a:srgbClr val="13233F"/>
                </a:solidFill>
              </a:rPr>
              <a:t>Earlier assumption: JSON-first</a:t>
            </a:r>
            <a:endParaRPr lang="en-US" sz="1900" dirty="0"/>
          </a:p>
        </p:txBody>
      </p:sp>
      <p:sp>
        <p:nvSpPr>
          <p:cNvPr id="10" name="Text 8"/>
          <p:cNvSpPr/>
          <p:nvPr/>
        </p:nvSpPr>
        <p:spPr>
          <a:xfrm>
            <a:off x="932688" y="1901952"/>
            <a:ext cx="4818888" cy="2862072"/>
          </a:xfrm>
          <a:prstGeom prst="rect">
            <a:avLst/>
          </a:prstGeom>
          <a:noFill/>
          <a:ln/>
        </p:spPr>
        <p:txBody>
          <a:bodyPr wrap="square" lIns="0" tIns="0" rIns="0" bIns="0" rtlCol="0" anchor="t"/>
          <a:lstStyle/>
          <a:p>
            <a:pPr marL="0" indent="0">
              <a:buNone/>
            </a:pPr>
            <a:r>
              <a:rPr lang="en-US" sz="1450" dirty="0">
                <a:solidFill>
                  <a:srgbClr val="1E2A3A"/>
                </a:solidFill>
              </a:rPr>
              <a:t>• Raw application exports arrive as JSON files.</a:t>
            </a:r>
            <a:endParaRPr lang="en-US" sz="1450" dirty="0"/>
          </a:p>
          <a:p>
            <a:pPr marL="0" indent="0">
              <a:buNone/>
            </a:pPr>
            <a:r>
              <a:rPr lang="en-US" sz="1450" dirty="0">
                <a:solidFill>
                  <a:srgbClr val="1E2A3A"/>
                </a:solidFill>
              </a:rPr>
              <a:t>• DuckDB acts as the bridge to query files and expose structured fields to dbt.</a:t>
            </a:r>
            <a:endParaRPr lang="en-US" sz="1450" dirty="0"/>
          </a:p>
          <a:p>
            <a:pPr marL="0" indent="0">
              <a:buNone/>
            </a:pPr>
            <a:r>
              <a:rPr lang="en-US" sz="1450" dirty="0">
                <a:solidFill>
                  <a:srgbClr val="1E2A3A"/>
                </a:solidFill>
              </a:rPr>
              <a:t>• This is still the right pattern for a fast POC on file-based data.</a:t>
            </a:r>
            <a:endParaRPr lang="en-US" sz="1450" dirty="0"/>
          </a:p>
        </p:txBody>
      </p:sp>
      <p:sp>
        <p:nvSpPr>
          <p:cNvPr id="11" name="Shape 9"/>
          <p:cNvSpPr/>
          <p:nvPr/>
        </p:nvSpPr>
        <p:spPr>
          <a:xfrm>
            <a:off x="6263640" y="1417320"/>
            <a:ext cx="5166360" cy="3429000"/>
          </a:xfrm>
          <a:prstGeom prst="roundRect">
            <a:avLst>
              <a:gd name="adj" fmla="val 1600"/>
            </a:avLst>
          </a:prstGeom>
          <a:solidFill>
            <a:srgbClr val="FBFFFD"/>
          </a:solidFill>
          <a:ln w="12700">
            <a:solidFill>
              <a:srgbClr val="D8E1EE"/>
            </a:solidFill>
            <a:prstDash val="solid"/>
          </a:ln>
        </p:spPr>
        <p:txBody>
          <a:bodyPr/>
          <a:lstStyle/>
          <a:p>
            <a:endParaRPr lang="en-US"/>
          </a:p>
        </p:txBody>
      </p:sp>
      <p:sp>
        <p:nvSpPr>
          <p:cNvPr id="12" name="Shape 10"/>
          <p:cNvSpPr/>
          <p:nvPr/>
        </p:nvSpPr>
        <p:spPr>
          <a:xfrm>
            <a:off x="6263640" y="1417320"/>
            <a:ext cx="109728" cy="3429000"/>
          </a:xfrm>
          <a:prstGeom prst="rect">
            <a:avLst/>
          </a:prstGeom>
          <a:solidFill>
            <a:srgbClr val="17B9A6"/>
          </a:solidFill>
          <a:ln w="12700">
            <a:solidFill>
              <a:srgbClr val="17B9A6">
                <a:alpha val="0"/>
              </a:srgbClr>
            </a:solidFill>
            <a:prstDash val="solid"/>
          </a:ln>
        </p:spPr>
        <p:txBody>
          <a:bodyPr/>
          <a:lstStyle/>
          <a:p>
            <a:endParaRPr lang="en-US"/>
          </a:p>
        </p:txBody>
      </p:sp>
      <p:sp>
        <p:nvSpPr>
          <p:cNvPr id="13" name="Text 11"/>
          <p:cNvSpPr/>
          <p:nvPr/>
        </p:nvSpPr>
        <p:spPr>
          <a:xfrm>
            <a:off x="6464808" y="1581912"/>
            <a:ext cx="4846320" cy="219456"/>
          </a:xfrm>
          <a:prstGeom prst="rect">
            <a:avLst/>
          </a:prstGeom>
          <a:noFill/>
          <a:ln/>
        </p:spPr>
        <p:txBody>
          <a:bodyPr wrap="square" lIns="0" tIns="0" rIns="0" bIns="0" rtlCol="0" anchor="ctr"/>
          <a:lstStyle/>
          <a:p>
            <a:pPr marL="0" indent="0">
              <a:buNone/>
            </a:pPr>
            <a:r>
              <a:rPr lang="en-US" sz="1900" b="1" dirty="0">
                <a:solidFill>
                  <a:srgbClr val="13233F"/>
                </a:solidFill>
              </a:rPr>
              <a:t>Revised option: curated SQL source</a:t>
            </a:r>
            <a:endParaRPr lang="en-US" sz="1900" dirty="0"/>
          </a:p>
        </p:txBody>
      </p:sp>
      <p:sp>
        <p:nvSpPr>
          <p:cNvPr id="14" name="Text 12"/>
          <p:cNvSpPr/>
          <p:nvPr/>
        </p:nvSpPr>
        <p:spPr>
          <a:xfrm>
            <a:off x="6464808" y="1901952"/>
            <a:ext cx="4818888" cy="2862072"/>
          </a:xfrm>
          <a:prstGeom prst="rect">
            <a:avLst/>
          </a:prstGeom>
          <a:noFill/>
          <a:ln/>
        </p:spPr>
        <p:txBody>
          <a:bodyPr wrap="square" lIns="0" tIns="0" rIns="0" bIns="0" rtlCol="0" anchor="t"/>
          <a:lstStyle/>
          <a:p>
            <a:pPr marL="0" indent="0">
              <a:buNone/>
            </a:pPr>
            <a:r>
              <a:rPr lang="en-US" sz="1450" dirty="0">
                <a:solidFill>
                  <a:srgbClr val="1E2A3A"/>
                </a:solidFill>
              </a:rPr>
              <a:t>• A combined consolidated query or enterprise view already resolves major joins.</a:t>
            </a:r>
            <a:endParaRPr lang="en-US" sz="1450" dirty="0"/>
          </a:p>
          <a:p>
            <a:pPr marL="0" indent="0">
              <a:buNone/>
            </a:pPr>
            <a:r>
              <a:rPr lang="en-US" sz="1450" dirty="0">
                <a:solidFill>
                  <a:srgbClr val="1E2A3A"/>
                </a:solidFill>
              </a:rPr>
              <a:t>• dbt can read the SQL relation directly as a source or as the first staging model.</a:t>
            </a:r>
            <a:endParaRPr lang="en-US" sz="1450" dirty="0"/>
          </a:p>
          <a:p>
            <a:pPr marL="0" indent="0">
              <a:buNone/>
            </a:pPr>
            <a:r>
              <a:rPr lang="en-US" sz="1450" dirty="0">
                <a:solidFill>
                  <a:srgbClr val="1E2A3A"/>
                </a:solidFill>
              </a:rPr>
              <a:t>• This removes one moving part while keeping semantic governance intact.</a:t>
            </a:r>
            <a:endParaRPr lang="en-US" sz="1450" dirty="0"/>
          </a:p>
        </p:txBody>
      </p:sp>
      <p:sp>
        <p:nvSpPr>
          <p:cNvPr id="15" name="Text 13"/>
          <p:cNvSpPr/>
          <p:nvPr/>
        </p:nvSpPr>
        <p:spPr>
          <a:xfrm>
            <a:off x="1005840" y="4983480"/>
            <a:ext cx="10058400" cy="292608"/>
          </a:xfrm>
          <a:prstGeom prst="rect">
            <a:avLst/>
          </a:prstGeom>
          <a:noFill/>
          <a:ln/>
        </p:spPr>
        <p:txBody>
          <a:bodyPr wrap="square" lIns="0" tIns="0" rIns="0" bIns="0" rtlCol="0" anchor="ctr"/>
          <a:lstStyle/>
          <a:p>
            <a:pPr marL="0" indent="0" algn="ctr">
              <a:buNone/>
            </a:pPr>
            <a:r>
              <a:rPr lang="en-US" sz="1520" i="1" dirty="0">
                <a:solidFill>
                  <a:srgbClr val="6C7A89"/>
                </a:solidFill>
              </a:rPr>
              <a:t>When SQL exists, prefer exposing it as a database view/table and registering that relation in sources.yml.</a:t>
            </a:r>
            <a:endParaRPr lang="en-US" sz="1520" dirty="0"/>
          </a:p>
        </p:txBody>
      </p:sp>
      <p:sp>
        <p:nvSpPr>
          <p:cNvPr id="16" name="Shape 14"/>
          <p:cNvSpPr/>
          <p:nvPr/>
        </p:nvSpPr>
        <p:spPr>
          <a:xfrm>
            <a:off x="6080760" y="1664208"/>
            <a:ext cx="0" cy="2788920"/>
          </a:xfrm>
          <a:prstGeom prst="line">
            <a:avLst/>
          </a:prstGeom>
          <a:noFill/>
          <a:ln w="12700">
            <a:solidFill>
              <a:srgbClr val="D8E1EE"/>
            </a:solidFill>
            <a:prstDash val="solid"/>
          </a:ln>
        </p:spPr>
        <p:txBody>
          <a:bodyPr/>
          <a:lstStyle/>
          <a:p>
            <a:endParaRPr lang="en-US"/>
          </a:p>
        </p:txBody>
      </p:sp>
      <p:sp>
        <p:nvSpPr>
          <p:cNvPr id="17" name="Shape 15"/>
          <p:cNvSpPr/>
          <p:nvPr/>
        </p:nvSpPr>
        <p:spPr>
          <a:xfrm>
            <a:off x="4160520" y="5486400"/>
            <a:ext cx="3794760" cy="329184"/>
          </a:xfrm>
          <a:prstGeom prst="roundRect">
            <a:avLst>
              <a:gd name="adj" fmla="val 22222"/>
            </a:avLst>
          </a:prstGeom>
          <a:solidFill>
            <a:srgbClr val="EDF5FF"/>
          </a:solidFill>
          <a:ln w="12700">
            <a:solidFill>
              <a:srgbClr val="EDF5FF">
                <a:alpha val="0"/>
              </a:srgbClr>
            </a:solidFill>
            <a:prstDash val="solid"/>
          </a:ln>
        </p:spPr>
        <p:txBody>
          <a:bodyPr/>
          <a:lstStyle/>
          <a:p>
            <a:endParaRPr lang="en-US"/>
          </a:p>
        </p:txBody>
      </p:sp>
      <p:sp>
        <p:nvSpPr>
          <p:cNvPr id="18" name="Text 16"/>
          <p:cNvSpPr/>
          <p:nvPr/>
        </p:nvSpPr>
        <p:spPr>
          <a:xfrm>
            <a:off x="4233672" y="5559552"/>
            <a:ext cx="3648456" cy="146304"/>
          </a:xfrm>
          <a:prstGeom prst="rect">
            <a:avLst/>
          </a:prstGeom>
          <a:noFill/>
          <a:ln/>
        </p:spPr>
        <p:txBody>
          <a:bodyPr wrap="square" lIns="0" tIns="0" rIns="0" bIns="0" rtlCol="0" anchor="ctr"/>
          <a:lstStyle/>
          <a:p>
            <a:pPr marL="0" indent="0" algn="ctr">
              <a:buNone/>
            </a:pPr>
            <a:r>
              <a:rPr lang="en-US" sz="1100" b="1" dirty="0">
                <a:solidFill>
                  <a:srgbClr val="2F6BFF"/>
                </a:solidFill>
              </a:rPr>
              <a:t>Keep DuckDB only where it adds value</a:t>
            </a:r>
            <a:endParaRPr lang="en-US" sz="1100" dirty="0"/>
          </a:p>
        </p:txBody>
      </p:sp>
      <p:sp>
        <p:nvSpPr>
          <p:cNvPr id="19" name="Text 17"/>
          <p:cNvSpPr/>
          <p:nvPr/>
        </p:nvSpPr>
        <p:spPr>
          <a:xfrm>
            <a:off x="566928" y="6437376"/>
            <a:ext cx="9875520" cy="164592"/>
          </a:xfrm>
          <a:prstGeom prst="rect">
            <a:avLst/>
          </a:prstGeom>
          <a:noFill/>
          <a:ln/>
        </p:spPr>
        <p:txBody>
          <a:bodyPr wrap="square" lIns="0" tIns="0" rIns="0" bIns="0" rtlCol="0" anchor="ctr"/>
          <a:lstStyle/>
          <a:p>
            <a:pPr marL="0" indent="0">
              <a:buNone/>
            </a:pPr>
            <a:r>
              <a:rPr lang="en-US" sz="950" dirty="0">
                <a:solidFill>
                  <a:srgbClr val="6C7A89"/>
                </a:solidFill>
              </a:rPr>
              <a:t>Revised approach: JSON + DuckDB or direct SQL source</a:t>
            </a:r>
            <a:endParaRPr lang="en-US" sz="950" dirty="0"/>
          </a:p>
        </p:txBody>
      </p:sp>
      <p:sp>
        <p:nvSpPr>
          <p:cNvPr id="20" name="Text 18"/>
          <p:cNvSpPr/>
          <p:nvPr/>
        </p:nvSpPr>
        <p:spPr>
          <a:xfrm>
            <a:off x="11155680" y="6409944"/>
            <a:ext cx="411480" cy="182880"/>
          </a:xfrm>
          <a:prstGeom prst="rect">
            <a:avLst/>
          </a:prstGeom>
          <a:noFill/>
          <a:ln/>
        </p:spPr>
        <p:txBody>
          <a:bodyPr wrap="square" lIns="0" tIns="0" rIns="0" bIns="0" rtlCol="0" anchor="ctr"/>
          <a:lstStyle/>
          <a:p>
            <a:pPr marL="0" indent="0" algn="r">
              <a:buNone/>
            </a:pPr>
            <a:r>
              <a:rPr lang="en-US" sz="1000" b="1" dirty="0">
                <a:solidFill>
                  <a:srgbClr val="6C7A89"/>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3233F"/>
          </a:solidFill>
          <a:ln w="12700">
            <a:solidFill>
              <a:srgbClr val="13233F">
                <a:alpha val="0"/>
              </a:srgbClr>
            </a:solidFill>
            <a:prstDash val="solid"/>
          </a:ln>
        </p:spPr>
        <p:txBody>
          <a:bodyPr/>
          <a:lstStyle/>
          <a:p>
            <a:endParaRPr lang="en-US"/>
          </a:p>
        </p:txBody>
      </p:sp>
      <p:sp>
        <p:nvSpPr>
          <p:cNvPr id="3" name="Text 1"/>
          <p:cNvSpPr/>
          <p:nvPr/>
        </p:nvSpPr>
        <p:spPr>
          <a:xfrm>
            <a:off x="566928" y="164592"/>
            <a:ext cx="8046720" cy="237744"/>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Revised Phase 1 architecture: two ingestion lanes, one governed semantic contract</a:t>
            </a:r>
            <a:endParaRPr lang="en-US" sz="2600" dirty="0"/>
          </a:p>
        </p:txBody>
      </p:sp>
      <p:sp>
        <p:nvSpPr>
          <p:cNvPr id="4" name="Text 2"/>
          <p:cNvSpPr/>
          <p:nvPr/>
        </p:nvSpPr>
        <p:spPr>
          <a:xfrm>
            <a:off x="9281160" y="164592"/>
            <a:ext cx="2240280" cy="219456"/>
          </a:xfrm>
          <a:prstGeom prst="rect">
            <a:avLst/>
          </a:prstGeom>
          <a:noFill/>
          <a:ln/>
        </p:spPr>
        <p:txBody>
          <a:bodyPr wrap="square" lIns="0" tIns="0" rIns="0" bIns="0" rtlCol="0" anchor="ctr"/>
          <a:lstStyle/>
          <a:p>
            <a:pPr marL="0" indent="0" algn="r">
              <a:buNone/>
            </a:pPr>
            <a:r>
              <a:rPr lang="en-US" sz="1050" dirty="0">
                <a:solidFill>
                  <a:srgbClr val="D7E2FF"/>
                </a:solidFill>
                <a:latin typeface="Aptos" pitchFamily="34" charset="0"/>
                <a:ea typeface="Aptos" pitchFamily="34" charset="-122"/>
                <a:cs typeface="Aptos" pitchFamily="34" charset="-120"/>
              </a:rPr>
              <a:t>Semantic GenAI for BI · Phase 1</a:t>
            </a:r>
            <a:endParaRPr lang="en-US" sz="1050" dirty="0"/>
          </a:p>
        </p:txBody>
      </p:sp>
      <p:sp>
        <p:nvSpPr>
          <p:cNvPr id="5" name="Shape 3"/>
          <p:cNvSpPr/>
          <p:nvPr/>
        </p:nvSpPr>
        <p:spPr>
          <a:xfrm>
            <a:off x="566928" y="6382512"/>
            <a:ext cx="11064240" cy="0"/>
          </a:xfrm>
          <a:prstGeom prst="line">
            <a:avLst/>
          </a:prstGeom>
          <a:noFill/>
          <a:ln w="12700">
            <a:solidFill>
              <a:srgbClr val="D8E1EE"/>
            </a:solidFill>
            <a:prstDash val="solid"/>
          </a:ln>
        </p:spPr>
        <p:txBody>
          <a:bodyPr/>
          <a:lstStyle/>
          <a:p>
            <a:endParaRPr lang="en-US"/>
          </a:p>
        </p:txBody>
      </p:sp>
      <p:sp>
        <p:nvSpPr>
          <p:cNvPr id="6" name="Shape 4"/>
          <p:cNvSpPr/>
          <p:nvPr/>
        </p:nvSpPr>
        <p:spPr>
          <a:xfrm>
            <a:off x="2286000" y="2331720"/>
            <a:ext cx="868680" cy="0"/>
          </a:xfrm>
          <a:prstGeom prst="line">
            <a:avLst/>
          </a:prstGeom>
          <a:noFill/>
          <a:ln w="12700">
            <a:solidFill>
              <a:srgbClr val="2F6BFF"/>
            </a:solidFill>
            <a:prstDash val="solid"/>
            <a:headEnd type="none"/>
            <a:tailEnd type="triangle"/>
          </a:ln>
        </p:spPr>
        <p:txBody>
          <a:bodyPr/>
          <a:lstStyle/>
          <a:p>
            <a:endParaRPr lang="en-US"/>
          </a:p>
        </p:txBody>
      </p:sp>
      <p:sp>
        <p:nvSpPr>
          <p:cNvPr id="7" name="Shape 5"/>
          <p:cNvSpPr/>
          <p:nvPr/>
        </p:nvSpPr>
        <p:spPr>
          <a:xfrm>
            <a:off x="2286000" y="4343400"/>
            <a:ext cx="868680" cy="0"/>
          </a:xfrm>
          <a:prstGeom prst="line">
            <a:avLst/>
          </a:prstGeom>
          <a:noFill/>
          <a:ln w="12700">
            <a:solidFill>
              <a:srgbClr val="17B9A6"/>
            </a:solidFill>
            <a:prstDash val="solid"/>
            <a:headEnd type="none"/>
            <a:tailEnd type="triangle"/>
          </a:ln>
        </p:spPr>
        <p:txBody>
          <a:bodyPr/>
          <a:lstStyle/>
          <a:p>
            <a:endParaRPr lang="en-US"/>
          </a:p>
        </p:txBody>
      </p:sp>
      <p:sp>
        <p:nvSpPr>
          <p:cNvPr id="8" name="Shape 6"/>
          <p:cNvSpPr/>
          <p:nvPr/>
        </p:nvSpPr>
        <p:spPr>
          <a:xfrm>
            <a:off x="4526280" y="2880360"/>
            <a:ext cx="868680" cy="749808"/>
          </a:xfrm>
          <a:prstGeom prst="line">
            <a:avLst/>
          </a:prstGeom>
          <a:noFill/>
          <a:ln w="12700">
            <a:solidFill>
              <a:srgbClr val="D8E1EE"/>
            </a:solidFill>
            <a:prstDash val="solid"/>
            <a:tailEnd type="triangle"/>
          </a:ln>
        </p:spPr>
        <p:txBody>
          <a:bodyPr/>
          <a:lstStyle/>
          <a:p>
            <a:endParaRPr lang="en-US"/>
          </a:p>
        </p:txBody>
      </p:sp>
      <p:sp>
        <p:nvSpPr>
          <p:cNvPr id="9" name="Shape 7"/>
          <p:cNvSpPr/>
          <p:nvPr/>
        </p:nvSpPr>
        <p:spPr>
          <a:xfrm>
            <a:off x="4526280" y="3794760"/>
            <a:ext cx="868680" cy="0"/>
          </a:xfrm>
          <a:prstGeom prst="line">
            <a:avLst/>
          </a:prstGeom>
          <a:noFill/>
          <a:ln w="12700">
            <a:solidFill>
              <a:srgbClr val="D8E1EE"/>
            </a:solidFill>
            <a:prstDash val="solid"/>
            <a:tailEnd type="triangle"/>
          </a:ln>
        </p:spPr>
        <p:txBody>
          <a:bodyPr/>
          <a:lstStyle/>
          <a:p>
            <a:endParaRPr lang="en-US"/>
          </a:p>
        </p:txBody>
      </p:sp>
      <p:sp>
        <p:nvSpPr>
          <p:cNvPr id="10" name="Shape 8"/>
          <p:cNvSpPr/>
          <p:nvPr/>
        </p:nvSpPr>
        <p:spPr>
          <a:xfrm>
            <a:off x="6537960" y="3337560"/>
            <a:ext cx="1005840" cy="0"/>
          </a:xfrm>
          <a:prstGeom prst="line">
            <a:avLst/>
          </a:prstGeom>
          <a:noFill/>
          <a:ln w="12700">
            <a:solidFill>
              <a:srgbClr val="2F6BFF"/>
            </a:solidFill>
            <a:prstDash val="solid"/>
            <a:headEnd type="none"/>
            <a:tailEnd type="triangle"/>
          </a:ln>
        </p:spPr>
        <p:txBody>
          <a:bodyPr/>
          <a:lstStyle/>
          <a:p>
            <a:endParaRPr lang="en-US"/>
          </a:p>
        </p:txBody>
      </p:sp>
      <p:sp>
        <p:nvSpPr>
          <p:cNvPr id="11" name="Shape 9"/>
          <p:cNvSpPr/>
          <p:nvPr/>
        </p:nvSpPr>
        <p:spPr>
          <a:xfrm>
            <a:off x="9646920" y="3337560"/>
            <a:ext cx="914400" cy="0"/>
          </a:xfrm>
          <a:prstGeom prst="line">
            <a:avLst/>
          </a:prstGeom>
          <a:noFill/>
          <a:ln w="12700">
            <a:solidFill>
              <a:srgbClr val="17B9A6"/>
            </a:solidFill>
            <a:prstDash val="solid"/>
            <a:headEnd type="none"/>
            <a:tailEnd type="triangle"/>
          </a:ln>
        </p:spPr>
        <p:txBody>
          <a:bodyPr/>
          <a:lstStyle/>
          <a:p>
            <a:endParaRPr lang="en-US"/>
          </a:p>
        </p:txBody>
      </p:sp>
      <p:sp>
        <p:nvSpPr>
          <p:cNvPr id="12" name="Shape 10"/>
          <p:cNvSpPr/>
          <p:nvPr/>
        </p:nvSpPr>
        <p:spPr>
          <a:xfrm>
            <a:off x="777240" y="1783080"/>
            <a:ext cx="1554480" cy="1097280"/>
          </a:xfrm>
          <a:prstGeom prst="roundRect">
            <a:avLst>
              <a:gd name="adj" fmla="val 5000"/>
            </a:avLst>
          </a:prstGeom>
          <a:solidFill>
            <a:srgbClr val="EAF1FF"/>
          </a:solidFill>
          <a:ln w="12700">
            <a:solidFill>
              <a:srgbClr val="2F6BFF"/>
            </a:solidFill>
            <a:prstDash val="solid"/>
          </a:ln>
        </p:spPr>
        <p:txBody>
          <a:bodyPr/>
          <a:lstStyle/>
          <a:p>
            <a:endParaRPr lang="en-US"/>
          </a:p>
        </p:txBody>
      </p:sp>
      <p:sp>
        <p:nvSpPr>
          <p:cNvPr id="13" name="Text 11"/>
          <p:cNvSpPr/>
          <p:nvPr/>
        </p:nvSpPr>
        <p:spPr>
          <a:xfrm>
            <a:off x="886968" y="1911096"/>
            <a:ext cx="1335024" cy="201168"/>
          </a:xfrm>
          <a:prstGeom prst="rect">
            <a:avLst/>
          </a:prstGeom>
          <a:noFill/>
          <a:ln/>
        </p:spPr>
        <p:txBody>
          <a:bodyPr wrap="square" lIns="0" tIns="0" rIns="0" bIns="0" rtlCol="0" anchor="ctr"/>
          <a:lstStyle/>
          <a:p>
            <a:pPr marL="0" indent="0" algn="ctr">
              <a:buNone/>
            </a:pPr>
            <a:r>
              <a:rPr lang="en-US" sz="1600" b="1" dirty="0">
                <a:solidFill>
                  <a:srgbClr val="13233F"/>
                </a:solidFill>
              </a:rPr>
              <a:t>Path A</a:t>
            </a:r>
            <a:endParaRPr lang="en-US" sz="1600" dirty="0"/>
          </a:p>
        </p:txBody>
      </p:sp>
      <p:sp>
        <p:nvSpPr>
          <p:cNvPr id="14" name="Text 12"/>
          <p:cNvSpPr/>
          <p:nvPr/>
        </p:nvSpPr>
        <p:spPr>
          <a:xfrm>
            <a:off x="886968" y="2167128"/>
            <a:ext cx="1335024" cy="621792"/>
          </a:xfrm>
          <a:prstGeom prst="rect">
            <a:avLst/>
          </a:prstGeom>
          <a:noFill/>
          <a:ln/>
        </p:spPr>
        <p:txBody>
          <a:bodyPr wrap="square" lIns="254" tIns="254" rIns="254" bIns="254" rtlCol="0" anchor="ctr"/>
          <a:lstStyle/>
          <a:p>
            <a:pPr marL="0" indent="0" algn="ctr">
              <a:buNone/>
            </a:pPr>
            <a:r>
              <a:rPr lang="en-US" sz="1150" dirty="0">
                <a:solidFill>
                  <a:srgbClr val="1E2A3A"/>
                </a:solidFill>
              </a:rPr>
              <a:t>Raw JSON</a:t>
            </a:r>
            <a:endParaRPr lang="en-US" sz="1150" dirty="0"/>
          </a:p>
          <a:p>
            <a:pPr marL="0" indent="0" algn="ctr">
              <a:buNone/>
            </a:pPr>
            <a:r>
              <a:rPr lang="en-US" sz="1150" dirty="0">
                <a:solidFill>
                  <a:srgbClr val="1E2A3A"/>
                </a:solidFill>
              </a:rPr>
              <a:t>folder pattern</a:t>
            </a:r>
            <a:endParaRPr lang="en-US" sz="1150" dirty="0"/>
          </a:p>
        </p:txBody>
      </p:sp>
      <p:sp>
        <p:nvSpPr>
          <p:cNvPr id="15" name="Shape 13"/>
          <p:cNvSpPr/>
          <p:nvPr/>
        </p:nvSpPr>
        <p:spPr>
          <a:xfrm>
            <a:off x="777240" y="3794760"/>
            <a:ext cx="1554480" cy="1097280"/>
          </a:xfrm>
          <a:prstGeom prst="roundRect">
            <a:avLst>
              <a:gd name="adj" fmla="val 5000"/>
            </a:avLst>
          </a:prstGeom>
          <a:solidFill>
            <a:srgbClr val="DFF7F3"/>
          </a:solidFill>
          <a:ln w="12700">
            <a:solidFill>
              <a:srgbClr val="17B9A6"/>
            </a:solidFill>
            <a:prstDash val="solid"/>
          </a:ln>
        </p:spPr>
        <p:txBody>
          <a:bodyPr/>
          <a:lstStyle/>
          <a:p>
            <a:endParaRPr lang="en-US"/>
          </a:p>
        </p:txBody>
      </p:sp>
      <p:sp>
        <p:nvSpPr>
          <p:cNvPr id="16" name="Text 14"/>
          <p:cNvSpPr/>
          <p:nvPr/>
        </p:nvSpPr>
        <p:spPr>
          <a:xfrm>
            <a:off x="886968" y="3922776"/>
            <a:ext cx="1335024" cy="201168"/>
          </a:xfrm>
          <a:prstGeom prst="rect">
            <a:avLst/>
          </a:prstGeom>
          <a:noFill/>
          <a:ln/>
        </p:spPr>
        <p:txBody>
          <a:bodyPr wrap="square" lIns="0" tIns="0" rIns="0" bIns="0" rtlCol="0" anchor="ctr"/>
          <a:lstStyle/>
          <a:p>
            <a:pPr marL="0" indent="0" algn="ctr">
              <a:buNone/>
            </a:pPr>
            <a:r>
              <a:rPr lang="en-US" sz="1600" b="1" dirty="0">
                <a:solidFill>
                  <a:srgbClr val="13233F"/>
                </a:solidFill>
              </a:rPr>
              <a:t>Path B</a:t>
            </a:r>
            <a:endParaRPr lang="en-US" sz="1600" dirty="0"/>
          </a:p>
        </p:txBody>
      </p:sp>
      <p:sp>
        <p:nvSpPr>
          <p:cNvPr id="17" name="Text 15"/>
          <p:cNvSpPr/>
          <p:nvPr/>
        </p:nvSpPr>
        <p:spPr>
          <a:xfrm>
            <a:off x="886968" y="4178808"/>
            <a:ext cx="1335024" cy="621792"/>
          </a:xfrm>
          <a:prstGeom prst="rect">
            <a:avLst/>
          </a:prstGeom>
          <a:noFill/>
          <a:ln/>
        </p:spPr>
        <p:txBody>
          <a:bodyPr wrap="square" lIns="254" tIns="254" rIns="254" bIns="254" rtlCol="0" anchor="ctr"/>
          <a:lstStyle/>
          <a:p>
            <a:pPr marL="0" indent="0" algn="ctr">
              <a:buNone/>
            </a:pPr>
            <a:r>
              <a:rPr lang="en-US" sz="1150" dirty="0">
                <a:solidFill>
                  <a:srgbClr val="1E2A3A"/>
                </a:solidFill>
              </a:rPr>
              <a:t>SQL view or</a:t>
            </a:r>
            <a:endParaRPr lang="en-US" sz="1150" dirty="0"/>
          </a:p>
          <a:p>
            <a:pPr marL="0" indent="0" algn="ctr">
              <a:buNone/>
            </a:pPr>
            <a:r>
              <a:rPr lang="en-US" sz="1150" dirty="0">
                <a:solidFill>
                  <a:srgbClr val="1E2A3A"/>
                </a:solidFill>
              </a:rPr>
              <a:t>consolidated table</a:t>
            </a:r>
            <a:endParaRPr lang="en-US" sz="1150" dirty="0"/>
          </a:p>
        </p:txBody>
      </p:sp>
      <p:sp>
        <p:nvSpPr>
          <p:cNvPr id="18" name="Shape 16"/>
          <p:cNvSpPr/>
          <p:nvPr/>
        </p:nvSpPr>
        <p:spPr>
          <a:xfrm>
            <a:off x="3154680" y="1783080"/>
            <a:ext cx="1371600" cy="1097280"/>
          </a:xfrm>
          <a:prstGeom prst="roundRect">
            <a:avLst>
              <a:gd name="adj" fmla="val 5000"/>
            </a:avLst>
          </a:prstGeom>
          <a:solidFill>
            <a:srgbClr val="FFF7E6"/>
          </a:solidFill>
          <a:ln w="12700">
            <a:solidFill>
              <a:srgbClr val="F5A623"/>
            </a:solidFill>
            <a:prstDash val="solid"/>
          </a:ln>
        </p:spPr>
        <p:txBody>
          <a:bodyPr/>
          <a:lstStyle/>
          <a:p>
            <a:endParaRPr lang="en-US"/>
          </a:p>
        </p:txBody>
      </p:sp>
      <p:sp>
        <p:nvSpPr>
          <p:cNvPr id="19" name="Text 17"/>
          <p:cNvSpPr/>
          <p:nvPr/>
        </p:nvSpPr>
        <p:spPr>
          <a:xfrm>
            <a:off x="3264408" y="1911096"/>
            <a:ext cx="1152144" cy="201168"/>
          </a:xfrm>
          <a:prstGeom prst="rect">
            <a:avLst/>
          </a:prstGeom>
          <a:noFill/>
          <a:ln/>
        </p:spPr>
        <p:txBody>
          <a:bodyPr wrap="square" lIns="0" tIns="0" rIns="0" bIns="0" rtlCol="0" anchor="ctr"/>
          <a:lstStyle/>
          <a:p>
            <a:pPr marL="0" indent="0" algn="ctr">
              <a:buNone/>
            </a:pPr>
            <a:r>
              <a:rPr lang="en-US" sz="1600" b="1" dirty="0">
                <a:solidFill>
                  <a:srgbClr val="13233F"/>
                </a:solidFill>
              </a:rPr>
              <a:t>DuckDB</a:t>
            </a:r>
            <a:endParaRPr lang="en-US" sz="1600" dirty="0"/>
          </a:p>
        </p:txBody>
      </p:sp>
      <p:sp>
        <p:nvSpPr>
          <p:cNvPr id="20" name="Text 18"/>
          <p:cNvSpPr/>
          <p:nvPr/>
        </p:nvSpPr>
        <p:spPr>
          <a:xfrm>
            <a:off x="3264408" y="2167128"/>
            <a:ext cx="1152144" cy="621792"/>
          </a:xfrm>
          <a:prstGeom prst="rect">
            <a:avLst/>
          </a:prstGeom>
          <a:noFill/>
          <a:ln/>
        </p:spPr>
        <p:txBody>
          <a:bodyPr wrap="square" lIns="254" tIns="254" rIns="254" bIns="254" rtlCol="0" anchor="ctr"/>
          <a:lstStyle/>
          <a:p>
            <a:pPr marL="0" indent="0" algn="ctr">
              <a:buNone/>
            </a:pPr>
            <a:r>
              <a:rPr lang="en-US" sz="1150" dirty="0">
                <a:solidFill>
                  <a:srgbClr val="1E2A3A"/>
                </a:solidFill>
              </a:rPr>
              <a:t>query files</a:t>
            </a:r>
            <a:endParaRPr lang="en-US" sz="1150" dirty="0"/>
          </a:p>
          <a:p>
            <a:pPr marL="0" indent="0" algn="ctr">
              <a:buNone/>
            </a:pPr>
            <a:r>
              <a:rPr lang="en-US" sz="1150" dirty="0">
                <a:solidFill>
                  <a:srgbClr val="1E2A3A"/>
                </a:solidFill>
              </a:rPr>
              <a:t>cast JSON</a:t>
            </a:r>
            <a:endParaRPr lang="en-US" sz="1150" dirty="0"/>
          </a:p>
        </p:txBody>
      </p:sp>
      <p:sp>
        <p:nvSpPr>
          <p:cNvPr id="21" name="Shape 19"/>
          <p:cNvSpPr/>
          <p:nvPr/>
        </p:nvSpPr>
        <p:spPr>
          <a:xfrm>
            <a:off x="3154680" y="3794760"/>
            <a:ext cx="1371600" cy="1097280"/>
          </a:xfrm>
          <a:prstGeom prst="roundRect">
            <a:avLst>
              <a:gd name="adj" fmla="val 5000"/>
            </a:avLst>
          </a:prstGeom>
          <a:solidFill>
            <a:srgbClr val="FFFFFF"/>
          </a:solidFill>
          <a:ln w="12700">
            <a:solidFill>
              <a:srgbClr val="17B9A6"/>
            </a:solidFill>
            <a:prstDash val="solid"/>
          </a:ln>
        </p:spPr>
        <p:txBody>
          <a:bodyPr/>
          <a:lstStyle/>
          <a:p>
            <a:endParaRPr lang="en-US"/>
          </a:p>
        </p:txBody>
      </p:sp>
      <p:sp>
        <p:nvSpPr>
          <p:cNvPr id="22" name="Text 20"/>
          <p:cNvSpPr/>
          <p:nvPr/>
        </p:nvSpPr>
        <p:spPr>
          <a:xfrm>
            <a:off x="3264408" y="3922776"/>
            <a:ext cx="1152144" cy="201168"/>
          </a:xfrm>
          <a:prstGeom prst="rect">
            <a:avLst/>
          </a:prstGeom>
          <a:noFill/>
          <a:ln/>
        </p:spPr>
        <p:txBody>
          <a:bodyPr wrap="square" lIns="0" tIns="0" rIns="0" bIns="0" rtlCol="0" anchor="ctr"/>
          <a:lstStyle/>
          <a:p>
            <a:pPr marL="0" indent="0" algn="ctr">
              <a:buNone/>
            </a:pPr>
            <a:r>
              <a:rPr lang="en-US" sz="1600" b="1" dirty="0">
                <a:solidFill>
                  <a:srgbClr val="13233F"/>
                </a:solidFill>
              </a:rPr>
              <a:t>dbt source</a:t>
            </a:r>
            <a:endParaRPr lang="en-US" sz="1600" dirty="0"/>
          </a:p>
        </p:txBody>
      </p:sp>
      <p:sp>
        <p:nvSpPr>
          <p:cNvPr id="23" name="Text 21"/>
          <p:cNvSpPr/>
          <p:nvPr/>
        </p:nvSpPr>
        <p:spPr>
          <a:xfrm>
            <a:off x="3264408" y="4178808"/>
            <a:ext cx="1152144" cy="621792"/>
          </a:xfrm>
          <a:prstGeom prst="rect">
            <a:avLst/>
          </a:prstGeom>
          <a:noFill/>
          <a:ln/>
        </p:spPr>
        <p:txBody>
          <a:bodyPr wrap="square" lIns="254" tIns="254" rIns="254" bIns="254" rtlCol="0" anchor="ctr"/>
          <a:lstStyle/>
          <a:p>
            <a:pPr marL="0" indent="0" algn="ctr">
              <a:buNone/>
            </a:pPr>
            <a:r>
              <a:rPr lang="en-US" sz="1150" dirty="0">
                <a:solidFill>
                  <a:srgbClr val="1E2A3A"/>
                </a:solidFill>
              </a:rPr>
              <a:t>direct relation</a:t>
            </a:r>
            <a:endParaRPr lang="en-US" sz="1150" dirty="0"/>
          </a:p>
          <a:p>
            <a:pPr marL="0" indent="0" algn="ctr">
              <a:buNone/>
            </a:pPr>
            <a:r>
              <a:rPr lang="en-US" sz="1150" dirty="0">
                <a:solidFill>
                  <a:srgbClr val="1E2A3A"/>
                </a:solidFill>
              </a:rPr>
              <a:t>registration</a:t>
            </a:r>
            <a:endParaRPr lang="en-US" sz="1150" dirty="0"/>
          </a:p>
        </p:txBody>
      </p:sp>
      <p:sp>
        <p:nvSpPr>
          <p:cNvPr id="24" name="Shape 22"/>
          <p:cNvSpPr/>
          <p:nvPr/>
        </p:nvSpPr>
        <p:spPr>
          <a:xfrm>
            <a:off x="5394960" y="2697480"/>
            <a:ext cx="1143000" cy="1280160"/>
          </a:xfrm>
          <a:prstGeom prst="roundRect">
            <a:avLst>
              <a:gd name="adj" fmla="val 4800"/>
            </a:avLst>
          </a:prstGeom>
          <a:solidFill>
            <a:srgbClr val="FFFFFF"/>
          </a:solidFill>
          <a:ln w="12700">
            <a:solidFill>
              <a:srgbClr val="2F6BFF"/>
            </a:solidFill>
            <a:prstDash val="solid"/>
          </a:ln>
        </p:spPr>
        <p:txBody>
          <a:bodyPr/>
          <a:lstStyle/>
          <a:p>
            <a:endParaRPr lang="en-US"/>
          </a:p>
        </p:txBody>
      </p:sp>
      <p:sp>
        <p:nvSpPr>
          <p:cNvPr id="25" name="Text 23"/>
          <p:cNvSpPr/>
          <p:nvPr/>
        </p:nvSpPr>
        <p:spPr>
          <a:xfrm>
            <a:off x="5504688" y="2825496"/>
            <a:ext cx="923544" cy="201168"/>
          </a:xfrm>
          <a:prstGeom prst="rect">
            <a:avLst/>
          </a:prstGeom>
          <a:noFill/>
          <a:ln/>
        </p:spPr>
        <p:txBody>
          <a:bodyPr wrap="square" lIns="0" tIns="0" rIns="0" bIns="0" rtlCol="0" anchor="ctr"/>
          <a:lstStyle/>
          <a:p>
            <a:pPr marL="0" indent="0" algn="ctr">
              <a:buNone/>
            </a:pPr>
            <a:r>
              <a:rPr lang="en-US" sz="1600" b="1" dirty="0">
                <a:solidFill>
                  <a:srgbClr val="13233F"/>
                </a:solidFill>
              </a:rPr>
              <a:t>stg_margin_calls</a:t>
            </a:r>
            <a:endParaRPr lang="en-US" sz="1600" dirty="0"/>
          </a:p>
        </p:txBody>
      </p:sp>
      <p:sp>
        <p:nvSpPr>
          <p:cNvPr id="26" name="Text 24"/>
          <p:cNvSpPr/>
          <p:nvPr/>
        </p:nvSpPr>
        <p:spPr>
          <a:xfrm>
            <a:off x="5504688" y="3081528"/>
            <a:ext cx="923544" cy="804672"/>
          </a:xfrm>
          <a:prstGeom prst="rect">
            <a:avLst/>
          </a:prstGeom>
          <a:noFill/>
          <a:ln/>
        </p:spPr>
        <p:txBody>
          <a:bodyPr wrap="square" lIns="254" tIns="254" rIns="254" bIns="254" rtlCol="0" anchor="ctr"/>
          <a:lstStyle/>
          <a:p>
            <a:pPr marL="0" indent="0" algn="ctr">
              <a:buNone/>
            </a:pPr>
            <a:r>
              <a:rPr lang="en-US" sz="1150" dirty="0">
                <a:solidFill>
                  <a:srgbClr val="1E2A3A"/>
                </a:solidFill>
              </a:rPr>
              <a:t>clean</a:t>
            </a:r>
            <a:endParaRPr lang="en-US" sz="1150" dirty="0"/>
          </a:p>
          <a:p>
            <a:pPr marL="0" indent="0" algn="ctr">
              <a:buNone/>
            </a:pPr>
            <a:r>
              <a:rPr lang="en-US" sz="1150" dirty="0">
                <a:solidFill>
                  <a:srgbClr val="1E2A3A"/>
                </a:solidFill>
              </a:rPr>
              <a:t>fields</a:t>
            </a:r>
            <a:endParaRPr lang="en-US" sz="1150" dirty="0"/>
          </a:p>
        </p:txBody>
      </p:sp>
      <p:sp>
        <p:nvSpPr>
          <p:cNvPr id="27" name="Shape 25"/>
          <p:cNvSpPr/>
          <p:nvPr/>
        </p:nvSpPr>
        <p:spPr>
          <a:xfrm>
            <a:off x="7543800" y="2697480"/>
            <a:ext cx="2103120" cy="1280160"/>
          </a:xfrm>
          <a:prstGeom prst="roundRect">
            <a:avLst>
              <a:gd name="adj" fmla="val 4286"/>
            </a:avLst>
          </a:prstGeom>
          <a:solidFill>
            <a:srgbClr val="FFFFFF"/>
          </a:solidFill>
          <a:ln w="12700">
            <a:solidFill>
              <a:srgbClr val="17B9A6"/>
            </a:solidFill>
            <a:prstDash val="solid"/>
          </a:ln>
        </p:spPr>
        <p:txBody>
          <a:bodyPr/>
          <a:lstStyle/>
          <a:p>
            <a:endParaRPr lang="en-US"/>
          </a:p>
        </p:txBody>
      </p:sp>
      <p:sp>
        <p:nvSpPr>
          <p:cNvPr id="28" name="Text 26"/>
          <p:cNvSpPr/>
          <p:nvPr/>
        </p:nvSpPr>
        <p:spPr>
          <a:xfrm>
            <a:off x="7653528" y="2825496"/>
            <a:ext cx="1883664" cy="201168"/>
          </a:xfrm>
          <a:prstGeom prst="rect">
            <a:avLst/>
          </a:prstGeom>
          <a:noFill/>
          <a:ln/>
        </p:spPr>
        <p:txBody>
          <a:bodyPr wrap="square" lIns="0" tIns="0" rIns="0" bIns="0" rtlCol="0" anchor="ctr"/>
          <a:lstStyle/>
          <a:p>
            <a:pPr marL="0" indent="0" algn="ctr">
              <a:buNone/>
            </a:pPr>
            <a:r>
              <a:rPr lang="en-US" sz="1600" b="1" dirty="0">
                <a:solidFill>
                  <a:srgbClr val="13233F"/>
                </a:solidFill>
              </a:rPr>
              <a:t>semantic_models.yml</a:t>
            </a:r>
            <a:endParaRPr lang="en-US" sz="1600" dirty="0"/>
          </a:p>
        </p:txBody>
      </p:sp>
      <p:sp>
        <p:nvSpPr>
          <p:cNvPr id="29" name="Text 27"/>
          <p:cNvSpPr/>
          <p:nvPr/>
        </p:nvSpPr>
        <p:spPr>
          <a:xfrm>
            <a:off x="7653528" y="3081528"/>
            <a:ext cx="1883664" cy="804672"/>
          </a:xfrm>
          <a:prstGeom prst="rect">
            <a:avLst/>
          </a:prstGeom>
          <a:noFill/>
          <a:ln/>
        </p:spPr>
        <p:txBody>
          <a:bodyPr wrap="square" lIns="254" tIns="254" rIns="254" bIns="254" rtlCol="0" anchor="ctr"/>
          <a:lstStyle/>
          <a:p>
            <a:pPr marL="0" indent="0" algn="ctr">
              <a:buNone/>
            </a:pPr>
            <a:r>
              <a:rPr lang="en-US" sz="1150" dirty="0">
                <a:solidFill>
                  <a:srgbClr val="1E2A3A"/>
                </a:solidFill>
              </a:rPr>
              <a:t>entities · time dimensions</a:t>
            </a:r>
            <a:endParaRPr lang="en-US" sz="1150" dirty="0"/>
          </a:p>
          <a:p>
            <a:pPr marL="0" indent="0" algn="ctr">
              <a:buNone/>
            </a:pPr>
            <a:r>
              <a:rPr lang="en-US" sz="1150" dirty="0">
                <a:solidFill>
                  <a:srgbClr val="1E2A3A"/>
                </a:solidFill>
              </a:rPr>
              <a:t>KPI definitions · synonyms</a:t>
            </a:r>
            <a:endParaRPr lang="en-US" sz="1150" dirty="0"/>
          </a:p>
        </p:txBody>
      </p:sp>
      <p:sp>
        <p:nvSpPr>
          <p:cNvPr id="30" name="Shape 28"/>
          <p:cNvSpPr/>
          <p:nvPr/>
        </p:nvSpPr>
        <p:spPr>
          <a:xfrm>
            <a:off x="10561320" y="2697480"/>
            <a:ext cx="914400" cy="1280160"/>
          </a:xfrm>
          <a:prstGeom prst="roundRect">
            <a:avLst>
              <a:gd name="adj" fmla="val 6000"/>
            </a:avLst>
          </a:prstGeom>
          <a:solidFill>
            <a:srgbClr val="FFF7E6"/>
          </a:solidFill>
          <a:ln w="12700">
            <a:solidFill>
              <a:srgbClr val="F5A623"/>
            </a:solidFill>
            <a:prstDash val="solid"/>
          </a:ln>
        </p:spPr>
        <p:txBody>
          <a:bodyPr/>
          <a:lstStyle/>
          <a:p>
            <a:endParaRPr lang="en-US"/>
          </a:p>
        </p:txBody>
      </p:sp>
      <p:sp>
        <p:nvSpPr>
          <p:cNvPr id="31" name="Text 29"/>
          <p:cNvSpPr/>
          <p:nvPr/>
        </p:nvSpPr>
        <p:spPr>
          <a:xfrm>
            <a:off x="10671048" y="2825496"/>
            <a:ext cx="694944" cy="201168"/>
          </a:xfrm>
          <a:prstGeom prst="rect">
            <a:avLst/>
          </a:prstGeom>
          <a:noFill/>
          <a:ln/>
        </p:spPr>
        <p:txBody>
          <a:bodyPr wrap="square" lIns="0" tIns="0" rIns="0" bIns="0" rtlCol="0" anchor="ctr"/>
          <a:lstStyle/>
          <a:p>
            <a:pPr marL="0" indent="0" algn="ctr">
              <a:buNone/>
            </a:pPr>
            <a:r>
              <a:rPr lang="en-US" sz="1600" b="1" dirty="0">
                <a:solidFill>
                  <a:srgbClr val="13233F"/>
                </a:solidFill>
              </a:rPr>
              <a:t>Gemini</a:t>
            </a:r>
            <a:endParaRPr lang="en-US" sz="1600" dirty="0"/>
          </a:p>
        </p:txBody>
      </p:sp>
      <p:sp>
        <p:nvSpPr>
          <p:cNvPr id="32" name="Text 30"/>
          <p:cNvSpPr/>
          <p:nvPr/>
        </p:nvSpPr>
        <p:spPr>
          <a:xfrm>
            <a:off x="10671048" y="3081528"/>
            <a:ext cx="694944" cy="804672"/>
          </a:xfrm>
          <a:prstGeom prst="rect">
            <a:avLst/>
          </a:prstGeom>
          <a:noFill/>
          <a:ln/>
        </p:spPr>
        <p:txBody>
          <a:bodyPr wrap="square" lIns="254" tIns="254" rIns="254" bIns="254" rtlCol="0" anchor="ctr"/>
          <a:lstStyle/>
          <a:p>
            <a:pPr marL="0" indent="0" algn="ctr">
              <a:buNone/>
            </a:pPr>
            <a:r>
              <a:rPr lang="en-US" sz="1150" dirty="0">
                <a:solidFill>
                  <a:srgbClr val="1E2A3A"/>
                </a:solidFill>
              </a:rPr>
              <a:t>semantic</a:t>
            </a:r>
            <a:endParaRPr lang="en-US" sz="1150" dirty="0"/>
          </a:p>
          <a:p>
            <a:pPr marL="0" indent="0" algn="ctr">
              <a:buNone/>
            </a:pPr>
            <a:r>
              <a:rPr lang="en-US" sz="1150" dirty="0">
                <a:solidFill>
                  <a:srgbClr val="1E2A3A"/>
                </a:solidFill>
              </a:rPr>
              <a:t>request</a:t>
            </a:r>
            <a:endParaRPr lang="en-US" sz="1150" dirty="0"/>
          </a:p>
        </p:txBody>
      </p:sp>
      <p:sp>
        <p:nvSpPr>
          <p:cNvPr id="33" name="Text 31"/>
          <p:cNvSpPr/>
          <p:nvPr/>
        </p:nvSpPr>
        <p:spPr>
          <a:xfrm>
            <a:off x="868680" y="5349240"/>
            <a:ext cx="10789920" cy="502920"/>
          </a:xfrm>
          <a:prstGeom prst="rect">
            <a:avLst/>
          </a:prstGeom>
          <a:noFill/>
          <a:ln/>
        </p:spPr>
        <p:txBody>
          <a:bodyPr wrap="square" lIns="0" tIns="0" rIns="0" bIns="0" rtlCol="0" anchor="ctr"/>
          <a:lstStyle/>
          <a:p>
            <a:pPr marL="0" indent="0" algn="ctr">
              <a:buNone/>
            </a:pPr>
            <a:r>
              <a:rPr lang="en-US" sz="1700" dirty="0">
                <a:solidFill>
                  <a:srgbClr val="1E2A3A"/>
                </a:solidFill>
              </a:rPr>
              <a:t>Both lanes converge before the semantic layer. That keeps metric logic centralized and avoids duplicating business definitions.</a:t>
            </a:r>
            <a:endParaRPr lang="en-US" sz="1700" dirty="0"/>
          </a:p>
        </p:txBody>
      </p:sp>
      <p:sp>
        <p:nvSpPr>
          <p:cNvPr id="34" name="Text 32"/>
          <p:cNvSpPr/>
          <p:nvPr/>
        </p:nvSpPr>
        <p:spPr>
          <a:xfrm>
            <a:off x="566928" y="6437376"/>
            <a:ext cx="9875520" cy="164592"/>
          </a:xfrm>
          <a:prstGeom prst="rect">
            <a:avLst/>
          </a:prstGeom>
          <a:noFill/>
          <a:ln/>
        </p:spPr>
        <p:txBody>
          <a:bodyPr wrap="square" lIns="0" tIns="0" rIns="0" bIns="0" rtlCol="0" anchor="ctr"/>
          <a:lstStyle/>
          <a:p>
            <a:pPr marL="0" indent="0">
              <a:buNone/>
            </a:pPr>
            <a:r>
              <a:rPr lang="en-US" sz="950" dirty="0">
                <a:solidFill>
                  <a:srgbClr val="6C7A89"/>
                </a:solidFill>
              </a:rPr>
              <a:t>Revised approach: JSON + DuckDB or direct SQL source</a:t>
            </a:r>
            <a:endParaRPr lang="en-US" sz="950" dirty="0"/>
          </a:p>
        </p:txBody>
      </p:sp>
      <p:sp>
        <p:nvSpPr>
          <p:cNvPr id="35" name="Text 33"/>
          <p:cNvSpPr/>
          <p:nvPr/>
        </p:nvSpPr>
        <p:spPr>
          <a:xfrm>
            <a:off x="11155680" y="6409944"/>
            <a:ext cx="411480" cy="182880"/>
          </a:xfrm>
          <a:prstGeom prst="rect">
            <a:avLst/>
          </a:prstGeom>
          <a:noFill/>
          <a:ln/>
        </p:spPr>
        <p:txBody>
          <a:bodyPr wrap="square" lIns="0" tIns="0" rIns="0" bIns="0" rtlCol="0" anchor="ctr"/>
          <a:lstStyle/>
          <a:p>
            <a:pPr marL="0" indent="0" algn="r">
              <a:buNone/>
            </a:pPr>
            <a:r>
              <a:rPr lang="en-US" sz="1000" b="1" dirty="0">
                <a:solidFill>
                  <a:srgbClr val="6C7A89"/>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3233F"/>
          </a:solidFill>
          <a:ln w="12700">
            <a:solidFill>
              <a:srgbClr val="13233F">
                <a:alpha val="0"/>
              </a:srgbClr>
            </a:solidFill>
            <a:prstDash val="solid"/>
          </a:ln>
        </p:spPr>
        <p:txBody>
          <a:bodyPr/>
          <a:lstStyle/>
          <a:p>
            <a:endParaRPr lang="en-US"/>
          </a:p>
        </p:txBody>
      </p:sp>
      <p:sp>
        <p:nvSpPr>
          <p:cNvPr id="3" name="Text 1"/>
          <p:cNvSpPr/>
          <p:nvPr/>
        </p:nvSpPr>
        <p:spPr>
          <a:xfrm>
            <a:off x="566928" y="164592"/>
            <a:ext cx="8046720" cy="237744"/>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Path A: use DuckDB when the source is still file-native JSON</a:t>
            </a:r>
            <a:endParaRPr lang="en-US" sz="2600" dirty="0"/>
          </a:p>
        </p:txBody>
      </p:sp>
      <p:sp>
        <p:nvSpPr>
          <p:cNvPr id="4" name="Text 2"/>
          <p:cNvSpPr/>
          <p:nvPr/>
        </p:nvSpPr>
        <p:spPr>
          <a:xfrm>
            <a:off x="9281160" y="164592"/>
            <a:ext cx="2240280" cy="219456"/>
          </a:xfrm>
          <a:prstGeom prst="rect">
            <a:avLst/>
          </a:prstGeom>
          <a:noFill/>
          <a:ln/>
        </p:spPr>
        <p:txBody>
          <a:bodyPr wrap="square" lIns="0" tIns="0" rIns="0" bIns="0" rtlCol="0" anchor="ctr"/>
          <a:lstStyle/>
          <a:p>
            <a:pPr marL="0" indent="0" algn="r">
              <a:buNone/>
            </a:pPr>
            <a:r>
              <a:rPr lang="en-US" sz="1050" dirty="0">
                <a:solidFill>
                  <a:srgbClr val="D7E2FF"/>
                </a:solidFill>
                <a:latin typeface="Aptos" pitchFamily="34" charset="0"/>
                <a:ea typeface="Aptos" pitchFamily="34" charset="-122"/>
                <a:cs typeface="Aptos" pitchFamily="34" charset="-120"/>
              </a:rPr>
              <a:t>Semantic GenAI for BI · Phase 1</a:t>
            </a:r>
            <a:endParaRPr lang="en-US" sz="1050" dirty="0"/>
          </a:p>
        </p:txBody>
      </p:sp>
      <p:sp>
        <p:nvSpPr>
          <p:cNvPr id="5" name="Shape 3"/>
          <p:cNvSpPr/>
          <p:nvPr/>
        </p:nvSpPr>
        <p:spPr>
          <a:xfrm>
            <a:off x="566928" y="6382512"/>
            <a:ext cx="11064240" cy="0"/>
          </a:xfrm>
          <a:prstGeom prst="line">
            <a:avLst/>
          </a:prstGeom>
          <a:noFill/>
          <a:ln w="12700">
            <a:solidFill>
              <a:srgbClr val="D8E1EE"/>
            </a:solidFill>
            <a:prstDash val="solid"/>
          </a:ln>
        </p:spPr>
        <p:txBody>
          <a:bodyPr/>
          <a:lstStyle/>
          <a:p>
            <a:endParaRPr lang="en-US"/>
          </a:p>
        </p:txBody>
      </p:sp>
      <p:sp>
        <p:nvSpPr>
          <p:cNvPr id="6" name="Text 4"/>
          <p:cNvSpPr/>
          <p:nvPr/>
        </p:nvSpPr>
        <p:spPr>
          <a:xfrm>
            <a:off x="777240" y="896112"/>
            <a:ext cx="8046720" cy="292608"/>
          </a:xfrm>
          <a:prstGeom prst="rect">
            <a:avLst/>
          </a:prstGeom>
          <a:noFill/>
          <a:ln/>
        </p:spPr>
        <p:txBody>
          <a:bodyPr wrap="square" lIns="0" tIns="0" rIns="0" bIns="0" rtlCol="0" anchor="ctr"/>
          <a:lstStyle/>
          <a:p>
            <a:pPr marL="0" indent="0">
              <a:buNone/>
            </a:pPr>
            <a:r>
              <a:rPr lang="en-US" sz="1850" dirty="0">
                <a:solidFill>
                  <a:srgbClr val="1E2A3A"/>
                </a:solidFill>
              </a:rPr>
              <a:t>DuckDB is the bridge only when the raw data lives as files and needs a queryable interface before semantic modeling.</a:t>
            </a:r>
            <a:endParaRPr lang="en-US" sz="1850" dirty="0"/>
          </a:p>
        </p:txBody>
      </p:sp>
      <p:sp>
        <p:nvSpPr>
          <p:cNvPr id="7" name="Shape 5"/>
          <p:cNvSpPr/>
          <p:nvPr/>
        </p:nvSpPr>
        <p:spPr>
          <a:xfrm>
            <a:off x="868680" y="1965960"/>
            <a:ext cx="1600200" cy="1417320"/>
          </a:xfrm>
          <a:prstGeom prst="roundRect">
            <a:avLst>
              <a:gd name="adj" fmla="val 3871"/>
            </a:avLst>
          </a:prstGeom>
          <a:solidFill>
            <a:srgbClr val="EAF1FF"/>
          </a:solidFill>
          <a:ln w="12700">
            <a:solidFill>
              <a:srgbClr val="2F6BFF"/>
            </a:solidFill>
            <a:prstDash val="solid"/>
          </a:ln>
        </p:spPr>
        <p:txBody>
          <a:bodyPr/>
          <a:lstStyle/>
          <a:p>
            <a:endParaRPr lang="en-US"/>
          </a:p>
        </p:txBody>
      </p:sp>
      <p:sp>
        <p:nvSpPr>
          <p:cNvPr id="8" name="Text 6"/>
          <p:cNvSpPr/>
          <p:nvPr/>
        </p:nvSpPr>
        <p:spPr>
          <a:xfrm>
            <a:off x="978408" y="2093976"/>
            <a:ext cx="1380744" cy="201168"/>
          </a:xfrm>
          <a:prstGeom prst="rect">
            <a:avLst/>
          </a:prstGeom>
          <a:noFill/>
          <a:ln/>
        </p:spPr>
        <p:txBody>
          <a:bodyPr wrap="square" lIns="0" tIns="0" rIns="0" bIns="0" rtlCol="0" anchor="ctr"/>
          <a:lstStyle/>
          <a:p>
            <a:pPr marL="0" indent="0" algn="ctr">
              <a:buNone/>
            </a:pPr>
            <a:r>
              <a:rPr lang="en-US" sz="1600" b="1" dirty="0">
                <a:solidFill>
                  <a:srgbClr val="13233F"/>
                </a:solidFill>
              </a:rPr>
              <a:t>JSON export</a:t>
            </a:r>
            <a:endParaRPr lang="en-US" sz="1600" dirty="0"/>
          </a:p>
        </p:txBody>
      </p:sp>
      <p:sp>
        <p:nvSpPr>
          <p:cNvPr id="9" name="Text 7"/>
          <p:cNvSpPr/>
          <p:nvPr/>
        </p:nvSpPr>
        <p:spPr>
          <a:xfrm>
            <a:off x="978408" y="2350008"/>
            <a:ext cx="1380744" cy="941832"/>
          </a:xfrm>
          <a:prstGeom prst="rect">
            <a:avLst/>
          </a:prstGeom>
          <a:noFill/>
          <a:ln/>
        </p:spPr>
        <p:txBody>
          <a:bodyPr wrap="square" lIns="254" tIns="254" rIns="254" bIns="254" rtlCol="0" anchor="ctr"/>
          <a:lstStyle/>
          <a:p>
            <a:pPr marL="0" indent="0" algn="ctr">
              <a:buNone/>
            </a:pPr>
            <a:r>
              <a:rPr lang="en-US" sz="1150" dirty="0">
                <a:solidFill>
                  <a:srgbClr val="1E2A3A"/>
                </a:solidFill>
              </a:rPr>
              <a:t>app backend files</a:t>
            </a:r>
            <a:endParaRPr lang="en-US" sz="1150" dirty="0"/>
          </a:p>
          <a:p>
            <a:pPr marL="0" indent="0" algn="ctr">
              <a:buNone/>
            </a:pPr>
            <a:r>
              <a:rPr lang="en-US" sz="1150" dirty="0">
                <a:solidFill>
                  <a:srgbClr val="1E2A3A"/>
                </a:solidFill>
              </a:rPr>
              <a:t>mc_amt · st_cd · event_ts</a:t>
            </a:r>
            <a:endParaRPr lang="en-US" sz="1150" dirty="0"/>
          </a:p>
        </p:txBody>
      </p:sp>
      <p:sp>
        <p:nvSpPr>
          <p:cNvPr id="10" name="Shape 8"/>
          <p:cNvSpPr/>
          <p:nvPr/>
        </p:nvSpPr>
        <p:spPr>
          <a:xfrm>
            <a:off x="2816352" y="1965960"/>
            <a:ext cx="1600200" cy="1417320"/>
          </a:xfrm>
          <a:prstGeom prst="roundRect">
            <a:avLst>
              <a:gd name="adj" fmla="val 3871"/>
            </a:avLst>
          </a:prstGeom>
          <a:solidFill>
            <a:srgbClr val="FFF7E6"/>
          </a:solidFill>
          <a:ln w="12700">
            <a:solidFill>
              <a:srgbClr val="F5A623"/>
            </a:solidFill>
            <a:prstDash val="solid"/>
          </a:ln>
        </p:spPr>
        <p:txBody>
          <a:bodyPr/>
          <a:lstStyle/>
          <a:p>
            <a:endParaRPr lang="en-US"/>
          </a:p>
        </p:txBody>
      </p:sp>
      <p:sp>
        <p:nvSpPr>
          <p:cNvPr id="11" name="Text 9"/>
          <p:cNvSpPr/>
          <p:nvPr/>
        </p:nvSpPr>
        <p:spPr>
          <a:xfrm>
            <a:off x="2926080" y="2093976"/>
            <a:ext cx="1380744" cy="201168"/>
          </a:xfrm>
          <a:prstGeom prst="rect">
            <a:avLst/>
          </a:prstGeom>
          <a:noFill/>
          <a:ln/>
        </p:spPr>
        <p:txBody>
          <a:bodyPr wrap="square" lIns="0" tIns="0" rIns="0" bIns="0" rtlCol="0" anchor="ctr"/>
          <a:lstStyle/>
          <a:p>
            <a:pPr marL="0" indent="0" algn="ctr">
              <a:buNone/>
            </a:pPr>
            <a:r>
              <a:rPr lang="en-US" sz="1600" b="1" dirty="0">
                <a:solidFill>
                  <a:srgbClr val="13233F"/>
                </a:solidFill>
              </a:rPr>
              <a:t>DuckDB source</a:t>
            </a:r>
            <a:endParaRPr lang="en-US" sz="1600" dirty="0"/>
          </a:p>
        </p:txBody>
      </p:sp>
      <p:sp>
        <p:nvSpPr>
          <p:cNvPr id="12" name="Text 10"/>
          <p:cNvSpPr/>
          <p:nvPr/>
        </p:nvSpPr>
        <p:spPr>
          <a:xfrm>
            <a:off x="2926080" y="2350008"/>
            <a:ext cx="1380744" cy="941832"/>
          </a:xfrm>
          <a:prstGeom prst="rect">
            <a:avLst/>
          </a:prstGeom>
          <a:noFill/>
          <a:ln/>
        </p:spPr>
        <p:txBody>
          <a:bodyPr wrap="square" lIns="254" tIns="254" rIns="254" bIns="254" rtlCol="0" anchor="ctr"/>
          <a:lstStyle/>
          <a:p>
            <a:pPr marL="0" indent="0" algn="ctr">
              <a:buNone/>
            </a:pPr>
            <a:r>
              <a:rPr lang="en-US" sz="1150" dirty="0">
                <a:solidFill>
                  <a:srgbClr val="1E2A3A"/>
                </a:solidFill>
              </a:rPr>
              <a:t>mount files as tables</a:t>
            </a:r>
            <a:endParaRPr lang="en-US" sz="1150" dirty="0"/>
          </a:p>
          <a:p>
            <a:pPr marL="0" indent="0" algn="ctr">
              <a:buNone/>
            </a:pPr>
            <a:r>
              <a:rPr lang="en-US" sz="1150" dirty="0">
                <a:solidFill>
                  <a:srgbClr val="1E2A3A"/>
                </a:solidFill>
              </a:rPr>
              <a:t>scan JSON fast</a:t>
            </a:r>
            <a:endParaRPr lang="en-US" sz="1150" dirty="0"/>
          </a:p>
        </p:txBody>
      </p:sp>
      <p:sp>
        <p:nvSpPr>
          <p:cNvPr id="13" name="Shape 11"/>
          <p:cNvSpPr/>
          <p:nvPr/>
        </p:nvSpPr>
        <p:spPr>
          <a:xfrm>
            <a:off x="4764024" y="1965960"/>
            <a:ext cx="1600200" cy="1417320"/>
          </a:xfrm>
          <a:prstGeom prst="roundRect">
            <a:avLst>
              <a:gd name="adj" fmla="val 3871"/>
            </a:avLst>
          </a:prstGeom>
          <a:solidFill>
            <a:srgbClr val="FFFFFF"/>
          </a:solidFill>
          <a:ln w="12700">
            <a:solidFill>
              <a:srgbClr val="2F6BFF"/>
            </a:solidFill>
            <a:prstDash val="solid"/>
          </a:ln>
        </p:spPr>
        <p:txBody>
          <a:bodyPr/>
          <a:lstStyle/>
          <a:p>
            <a:endParaRPr lang="en-US"/>
          </a:p>
        </p:txBody>
      </p:sp>
      <p:sp>
        <p:nvSpPr>
          <p:cNvPr id="14" name="Text 12"/>
          <p:cNvSpPr/>
          <p:nvPr/>
        </p:nvSpPr>
        <p:spPr>
          <a:xfrm>
            <a:off x="4873752" y="2093976"/>
            <a:ext cx="1380744" cy="201168"/>
          </a:xfrm>
          <a:prstGeom prst="rect">
            <a:avLst/>
          </a:prstGeom>
          <a:noFill/>
          <a:ln/>
        </p:spPr>
        <p:txBody>
          <a:bodyPr wrap="square" lIns="0" tIns="0" rIns="0" bIns="0" rtlCol="0" anchor="ctr"/>
          <a:lstStyle/>
          <a:p>
            <a:pPr marL="0" indent="0" algn="ctr">
              <a:buNone/>
            </a:pPr>
            <a:r>
              <a:rPr lang="en-US" sz="1600" b="1" dirty="0">
                <a:solidFill>
                  <a:srgbClr val="13233F"/>
                </a:solidFill>
              </a:rPr>
              <a:t>dbt staging</a:t>
            </a:r>
            <a:endParaRPr lang="en-US" sz="1600" dirty="0"/>
          </a:p>
        </p:txBody>
      </p:sp>
      <p:sp>
        <p:nvSpPr>
          <p:cNvPr id="15" name="Text 13"/>
          <p:cNvSpPr/>
          <p:nvPr/>
        </p:nvSpPr>
        <p:spPr>
          <a:xfrm>
            <a:off x="4873752" y="2350008"/>
            <a:ext cx="1380744" cy="941832"/>
          </a:xfrm>
          <a:prstGeom prst="rect">
            <a:avLst/>
          </a:prstGeom>
          <a:noFill/>
          <a:ln/>
        </p:spPr>
        <p:txBody>
          <a:bodyPr wrap="square" lIns="254" tIns="254" rIns="254" bIns="254" rtlCol="0" anchor="ctr"/>
          <a:lstStyle/>
          <a:p>
            <a:pPr marL="0" indent="0" algn="ctr">
              <a:buNone/>
            </a:pPr>
            <a:r>
              <a:rPr lang="en-US" sz="1150" dirty="0">
                <a:solidFill>
                  <a:srgbClr val="1E2A3A"/>
                </a:solidFill>
              </a:rPr>
              <a:t>cast + alias + map</a:t>
            </a:r>
            <a:endParaRPr lang="en-US" sz="1150" dirty="0"/>
          </a:p>
          <a:p>
            <a:pPr marL="0" indent="0" algn="ctr">
              <a:buNone/>
            </a:pPr>
            <a:r>
              <a:rPr lang="en-US" sz="1150" dirty="0">
                <a:solidFill>
                  <a:srgbClr val="1E2A3A"/>
                </a:solidFill>
              </a:rPr>
              <a:t>create net_val</a:t>
            </a:r>
            <a:endParaRPr lang="en-US" sz="1150" dirty="0"/>
          </a:p>
        </p:txBody>
      </p:sp>
      <p:sp>
        <p:nvSpPr>
          <p:cNvPr id="16" name="Shape 14"/>
          <p:cNvSpPr/>
          <p:nvPr/>
        </p:nvSpPr>
        <p:spPr>
          <a:xfrm>
            <a:off x="6711696" y="1965960"/>
            <a:ext cx="1600200" cy="1417320"/>
          </a:xfrm>
          <a:prstGeom prst="roundRect">
            <a:avLst>
              <a:gd name="adj" fmla="val 3871"/>
            </a:avLst>
          </a:prstGeom>
          <a:solidFill>
            <a:srgbClr val="FFFFFF"/>
          </a:solidFill>
          <a:ln w="12700">
            <a:solidFill>
              <a:srgbClr val="2F6BFF"/>
            </a:solidFill>
            <a:prstDash val="solid"/>
          </a:ln>
        </p:spPr>
        <p:txBody>
          <a:bodyPr/>
          <a:lstStyle/>
          <a:p>
            <a:endParaRPr lang="en-US"/>
          </a:p>
        </p:txBody>
      </p:sp>
      <p:sp>
        <p:nvSpPr>
          <p:cNvPr id="17" name="Text 15"/>
          <p:cNvSpPr/>
          <p:nvPr/>
        </p:nvSpPr>
        <p:spPr>
          <a:xfrm>
            <a:off x="6821424" y="2093976"/>
            <a:ext cx="1380744" cy="201168"/>
          </a:xfrm>
          <a:prstGeom prst="rect">
            <a:avLst/>
          </a:prstGeom>
          <a:noFill/>
          <a:ln/>
        </p:spPr>
        <p:txBody>
          <a:bodyPr wrap="square" lIns="0" tIns="0" rIns="0" bIns="0" rtlCol="0" anchor="ctr"/>
          <a:lstStyle/>
          <a:p>
            <a:pPr marL="0" indent="0" algn="ctr">
              <a:buNone/>
            </a:pPr>
            <a:r>
              <a:rPr lang="en-US" sz="1600" b="1" dirty="0">
                <a:solidFill>
                  <a:srgbClr val="13233F"/>
                </a:solidFill>
              </a:rPr>
              <a:t>semantic model</a:t>
            </a:r>
            <a:endParaRPr lang="en-US" sz="1600" dirty="0"/>
          </a:p>
        </p:txBody>
      </p:sp>
      <p:sp>
        <p:nvSpPr>
          <p:cNvPr id="18" name="Text 16"/>
          <p:cNvSpPr/>
          <p:nvPr/>
        </p:nvSpPr>
        <p:spPr>
          <a:xfrm>
            <a:off x="6821424" y="2350008"/>
            <a:ext cx="1380744" cy="941832"/>
          </a:xfrm>
          <a:prstGeom prst="rect">
            <a:avLst/>
          </a:prstGeom>
          <a:noFill/>
          <a:ln/>
        </p:spPr>
        <p:txBody>
          <a:bodyPr wrap="square" lIns="254" tIns="254" rIns="254" bIns="254" rtlCol="0" anchor="ctr"/>
          <a:lstStyle/>
          <a:p>
            <a:pPr marL="0" indent="0" algn="ctr">
              <a:buNone/>
            </a:pPr>
            <a:r>
              <a:rPr lang="en-US" sz="1150" dirty="0">
                <a:solidFill>
                  <a:srgbClr val="1E2A3A"/>
                </a:solidFill>
              </a:rPr>
              <a:t>define metrics and</a:t>
            </a:r>
            <a:endParaRPr lang="en-US" sz="1150" dirty="0"/>
          </a:p>
          <a:p>
            <a:pPr marL="0" indent="0" algn="ctr">
              <a:buNone/>
            </a:pPr>
            <a:r>
              <a:rPr lang="en-US" sz="1150" dirty="0">
                <a:solidFill>
                  <a:srgbClr val="1E2A3A"/>
                </a:solidFill>
              </a:rPr>
              <a:t>time dimensions</a:t>
            </a:r>
            <a:endParaRPr lang="en-US" sz="1150" dirty="0"/>
          </a:p>
        </p:txBody>
      </p:sp>
      <p:sp>
        <p:nvSpPr>
          <p:cNvPr id="19" name="Shape 17"/>
          <p:cNvSpPr/>
          <p:nvPr/>
        </p:nvSpPr>
        <p:spPr>
          <a:xfrm>
            <a:off x="8659368" y="1965960"/>
            <a:ext cx="1600200" cy="1417320"/>
          </a:xfrm>
          <a:prstGeom prst="roundRect">
            <a:avLst>
              <a:gd name="adj" fmla="val 3871"/>
            </a:avLst>
          </a:prstGeom>
          <a:solidFill>
            <a:srgbClr val="FFFFFF"/>
          </a:solidFill>
          <a:ln w="12700">
            <a:solidFill>
              <a:srgbClr val="2F6BFF"/>
            </a:solidFill>
            <a:prstDash val="solid"/>
          </a:ln>
        </p:spPr>
        <p:txBody>
          <a:bodyPr/>
          <a:lstStyle/>
          <a:p>
            <a:endParaRPr lang="en-US"/>
          </a:p>
        </p:txBody>
      </p:sp>
      <p:sp>
        <p:nvSpPr>
          <p:cNvPr id="20" name="Text 18"/>
          <p:cNvSpPr/>
          <p:nvPr/>
        </p:nvSpPr>
        <p:spPr>
          <a:xfrm>
            <a:off x="8769096" y="2093976"/>
            <a:ext cx="1380744" cy="201168"/>
          </a:xfrm>
          <a:prstGeom prst="rect">
            <a:avLst/>
          </a:prstGeom>
          <a:noFill/>
          <a:ln/>
        </p:spPr>
        <p:txBody>
          <a:bodyPr wrap="square" lIns="0" tIns="0" rIns="0" bIns="0" rtlCol="0" anchor="ctr"/>
          <a:lstStyle/>
          <a:p>
            <a:pPr marL="0" indent="0" algn="ctr">
              <a:buNone/>
            </a:pPr>
            <a:r>
              <a:rPr lang="en-US" sz="1600" b="1" dirty="0">
                <a:solidFill>
                  <a:srgbClr val="13233F"/>
                </a:solidFill>
              </a:rPr>
              <a:t>Gemini answer</a:t>
            </a:r>
            <a:endParaRPr lang="en-US" sz="1600" dirty="0"/>
          </a:p>
        </p:txBody>
      </p:sp>
      <p:sp>
        <p:nvSpPr>
          <p:cNvPr id="21" name="Text 19"/>
          <p:cNvSpPr/>
          <p:nvPr/>
        </p:nvSpPr>
        <p:spPr>
          <a:xfrm>
            <a:off x="8769096" y="2350008"/>
            <a:ext cx="1380744" cy="941832"/>
          </a:xfrm>
          <a:prstGeom prst="rect">
            <a:avLst/>
          </a:prstGeom>
          <a:noFill/>
          <a:ln/>
        </p:spPr>
        <p:txBody>
          <a:bodyPr wrap="square" lIns="254" tIns="254" rIns="254" bIns="254" rtlCol="0" anchor="ctr"/>
          <a:lstStyle/>
          <a:p>
            <a:pPr marL="0" indent="0" algn="ctr">
              <a:buNone/>
            </a:pPr>
            <a:r>
              <a:rPr lang="en-US" sz="1150" dirty="0">
                <a:solidFill>
                  <a:srgbClr val="1E2A3A"/>
                </a:solidFill>
              </a:rPr>
              <a:t>request metric, not</a:t>
            </a:r>
            <a:endParaRPr lang="en-US" sz="1150" dirty="0"/>
          </a:p>
          <a:p>
            <a:pPr marL="0" indent="0" algn="ctr">
              <a:buNone/>
            </a:pPr>
            <a:r>
              <a:rPr lang="en-US" sz="1150" dirty="0">
                <a:solidFill>
                  <a:srgbClr val="1E2A3A"/>
                </a:solidFill>
              </a:rPr>
              <a:t>raw SQL guess</a:t>
            </a:r>
            <a:endParaRPr lang="en-US" sz="1150" dirty="0"/>
          </a:p>
        </p:txBody>
      </p:sp>
      <p:sp>
        <p:nvSpPr>
          <p:cNvPr id="22" name="Shape 20"/>
          <p:cNvSpPr/>
          <p:nvPr/>
        </p:nvSpPr>
        <p:spPr>
          <a:xfrm>
            <a:off x="2468880" y="2679192"/>
            <a:ext cx="301752" cy="0"/>
          </a:xfrm>
          <a:prstGeom prst="line">
            <a:avLst/>
          </a:prstGeom>
          <a:noFill/>
          <a:ln w="12700">
            <a:solidFill>
              <a:srgbClr val="F5A623"/>
            </a:solidFill>
            <a:prstDash val="solid"/>
            <a:headEnd type="none"/>
            <a:tailEnd type="triangle"/>
          </a:ln>
        </p:spPr>
        <p:txBody>
          <a:bodyPr/>
          <a:lstStyle/>
          <a:p>
            <a:endParaRPr lang="en-US"/>
          </a:p>
        </p:txBody>
      </p:sp>
      <p:sp>
        <p:nvSpPr>
          <p:cNvPr id="23" name="Shape 21"/>
          <p:cNvSpPr/>
          <p:nvPr/>
        </p:nvSpPr>
        <p:spPr>
          <a:xfrm>
            <a:off x="4416552" y="2679192"/>
            <a:ext cx="301752" cy="0"/>
          </a:xfrm>
          <a:prstGeom prst="line">
            <a:avLst/>
          </a:prstGeom>
          <a:noFill/>
          <a:ln w="12700">
            <a:solidFill>
              <a:srgbClr val="2F6BFF"/>
            </a:solidFill>
            <a:prstDash val="solid"/>
            <a:headEnd type="none"/>
            <a:tailEnd type="triangle"/>
          </a:ln>
        </p:spPr>
        <p:txBody>
          <a:bodyPr/>
          <a:lstStyle/>
          <a:p>
            <a:endParaRPr lang="en-US"/>
          </a:p>
        </p:txBody>
      </p:sp>
      <p:sp>
        <p:nvSpPr>
          <p:cNvPr id="24" name="Shape 22"/>
          <p:cNvSpPr/>
          <p:nvPr/>
        </p:nvSpPr>
        <p:spPr>
          <a:xfrm>
            <a:off x="6364224" y="2679192"/>
            <a:ext cx="301752" cy="0"/>
          </a:xfrm>
          <a:prstGeom prst="line">
            <a:avLst/>
          </a:prstGeom>
          <a:noFill/>
          <a:ln w="12700">
            <a:solidFill>
              <a:srgbClr val="2F6BFF"/>
            </a:solidFill>
            <a:prstDash val="solid"/>
            <a:headEnd type="none"/>
            <a:tailEnd type="triangle"/>
          </a:ln>
        </p:spPr>
        <p:txBody>
          <a:bodyPr/>
          <a:lstStyle/>
          <a:p>
            <a:endParaRPr lang="en-US"/>
          </a:p>
        </p:txBody>
      </p:sp>
      <p:sp>
        <p:nvSpPr>
          <p:cNvPr id="25" name="Shape 23"/>
          <p:cNvSpPr/>
          <p:nvPr/>
        </p:nvSpPr>
        <p:spPr>
          <a:xfrm>
            <a:off x="8311896" y="2679192"/>
            <a:ext cx="301752" cy="0"/>
          </a:xfrm>
          <a:prstGeom prst="line">
            <a:avLst/>
          </a:prstGeom>
          <a:noFill/>
          <a:ln w="12700">
            <a:solidFill>
              <a:srgbClr val="2F6BFF"/>
            </a:solidFill>
            <a:prstDash val="solid"/>
            <a:headEnd type="none"/>
            <a:tailEnd type="triangle"/>
          </a:ln>
        </p:spPr>
        <p:txBody>
          <a:bodyPr/>
          <a:lstStyle/>
          <a:p>
            <a:endParaRPr lang="en-US"/>
          </a:p>
        </p:txBody>
      </p:sp>
      <p:sp>
        <p:nvSpPr>
          <p:cNvPr id="26" name="Shape 24"/>
          <p:cNvSpPr/>
          <p:nvPr/>
        </p:nvSpPr>
        <p:spPr>
          <a:xfrm>
            <a:off x="868680" y="4160520"/>
            <a:ext cx="5303520" cy="1417320"/>
          </a:xfrm>
          <a:prstGeom prst="roundRect">
            <a:avLst>
              <a:gd name="adj" fmla="val 3871"/>
            </a:avLst>
          </a:prstGeom>
          <a:solidFill>
            <a:srgbClr val="FFFDF8"/>
          </a:solidFill>
          <a:ln w="12700">
            <a:solidFill>
              <a:srgbClr val="D8E1EE"/>
            </a:solidFill>
            <a:prstDash val="solid"/>
          </a:ln>
        </p:spPr>
        <p:txBody>
          <a:bodyPr/>
          <a:lstStyle/>
          <a:p>
            <a:endParaRPr lang="en-US"/>
          </a:p>
        </p:txBody>
      </p:sp>
      <p:sp>
        <p:nvSpPr>
          <p:cNvPr id="27" name="Shape 25"/>
          <p:cNvSpPr/>
          <p:nvPr/>
        </p:nvSpPr>
        <p:spPr>
          <a:xfrm>
            <a:off x="868680" y="4160520"/>
            <a:ext cx="109728" cy="1417320"/>
          </a:xfrm>
          <a:prstGeom prst="rect">
            <a:avLst/>
          </a:prstGeom>
          <a:solidFill>
            <a:srgbClr val="F5A623"/>
          </a:solidFill>
          <a:ln w="12700">
            <a:solidFill>
              <a:srgbClr val="F5A623">
                <a:alpha val="0"/>
              </a:srgbClr>
            </a:solidFill>
            <a:prstDash val="solid"/>
          </a:ln>
        </p:spPr>
        <p:txBody>
          <a:bodyPr/>
          <a:lstStyle/>
          <a:p>
            <a:endParaRPr lang="en-US"/>
          </a:p>
        </p:txBody>
      </p:sp>
      <p:sp>
        <p:nvSpPr>
          <p:cNvPr id="28" name="Text 26"/>
          <p:cNvSpPr/>
          <p:nvPr/>
        </p:nvSpPr>
        <p:spPr>
          <a:xfrm>
            <a:off x="1069848" y="4325112"/>
            <a:ext cx="4983480" cy="219456"/>
          </a:xfrm>
          <a:prstGeom prst="rect">
            <a:avLst/>
          </a:prstGeom>
          <a:noFill/>
          <a:ln/>
        </p:spPr>
        <p:txBody>
          <a:bodyPr wrap="square" lIns="0" tIns="0" rIns="0" bIns="0" rtlCol="0" anchor="ctr"/>
          <a:lstStyle/>
          <a:p>
            <a:pPr marL="0" indent="0">
              <a:buNone/>
            </a:pPr>
            <a:r>
              <a:rPr lang="en-US" sz="1900" b="1" dirty="0">
                <a:solidFill>
                  <a:srgbClr val="13233F"/>
                </a:solidFill>
              </a:rPr>
              <a:t>Why this path exists</a:t>
            </a:r>
            <a:endParaRPr lang="en-US" sz="1900" dirty="0"/>
          </a:p>
        </p:txBody>
      </p:sp>
      <p:sp>
        <p:nvSpPr>
          <p:cNvPr id="29" name="Text 27"/>
          <p:cNvSpPr/>
          <p:nvPr/>
        </p:nvSpPr>
        <p:spPr>
          <a:xfrm>
            <a:off x="1069848" y="4645152"/>
            <a:ext cx="4956048" cy="850392"/>
          </a:xfrm>
          <a:prstGeom prst="rect">
            <a:avLst/>
          </a:prstGeom>
          <a:noFill/>
          <a:ln/>
        </p:spPr>
        <p:txBody>
          <a:bodyPr wrap="square" lIns="0" tIns="0" rIns="0" bIns="0" rtlCol="0" anchor="t"/>
          <a:lstStyle/>
          <a:p>
            <a:pPr marL="0" indent="0">
              <a:buNone/>
            </a:pPr>
            <a:r>
              <a:rPr lang="en-US" sz="1450" dirty="0">
                <a:solidFill>
                  <a:srgbClr val="1E2A3A"/>
                </a:solidFill>
              </a:rPr>
              <a:t>• Best for early POCs where upstream engineering has not yet published a curated relational source.</a:t>
            </a:r>
            <a:endParaRPr lang="en-US" sz="1450" dirty="0"/>
          </a:p>
          <a:p>
            <a:pPr marL="0" indent="0">
              <a:buNone/>
            </a:pPr>
            <a:r>
              <a:rPr lang="en-US" sz="1450" dirty="0">
                <a:solidFill>
                  <a:srgbClr val="1E2A3A"/>
                </a:solidFill>
              </a:rPr>
              <a:t>• Lets the team work directly on raw extracts without waiting for a warehouse ingestion program.</a:t>
            </a:r>
            <a:endParaRPr lang="en-US" sz="1450" dirty="0"/>
          </a:p>
        </p:txBody>
      </p:sp>
      <p:sp>
        <p:nvSpPr>
          <p:cNvPr id="30" name="Shape 28"/>
          <p:cNvSpPr/>
          <p:nvPr/>
        </p:nvSpPr>
        <p:spPr>
          <a:xfrm>
            <a:off x="6400800" y="4160520"/>
            <a:ext cx="4937760" cy="1417320"/>
          </a:xfrm>
          <a:prstGeom prst="roundRect">
            <a:avLst>
              <a:gd name="adj" fmla="val 3871"/>
            </a:avLst>
          </a:prstGeom>
          <a:solidFill>
            <a:srgbClr val="FBFDFF"/>
          </a:solidFill>
          <a:ln w="12700">
            <a:solidFill>
              <a:srgbClr val="D8E1EE"/>
            </a:solidFill>
            <a:prstDash val="solid"/>
          </a:ln>
        </p:spPr>
        <p:txBody>
          <a:bodyPr/>
          <a:lstStyle/>
          <a:p>
            <a:endParaRPr lang="en-US"/>
          </a:p>
        </p:txBody>
      </p:sp>
      <p:sp>
        <p:nvSpPr>
          <p:cNvPr id="31" name="Shape 29"/>
          <p:cNvSpPr/>
          <p:nvPr/>
        </p:nvSpPr>
        <p:spPr>
          <a:xfrm>
            <a:off x="6400800" y="4160520"/>
            <a:ext cx="109728" cy="1417320"/>
          </a:xfrm>
          <a:prstGeom prst="rect">
            <a:avLst/>
          </a:prstGeom>
          <a:solidFill>
            <a:srgbClr val="2F6BFF"/>
          </a:solidFill>
          <a:ln w="12700">
            <a:solidFill>
              <a:srgbClr val="2F6BFF">
                <a:alpha val="0"/>
              </a:srgbClr>
            </a:solidFill>
            <a:prstDash val="solid"/>
          </a:ln>
        </p:spPr>
        <p:txBody>
          <a:bodyPr/>
          <a:lstStyle/>
          <a:p>
            <a:endParaRPr lang="en-US"/>
          </a:p>
        </p:txBody>
      </p:sp>
      <p:sp>
        <p:nvSpPr>
          <p:cNvPr id="32" name="Text 30"/>
          <p:cNvSpPr/>
          <p:nvPr/>
        </p:nvSpPr>
        <p:spPr>
          <a:xfrm>
            <a:off x="6601968" y="4325112"/>
            <a:ext cx="4617720" cy="219456"/>
          </a:xfrm>
          <a:prstGeom prst="rect">
            <a:avLst/>
          </a:prstGeom>
          <a:noFill/>
          <a:ln/>
        </p:spPr>
        <p:txBody>
          <a:bodyPr wrap="square" lIns="0" tIns="0" rIns="0" bIns="0" rtlCol="0" anchor="ctr"/>
          <a:lstStyle/>
          <a:p>
            <a:pPr marL="0" indent="0">
              <a:buNone/>
            </a:pPr>
            <a:r>
              <a:rPr lang="en-US" sz="1900" b="1" dirty="0">
                <a:solidFill>
                  <a:srgbClr val="13233F"/>
                </a:solidFill>
              </a:rPr>
              <a:t>Main trade-off</a:t>
            </a:r>
            <a:endParaRPr lang="en-US" sz="1900" dirty="0"/>
          </a:p>
        </p:txBody>
      </p:sp>
      <p:sp>
        <p:nvSpPr>
          <p:cNvPr id="33" name="Text 31"/>
          <p:cNvSpPr/>
          <p:nvPr/>
        </p:nvSpPr>
        <p:spPr>
          <a:xfrm>
            <a:off x="6601968" y="4645152"/>
            <a:ext cx="4590288" cy="850392"/>
          </a:xfrm>
          <a:prstGeom prst="rect">
            <a:avLst/>
          </a:prstGeom>
          <a:noFill/>
          <a:ln/>
        </p:spPr>
        <p:txBody>
          <a:bodyPr wrap="square" lIns="0" tIns="0" rIns="0" bIns="0" rtlCol="0" anchor="t"/>
          <a:lstStyle/>
          <a:p>
            <a:pPr marL="0" indent="0">
              <a:buNone/>
            </a:pPr>
            <a:r>
              <a:rPr lang="en-US" sz="1450" dirty="0">
                <a:solidFill>
                  <a:srgbClr val="1E2A3A"/>
                </a:solidFill>
              </a:rPr>
              <a:t>• Adds an extra runtime component.</a:t>
            </a:r>
            <a:endParaRPr lang="en-US" sz="1450" dirty="0"/>
          </a:p>
          <a:p>
            <a:pPr marL="0" indent="0">
              <a:buNone/>
            </a:pPr>
            <a:r>
              <a:rPr lang="en-US" sz="1450" dirty="0">
                <a:solidFill>
                  <a:srgbClr val="1E2A3A"/>
                </a:solidFill>
              </a:rPr>
              <a:t>• Still requires dbt to own field standardization so the LLM never sees ambiguous raw codes.</a:t>
            </a:r>
            <a:endParaRPr lang="en-US" sz="1450" dirty="0"/>
          </a:p>
        </p:txBody>
      </p:sp>
      <p:sp>
        <p:nvSpPr>
          <p:cNvPr id="34" name="Text 32"/>
          <p:cNvSpPr/>
          <p:nvPr/>
        </p:nvSpPr>
        <p:spPr>
          <a:xfrm>
            <a:off x="566928" y="6437376"/>
            <a:ext cx="9875520" cy="164592"/>
          </a:xfrm>
          <a:prstGeom prst="rect">
            <a:avLst/>
          </a:prstGeom>
          <a:noFill/>
          <a:ln/>
        </p:spPr>
        <p:txBody>
          <a:bodyPr wrap="square" lIns="0" tIns="0" rIns="0" bIns="0" rtlCol="0" anchor="ctr"/>
          <a:lstStyle/>
          <a:p>
            <a:pPr marL="0" indent="0">
              <a:buNone/>
            </a:pPr>
            <a:r>
              <a:rPr lang="en-US" sz="950" dirty="0">
                <a:solidFill>
                  <a:srgbClr val="6C7A89"/>
                </a:solidFill>
              </a:rPr>
              <a:t>Revised approach: JSON + DuckDB or direct SQL source</a:t>
            </a:r>
            <a:endParaRPr lang="en-US" sz="950" dirty="0"/>
          </a:p>
        </p:txBody>
      </p:sp>
      <p:sp>
        <p:nvSpPr>
          <p:cNvPr id="35" name="Text 33"/>
          <p:cNvSpPr/>
          <p:nvPr/>
        </p:nvSpPr>
        <p:spPr>
          <a:xfrm>
            <a:off x="11155680" y="6409944"/>
            <a:ext cx="411480" cy="182880"/>
          </a:xfrm>
          <a:prstGeom prst="rect">
            <a:avLst/>
          </a:prstGeom>
          <a:noFill/>
          <a:ln/>
        </p:spPr>
        <p:txBody>
          <a:bodyPr wrap="square" lIns="0" tIns="0" rIns="0" bIns="0" rtlCol="0" anchor="ctr"/>
          <a:lstStyle/>
          <a:p>
            <a:pPr marL="0" indent="0" algn="r">
              <a:buNone/>
            </a:pPr>
            <a:r>
              <a:rPr lang="en-US" sz="1000" b="1" dirty="0">
                <a:solidFill>
                  <a:srgbClr val="6C7A89"/>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3233F"/>
          </a:solidFill>
          <a:ln w="12700">
            <a:solidFill>
              <a:srgbClr val="13233F">
                <a:alpha val="0"/>
              </a:srgbClr>
            </a:solidFill>
            <a:prstDash val="solid"/>
          </a:ln>
        </p:spPr>
        <p:txBody>
          <a:bodyPr/>
          <a:lstStyle/>
          <a:p>
            <a:endParaRPr lang="en-US"/>
          </a:p>
        </p:txBody>
      </p:sp>
      <p:sp>
        <p:nvSpPr>
          <p:cNvPr id="3" name="Text 1"/>
          <p:cNvSpPr/>
          <p:nvPr/>
        </p:nvSpPr>
        <p:spPr>
          <a:xfrm>
            <a:off x="566928" y="164592"/>
            <a:ext cx="8046720" cy="237744"/>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Path B: skip DuckDB when a consolidated SQL source already exists</a:t>
            </a:r>
            <a:endParaRPr lang="en-US" sz="2600" dirty="0"/>
          </a:p>
        </p:txBody>
      </p:sp>
      <p:sp>
        <p:nvSpPr>
          <p:cNvPr id="4" name="Text 2"/>
          <p:cNvSpPr/>
          <p:nvPr/>
        </p:nvSpPr>
        <p:spPr>
          <a:xfrm>
            <a:off x="9281160" y="164592"/>
            <a:ext cx="2240280" cy="219456"/>
          </a:xfrm>
          <a:prstGeom prst="rect">
            <a:avLst/>
          </a:prstGeom>
          <a:noFill/>
          <a:ln/>
        </p:spPr>
        <p:txBody>
          <a:bodyPr wrap="square" lIns="0" tIns="0" rIns="0" bIns="0" rtlCol="0" anchor="ctr"/>
          <a:lstStyle/>
          <a:p>
            <a:pPr marL="0" indent="0" algn="r">
              <a:buNone/>
            </a:pPr>
            <a:r>
              <a:rPr lang="en-US" sz="1050" dirty="0">
                <a:solidFill>
                  <a:srgbClr val="D7E2FF"/>
                </a:solidFill>
                <a:latin typeface="Aptos" pitchFamily="34" charset="0"/>
                <a:ea typeface="Aptos" pitchFamily="34" charset="-122"/>
                <a:cs typeface="Aptos" pitchFamily="34" charset="-120"/>
              </a:rPr>
              <a:t>Semantic GenAI for BI · Phase 1</a:t>
            </a:r>
            <a:endParaRPr lang="en-US" sz="1050" dirty="0"/>
          </a:p>
        </p:txBody>
      </p:sp>
      <p:sp>
        <p:nvSpPr>
          <p:cNvPr id="5" name="Shape 3"/>
          <p:cNvSpPr/>
          <p:nvPr/>
        </p:nvSpPr>
        <p:spPr>
          <a:xfrm>
            <a:off x="566928" y="6382512"/>
            <a:ext cx="11064240" cy="0"/>
          </a:xfrm>
          <a:prstGeom prst="line">
            <a:avLst/>
          </a:prstGeom>
          <a:noFill/>
          <a:ln w="12700">
            <a:solidFill>
              <a:srgbClr val="D8E1EE"/>
            </a:solidFill>
            <a:prstDash val="solid"/>
          </a:ln>
        </p:spPr>
        <p:txBody>
          <a:bodyPr/>
          <a:lstStyle/>
          <a:p>
            <a:endParaRPr lang="en-US"/>
          </a:p>
        </p:txBody>
      </p:sp>
      <p:sp>
        <p:nvSpPr>
          <p:cNvPr id="6" name="Text 4"/>
          <p:cNvSpPr/>
          <p:nvPr/>
        </p:nvSpPr>
        <p:spPr>
          <a:xfrm>
            <a:off x="777240" y="896112"/>
            <a:ext cx="7680960" cy="292608"/>
          </a:xfrm>
          <a:prstGeom prst="rect">
            <a:avLst/>
          </a:prstGeom>
          <a:noFill/>
          <a:ln/>
        </p:spPr>
        <p:txBody>
          <a:bodyPr wrap="square" lIns="0" tIns="0" rIns="0" bIns="0" rtlCol="0" anchor="ctr"/>
          <a:lstStyle/>
          <a:p>
            <a:pPr marL="0" indent="0">
              <a:buNone/>
            </a:pPr>
            <a:r>
              <a:rPr lang="en-US" sz="1850" dirty="0">
                <a:solidFill>
                  <a:srgbClr val="1E2A3A"/>
                </a:solidFill>
              </a:rPr>
              <a:t>If engineering can expose a combined query as a database view or curated table, dbt can ingest it directly.</a:t>
            </a:r>
            <a:endParaRPr lang="en-US" sz="1850" dirty="0"/>
          </a:p>
        </p:txBody>
      </p:sp>
      <p:sp>
        <p:nvSpPr>
          <p:cNvPr id="7" name="Shape 5"/>
          <p:cNvSpPr/>
          <p:nvPr/>
        </p:nvSpPr>
        <p:spPr>
          <a:xfrm>
            <a:off x="868680" y="1828800"/>
            <a:ext cx="2011680" cy="1280160"/>
          </a:xfrm>
          <a:prstGeom prst="roundRect">
            <a:avLst>
              <a:gd name="adj" fmla="val 4286"/>
            </a:avLst>
          </a:prstGeom>
          <a:solidFill>
            <a:srgbClr val="DFF7F3"/>
          </a:solidFill>
          <a:ln w="12700">
            <a:solidFill>
              <a:srgbClr val="17B9A6"/>
            </a:solidFill>
            <a:prstDash val="solid"/>
          </a:ln>
        </p:spPr>
        <p:txBody>
          <a:bodyPr/>
          <a:lstStyle/>
          <a:p>
            <a:endParaRPr lang="en-US"/>
          </a:p>
        </p:txBody>
      </p:sp>
      <p:sp>
        <p:nvSpPr>
          <p:cNvPr id="8" name="Text 6"/>
          <p:cNvSpPr/>
          <p:nvPr/>
        </p:nvSpPr>
        <p:spPr>
          <a:xfrm>
            <a:off x="978408" y="1956816"/>
            <a:ext cx="1792224" cy="201168"/>
          </a:xfrm>
          <a:prstGeom prst="rect">
            <a:avLst/>
          </a:prstGeom>
          <a:noFill/>
          <a:ln/>
        </p:spPr>
        <p:txBody>
          <a:bodyPr wrap="square" lIns="0" tIns="0" rIns="0" bIns="0" rtlCol="0" anchor="ctr"/>
          <a:lstStyle/>
          <a:p>
            <a:pPr marL="0" indent="0" algn="ctr">
              <a:buNone/>
            </a:pPr>
            <a:r>
              <a:rPr lang="en-US" sz="1600" b="1" dirty="0">
                <a:solidFill>
                  <a:srgbClr val="13233F"/>
                </a:solidFill>
              </a:rPr>
              <a:t>Consolidated SQL source</a:t>
            </a:r>
            <a:endParaRPr lang="en-US" sz="1600" dirty="0"/>
          </a:p>
        </p:txBody>
      </p:sp>
      <p:sp>
        <p:nvSpPr>
          <p:cNvPr id="9" name="Text 7"/>
          <p:cNvSpPr/>
          <p:nvPr/>
        </p:nvSpPr>
        <p:spPr>
          <a:xfrm>
            <a:off x="978408" y="2212848"/>
            <a:ext cx="1792224" cy="804672"/>
          </a:xfrm>
          <a:prstGeom prst="rect">
            <a:avLst/>
          </a:prstGeom>
          <a:noFill/>
          <a:ln/>
        </p:spPr>
        <p:txBody>
          <a:bodyPr wrap="square" lIns="254" tIns="254" rIns="254" bIns="254" rtlCol="0" anchor="ctr"/>
          <a:lstStyle/>
          <a:p>
            <a:pPr marL="0" indent="0" algn="ctr">
              <a:buNone/>
            </a:pPr>
            <a:r>
              <a:rPr lang="en-US" sz="1150" dirty="0">
                <a:solidFill>
                  <a:srgbClr val="1E2A3A"/>
                </a:solidFill>
              </a:rPr>
              <a:t>vw_margin_transactions_consolidated</a:t>
            </a:r>
            <a:endParaRPr lang="en-US" sz="1150" dirty="0"/>
          </a:p>
          <a:p>
            <a:pPr marL="0" indent="0" algn="ctr">
              <a:buNone/>
            </a:pPr>
            <a:r>
              <a:rPr lang="en-US" sz="1150" dirty="0">
                <a:solidFill>
                  <a:srgbClr val="1E2A3A"/>
                </a:solidFill>
              </a:rPr>
              <a:t>major joins already resolved</a:t>
            </a:r>
            <a:endParaRPr lang="en-US" sz="1150" dirty="0"/>
          </a:p>
        </p:txBody>
      </p:sp>
      <p:sp>
        <p:nvSpPr>
          <p:cNvPr id="10" name="Shape 8"/>
          <p:cNvSpPr/>
          <p:nvPr/>
        </p:nvSpPr>
        <p:spPr>
          <a:xfrm>
            <a:off x="2880360" y="2468880"/>
            <a:ext cx="914400" cy="0"/>
          </a:xfrm>
          <a:prstGeom prst="line">
            <a:avLst/>
          </a:prstGeom>
          <a:noFill/>
          <a:ln w="12700">
            <a:solidFill>
              <a:srgbClr val="17B9A6"/>
            </a:solidFill>
            <a:prstDash val="solid"/>
            <a:headEnd type="none"/>
            <a:tailEnd type="triangle"/>
          </a:ln>
        </p:spPr>
        <p:txBody>
          <a:bodyPr/>
          <a:lstStyle/>
          <a:p>
            <a:endParaRPr lang="en-US"/>
          </a:p>
        </p:txBody>
      </p:sp>
      <p:sp>
        <p:nvSpPr>
          <p:cNvPr id="11" name="Shape 9"/>
          <p:cNvSpPr/>
          <p:nvPr/>
        </p:nvSpPr>
        <p:spPr>
          <a:xfrm>
            <a:off x="3794760" y="1828800"/>
            <a:ext cx="1920240" cy="1280160"/>
          </a:xfrm>
          <a:prstGeom prst="roundRect">
            <a:avLst>
              <a:gd name="adj" fmla="val 4286"/>
            </a:avLst>
          </a:prstGeom>
          <a:solidFill>
            <a:srgbClr val="FFFFFF"/>
          </a:solidFill>
          <a:ln w="12700">
            <a:solidFill>
              <a:srgbClr val="17B9A6"/>
            </a:solidFill>
            <a:prstDash val="solid"/>
          </a:ln>
        </p:spPr>
        <p:txBody>
          <a:bodyPr/>
          <a:lstStyle/>
          <a:p>
            <a:endParaRPr lang="en-US"/>
          </a:p>
        </p:txBody>
      </p:sp>
      <p:sp>
        <p:nvSpPr>
          <p:cNvPr id="12" name="Text 10"/>
          <p:cNvSpPr/>
          <p:nvPr/>
        </p:nvSpPr>
        <p:spPr>
          <a:xfrm>
            <a:off x="3904488" y="1956816"/>
            <a:ext cx="1700784" cy="201168"/>
          </a:xfrm>
          <a:prstGeom prst="rect">
            <a:avLst/>
          </a:prstGeom>
          <a:noFill/>
          <a:ln/>
        </p:spPr>
        <p:txBody>
          <a:bodyPr wrap="square" lIns="0" tIns="0" rIns="0" bIns="0" rtlCol="0" anchor="ctr"/>
          <a:lstStyle/>
          <a:p>
            <a:pPr marL="0" indent="0" algn="ctr">
              <a:buNone/>
            </a:pPr>
            <a:r>
              <a:rPr lang="en-US" sz="1600" b="1" dirty="0">
                <a:solidFill>
                  <a:srgbClr val="13233F"/>
                </a:solidFill>
              </a:rPr>
              <a:t>dbt source</a:t>
            </a:r>
            <a:endParaRPr lang="en-US" sz="1600" dirty="0"/>
          </a:p>
        </p:txBody>
      </p:sp>
      <p:sp>
        <p:nvSpPr>
          <p:cNvPr id="13" name="Text 11"/>
          <p:cNvSpPr/>
          <p:nvPr/>
        </p:nvSpPr>
        <p:spPr>
          <a:xfrm>
            <a:off x="3904488" y="2212848"/>
            <a:ext cx="1700784" cy="804672"/>
          </a:xfrm>
          <a:prstGeom prst="rect">
            <a:avLst/>
          </a:prstGeom>
          <a:noFill/>
          <a:ln/>
        </p:spPr>
        <p:txBody>
          <a:bodyPr wrap="square" lIns="254" tIns="254" rIns="254" bIns="254" rtlCol="0" anchor="ctr"/>
          <a:lstStyle/>
          <a:p>
            <a:pPr marL="0" indent="0" algn="ctr">
              <a:buNone/>
            </a:pPr>
            <a:r>
              <a:rPr lang="en-US" sz="1150" dirty="0">
                <a:solidFill>
                  <a:srgbClr val="1E2A3A"/>
                </a:solidFill>
              </a:rPr>
              <a:t>register relation</a:t>
            </a:r>
            <a:endParaRPr lang="en-US" sz="1150" dirty="0"/>
          </a:p>
          <a:p>
            <a:pPr marL="0" indent="0" algn="ctr">
              <a:buNone/>
            </a:pPr>
            <a:r>
              <a:rPr lang="en-US" sz="1150" dirty="0">
                <a:solidFill>
                  <a:srgbClr val="1E2A3A"/>
                </a:solidFill>
              </a:rPr>
              <a:t>in sources.yml</a:t>
            </a:r>
            <a:endParaRPr lang="en-US" sz="1150" dirty="0"/>
          </a:p>
        </p:txBody>
      </p:sp>
      <p:sp>
        <p:nvSpPr>
          <p:cNvPr id="14" name="Shape 12"/>
          <p:cNvSpPr/>
          <p:nvPr/>
        </p:nvSpPr>
        <p:spPr>
          <a:xfrm>
            <a:off x="5715000" y="2468880"/>
            <a:ext cx="960120" cy="0"/>
          </a:xfrm>
          <a:prstGeom prst="line">
            <a:avLst/>
          </a:prstGeom>
          <a:noFill/>
          <a:ln w="12700">
            <a:solidFill>
              <a:srgbClr val="2F6BFF"/>
            </a:solidFill>
            <a:prstDash val="solid"/>
            <a:headEnd type="none"/>
            <a:tailEnd type="triangle"/>
          </a:ln>
        </p:spPr>
        <p:txBody>
          <a:bodyPr/>
          <a:lstStyle/>
          <a:p>
            <a:endParaRPr lang="en-US"/>
          </a:p>
        </p:txBody>
      </p:sp>
      <p:sp>
        <p:nvSpPr>
          <p:cNvPr id="15" name="Shape 13"/>
          <p:cNvSpPr/>
          <p:nvPr/>
        </p:nvSpPr>
        <p:spPr>
          <a:xfrm>
            <a:off x="6675120" y="1828800"/>
            <a:ext cx="2011680" cy="1280160"/>
          </a:xfrm>
          <a:prstGeom prst="roundRect">
            <a:avLst>
              <a:gd name="adj" fmla="val 4286"/>
            </a:avLst>
          </a:prstGeom>
          <a:solidFill>
            <a:srgbClr val="FFFFFF"/>
          </a:solidFill>
          <a:ln w="12700">
            <a:solidFill>
              <a:srgbClr val="2F6BFF"/>
            </a:solidFill>
            <a:prstDash val="solid"/>
          </a:ln>
        </p:spPr>
        <p:txBody>
          <a:bodyPr/>
          <a:lstStyle/>
          <a:p>
            <a:endParaRPr lang="en-US"/>
          </a:p>
        </p:txBody>
      </p:sp>
      <p:sp>
        <p:nvSpPr>
          <p:cNvPr id="16" name="Text 14"/>
          <p:cNvSpPr/>
          <p:nvPr/>
        </p:nvSpPr>
        <p:spPr>
          <a:xfrm>
            <a:off x="6784848" y="1956816"/>
            <a:ext cx="1792224" cy="201168"/>
          </a:xfrm>
          <a:prstGeom prst="rect">
            <a:avLst/>
          </a:prstGeom>
          <a:noFill/>
          <a:ln/>
        </p:spPr>
        <p:txBody>
          <a:bodyPr wrap="square" lIns="0" tIns="0" rIns="0" bIns="0" rtlCol="0" anchor="ctr"/>
          <a:lstStyle/>
          <a:p>
            <a:pPr marL="0" indent="0" algn="ctr">
              <a:buNone/>
            </a:pPr>
            <a:r>
              <a:rPr lang="en-US" sz="1600" b="1" dirty="0">
                <a:solidFill>
                  <a:srgbClr val="13233F"/>
                </a:solidFill>
              </a:rPr>
              <a:t>stg_margin_calls</a:t>
            </a:r>
            <a:endParaRPr lang="en-US" sz="1600" dirty="0"/>
          </a:p>
        </p:txBody>
      </p:sp>
      <p:sp>
        <p:nvSpPr>
          <p:cNvPr id="17" name="Text 15"/>
          <p:cNvSpPr/>
          <p:nvPr/>
        </p:nvSpPr>
        <p:spPr>
          <a:xfrm>
            <a:off x="6784848" y="2212848"/>
            <a:ext cx="1792224" cy="804672"/>
          </a:xfrm>
          <a:prstGeom prst="rect">
            <a:avLst/>
          </a:prstGeom>
          <a:noFill/>
          <a:ln/>
        </p:spPr>
        <p:txBody>
          <a:bodyPr wrap="square" lIns="254" tIns="254" rIns="254" bIns="254" rtlCol="0" anchor="ctr"/>
          <a:lstStyle/>
          <a:p>
            <a:pPr marL="0" indent="0" algn="ctr">
              <a:buNone/>
            </a:pPr>
            <a:r>
              <a:rPr lang="en-US" sz="1150" dirty="0">
                <a:solidFill>
                  <a:srgbClr val="1E2A3A"/>
                </a:solidFill>
              </a:rPr>
              <a:t>cast · alias</a:t>
            </a:r>
            <a:endParaRPr lang="en-US" sz="1150" dirty="0"/>
          </a:p>
          <a:p>
            <a:pPr marL="0" indent="0" algn="ctr">
              <a:buNone/>
            </a:pPr>
            <a:r>
              <a:rPr lang="en-US" sz="1150" dirty="0">
                <a:solidFill>
                  <a:srgbClr val="1E2A3A"/>
                </a:solidFill>
              </a:rPr>
              <a:t>status mapping · net_val</a:t>
            </a:r>
            <a:endParaRPr lang="en-US" sz="1150" dirty="0"/>
          </a:p>
        </p:txBody>
      </p:sp>
      <p:sp>
        <p:nvSpPr>
          <p:cNvPr id="18" name="Shape 16"/>
          <p:cNvSpPr/>
          <p:nvPr/>
        </p:nvSpPr>
        <p:spPr>
          <a:xfrm>
            <a:off x="8686800" y="2468880"/>
            <a:ext cx="1005840" cy="0"/>
          </a:xfrm>
          <a:prstGeom prst="line">
            <a:avLst/>
          </a:prstGeom>
          <a:noFill/>
          <a:ln w="12700">
            <a:solidFill>
              <a:srgbClr val="2F6BFF"/>
            </a:solidFill>
            <a:prstDash val="solid"/>
            <a:headEnd type="none"/>
            <a:tailEnd type="triangle"/>
          </a:ln>
        </p:spPr>
        <p:txBody>
          <a:bodyPr/>
          <a:lstStyle/>
          <a:p>
            <a:endParaRPr lang="en-US"/>
          </a:p>
        </p:txBody>
      </p:sp>
      <p:sp>
        <p:nvSpPr>
          <p:cNvPr id="19" name="Shape 17"/>
          <p:cNvSpPr/>
          <p:nvPr/>
        </p:nvSpPr>
        <p:spPr>
          <a:xfrm>
            <a:off x="9692640" y="1828800"/>
            <a:ext cx="1783080" cy="1280160"/>
          </a:xfrm>
          <a:prstGeom prst="roundRect">
            <a:avLst>
              <a:gd name="adj" fmla="val 4286"/>
            </a:avLst>
          </a:prstGeom>
          <a:solidFill>
            <a:srgbClr val="FFFFFF"/>
          </a:solidFill>
          <a:ln w="12700">
            <a:solidFill>
              <a:srgbClr val="17B9A6"/>
            </a:solidFill>
            <a:prstDash val="solid"/>
          </a:ln>
        </p:spPr>
        <p:txBody>
          <a:bodyPr/>
          <a:lstStyle/>
          <a:p>
            <a:endParaRPr lang="en-US"/>
          </a:p>
        </p:txBody>
      </p:sp>
      <p:sp>
        <p:nvSpPr>
          <p:cNvPr id="20" name="Text 18"/>
          <p:cNvSpPr/>
          <p:nvPr/>
        </p:nvSpPr>
        <p:spPr>
          <a:xfrm>
            <a:off x="9802368" y="1956816"/>
            <a:ext cx="1563624" cy="201168"/>
          </a:xfrm>
          <a:prstGeom prst="rect">
            <a:avLst/>
          </a:prstGeom>
          <a:noFill/>
          <a:ln/>
        </p:spPr>
        <p:txBody>
          <a:bodyPr wrap="square" lIns="0" tIns="0" rIns="0" bIns="0" rtlCol="0" anchor="ctr"/>
          <a:lstStyle/>
          <a:p>
            <a:pPr marL="0" indent="0" algn="ctr">
              <a:buNone/>
            </a:pPr>
            <a:r>
              <a:rPr lang="en-US" sz="1600" b="1" dirty="0">
                <a:solidFill>
                  <a:srgbClr val="13233F"/>
                </a:solidFill>
              </a:rPr>
              <a:t>Semantic layer</a:t>
            </a:r>
            <a:endParaRPr lang="en-US" sz="1600" dirty="0"/>
          </a:p>
        </p:txBody>
      </p:sp>
      <p:sp>
        <p:nvSpPr>
          <p:cNvPr id="21" name="Text 19"/>
          <p:cNvSpPr/>
          <p:nvPr/>
        </p:nvSpPr>
        <p:spPr>
          <a:xfrm>
            <a:off x="9802368" y="2212848"/>
            <a:ext cx="1563624" cy="804672"/>
          </a:xfrm>
          <a:prstGeom prst="rect">
            <a:avLst/>
          </a:prstGeom>
          <a:noFill/>
          <a:ln/>
        </p:spPr>
        <p:txBody>
          <a:bodyPr wrap="square" lIns="254" tIns="254" rIns="254" bIns="254" rtlCol="0" anchor="ctr"/>
          <a:lstStyle/>
          <a:p>
            <a:pPr marL="0" indent="0" algn="ctr">
              <a:buNone/>
            </a:pPr>
            <a:r>
              <a:rPr lang="en-US" sz="1150" dirty="0">
                <a:solidFill>
                  <a:srgbClr val="1E2A3A"/>
                </a:solidFill>
              </a:rPr>
              <a:t>metrics and</a:t>
            </a:r>
            <a:endParaRPr lang="en-US" sz="1150" dirty="0"/>
          </a:p>
          <a:p>
            <a:pPr marL="0" indent="0" algn="ctr">
              <a:buNone/>
            </a:pPr>
            <a:r>
              <a:rPr lang="en-US" sz="1150" dirty="0">
                <a:solidFill>
                  <a:srgbClr val="1E2A3A"/>
                </a:solidFill>
              </a:rPr>
              <a:t>query contract</a:t>
            </a:r>
            <a:endParaRPr lang="en-US" sz="1150" dirty="0"/>
          </a:p>
        </p:txBody>
      </p:sp>
      <p:sp>
        <p:nvSpPr>
          <p:cNvPr id="22" name="Shape 20"/>
          <p:cNvSpPr/>
          <p:nvPr/>
        </p:nvSpPr>
        <p:spPr>
          <a:xfrm>
            <a:off x="868680" y="3703320"/>
            <a:ext cx="3246120" cy="1737360"/>
          </a:xfrm>
          <a:prstGeom prst="roundRect">
            <a:avLst>
              <a:gd name="adj" fmla="val 3158"/>
            </a:avLst>
          </a:prstGeom>
          <a:solidFill>
            <a:srgbClr val="F7FFF9"/>
          </a:solidFill>
          <a:ln w="12700">
            <a:solidFill>
              <a:srgbClr val="D8E1EE"/>
            </a:solidFill>
            <a:prstDash val="solid"/>
          </a:ln>
        </p:spPr>
        <p:txBody>
          <a:bodyPr/>
          <a:lstStyle/>
          <a:p>
            <a:endParaRPr lang="en-US"/>
          </a:p>
        </p:txBody>
      </p:sp>
      <p:sp>
        <p:nvSpPr>
          <p:cNvPr id="23" name="Shape 21"/>
          <p:cNvSpPr/>
          <p:nvPr/>
        </p:nvSpPr>
        <p:spPr>
          <a:xfrm>
            <a:off x="868680" y="3703320"/>
            <a:ext cx="109728" cy="1737360"/>
          </a:xfrm>
          <a:prstGeom prst="rect">
            <a:avLst/>
          </a:prstGeom>
          <a:solidFill>
            <a:srgbClr val="23B26D"/>
          </a:solidFill>
          <a:ln w="12700">
            <a:solidFill>
              <a:srgbClr val="23B26D">
                <a:alpha val="0"/>
              </a:srgbClr>
            </a:solidFill>
            <a:prstDash val="solid"/>
          </a:ln>
        </p:spPr>
        <p:txBody>
          <a:bodyPr/>
          <a:lstStyle/>
          <a:p>
            <a:endParaRPr lang="en-US"/>
          </a:p>
        </p:txBody>
      </p:sp>
      <p:sp>
        <p:nvSpPr>
          <p:cNvPr id="24" name="Text 22"/>
          <p:cNvSpPr/>
          <p:nvPr/>
        </p:nvSpPr>
        <p:spPr>
          <a:xfrm>
            <a:off x="1069848" y="3867912"/>
            <a:ext cx="2926080" cy="219456"/>
          </a:xfrm>
          <a:prstGeom prst="rect">
            <a:avLst/>
          </a:prstGeom>
          <a:noFill/>
          <a:ln/>
        </p:spPr>
        <p:txBody>
          <a:bodyPr wrap="square" lIns="0" tIns="0" rIns="0" bIns="0" rtlCol="0" anchor="ctr"/>
          <a:lstStyle/>
          <a:p>
            <a:pPr marL="0" indent="0">
              <a:buNone/>
            </a:pPr>
            <a:r>
              <a:rPr lang="en-US" sz="1900" b="1" dirty="0">
                <a:solidFill>
                  <a:srgbClr val="13233F"/>
                </a:solidFill>
              </a:rPr>
              <a:t>Benefits</a:t>
            </a:r>
            <a:endParaRPr lang="en-US" sz="1900" dirty="0"/>
          </a:p>
        </p:txBody>
      </p:sp>
      <p:sp>
        <p:nvSpPr>
          <p:cNvPr id="25" name="Text 23"/>
          <p:cNvSpPr/>
          <p:nvPr/>
        </p:nvSpPr>
        <p:spPr>
          <a:xfrm>
            <a:off x="1069848" y="4187952"/>
            <a:ext cx="2898648" cy="1170432"/>
          </a:xfrm>
          <a:prstGeom prst="rect">
            <a:avLst/>
          </a:prstGeom>
          <a:noFill/>
          <a:ln/>
        </p:spPr>
        <p:txBody>
          <a:bodyPr wrap="square" lIns="0" tIns="0" rIns="0" bIns="0" rtlCol="0" anchor="t"/>
          <a:lstStyle/>
          <a:p>
            <a:pPr marL="0" indent="0">
              <a:buNone/>
            </a:pPr>
            <a:r>
              <a:rPr lang="en-US" sz="1450" dirty="0">
                <a:solidFill>
                  <a:srgbClr val="1E2A3A"/>
                </a:solidFill>
              </a:rPr>
              <a:t>• Fewer moving parts in Phase 1.</a:t>
            </a:r>
            <a:endParaRPr lang="en-US" sz="1450" dirty="0"/>
          </a:p>
          <a:p>
            <a:pPr marL="0" indent="0">
              <a:buNone/>
            </a:pPr>
            <a:r>
              <a:rPr lang="en-US" sz="1450" dirty="0">
                <a:solidFill>
                  <a:srgbClr val="1E2A3A"/>
                </a:solidFill>
              </a:rPr>
              <a:t>• Closer to long-term enterprise deployment.</a:t>
            </a:r>
            <a:endParaRPr lang="en-US" sz="1450" dirty="0"/>
          </a:p>
          <a:p>
            <a:pPr marL="0" indent="0">
              <a:buNone/>
            </a:pPr>
            <a:r>
              <a:rPr lang="en-US" sz="1450" dirty="0">
                <a:solidFill>
                  <a:srgbClr val="1E2A3A"/>
                </a:solidFill>
              </a:rPr>
              <a:t>• Cleaner operational ownership.</a:t>
            </a:r>
            <a:endParaRPr lang="en-US" sz="1450" dirty="0"/>
          </a:p>
        </p:txBody>
      </p:sp>
      <p:sp>
        <p:nvSpPr>
          <p:cNvPr id="26" name="Shape 24"/>
          <p:cNvSpPr/>
          <p:nvPr/>
        </p:nvSpPr>
        <p:spPr>
          <a:xfrm>
            <a:off x="4343400" y="3703320"/>
            <a:ext cx="3520440" cy="1737360"/>
          </a:xfrm>
          <a:prstGeom prst="roundRect">
            <a:avLst>
              <a:gd name="adj" fmla="val 3158"/>
            </a:avLst>
          </a:prstGeom>
          <a:solidFill>
            <a:srgbClr val="FBFDFF"/>
          </a:solidFill>
          <a:ln w="12700">
            <a:solidFill>
              <a:srgbClr val="D8E1EE"/>
            </a:solidFill>
            <a:prstDash val="solid"/>
          </a:ln>
        </p:spPr>
        <p:txBody>
          <a:bodyPr/>
          <a:lstStyle/>
          <a:p>
            <a:endParaRPr lang="en-US"/>
          </a:p>
        </p:txBody>
      </p:sp>
      <p:sp>
        <p:nvSpPr>
          <p:cNvPr id="27" name="Shape 25"/>
          <p:cNvSpPr/>
          <p:nvPr/>
        </p:nvSpPr>
        <p:spPr>
          <a:xfrm>
            <a:off x="4343400" y="3703320"/>
            <a:ext cx="109728" cy="1737360"/>
          </a:xfrm>
          <a:prstGeom prst="rect">
            <a:avLst/>
          </a:prstGeom>
          <a:solidFill>
            <a:srgbClr val="2F6BFF"/>
          </a:solidFill>
          <a:ln w="12700">
            <a:solidFill>
              <a:srgbClr val="2F6BFF">
                <a:alpha val="0"/>
              </a:srgbClr>
            </a:solidFill>
            <a:prstDash val="solid"/>
          </a:ln>
        </p:spPr>
        <p:txBody>
          <a:bodyPr/>
          <a:lstStyle/>
          <a:p>
            <a:endParaRPr lang="en-US"/>
          </a:p>
        </p:txBody>
      </p:sp>
      <p:sp>
        <p:nvSpPr>
          <p:cNvPr id="28" name="Text 26"/>
          <p:cNvSpPr/>
          <p:nvPr/>
        </p:nvSpPr>
        <p:spPr>
          <a:xfrm>
            <a:off x="4544568" y="3867912"/>
            <a:ext cx="3200400" cy="219456"/>
          </a:xfrm>
          <a:prstGeom prst="rect">
            <a:avLst/>
          </a:prstGeom>
          <a:noFill/>
          <a:ln/>
        </p:spPr>
        <p:txBody>
          <a:bodyPr wrap="square" lIns="0" tIns="0" rIns="0" bIns="0" rtlCol="0" anchor="ctr"/>
          <a:lstStyle/>
          <a:p>
            <a:pPr marL="0" indent="0">
              <a:buNone/>
            </a:pPr>
            <a:r>
              <a:rPr lang="en-US" sz="1900" b="1" dirty="0">
                <a:solidFill>
                  <a:srgbClr val="13233F"/>
                </a:solidFill>
              </a:rPr>
              <a:t>Important practice</a:t>
            </a:r>
            <a:endParaRPr lang="en-US" sz="1900" dirty="0"/>
          </a:p>
        </p:txBody>
      </p:sp>
      <p:sp>
        <p:nvSpPr>
          <p:cNvPr id="29" name="Text 27"/>
          <p:cNvSpPr/>
          <p:nvPr/>
        </p:nvSpPr>
        <p:spPr>
          <a:xfrm>
            <a:off x="4544568" y="4187952"/>
            <a:ext cx="3172968" cy="1170432"/>
          </a:xfrm>
          <a:prstGeom prst="rect">
            <a:avLst/>
          </a:prstGeom>
          <a:noFill/>
          <a:ln/>
        </p:spPr>
        <p:txBody>
          <a:bodyPr wrap="square" lIns="0" tIns="0" rIns="0" bIns="0" rtlCol="0" anchor="t"/>
          <a:lstStyle/>
          <a:p>
            <a:pPr marL="0" indent="0">
              <a:buNone/>
            </a:pPr>
            <a:r>
              <a:rPr lang="en-US" sz="1450" dirty="0">
                <a:solidFill>
                  <a:srgbClr val="1E2A3A"/>
                </a:solidFill>
              </a:rPr>
              <a:t>• Prefer a named view/table over an anonymous ad hoc query so dbt lineage, tests, and documentation remain intact.</a:t>
            </a:r>
            <a:endParaRPr lang="en-US" sz="1450" dirty="0"/>
          </a:p>
        </p:txBody>
      </p:sp>
      <p:sp>
        <p:nvSpPr>
          <p:cNvPr id="30" name="Shape 28"/>
          <p:cNvSpPr/>
          <p:nvPr/>
        </p:nvSpPr>
        <p:spPr>
          <a:xfrm>
            <a:off x="8092440" y="3703320"/>
            <a:ext cx="3246120" cy="1737360"/>
          </a:xfrm>
          <a:prstGeom prst="roundRect">
            <a:avLst>
              <a:gd name="adj" fmla="val 3158"/>
            </a:avLst>
          </a:prstGeom>
          <a:solidFill>
            <a:srgbClr val="FBFFFD"/>
          </a:solidFill>
          <a:ln w="12700">
            <a:solidFill>
              <a:srgbClr val="D8E1EE"/>
            </a:solidFill>
            <a:prstDash val="solid"/>
          </a:ln>
        </p:spPr>
        <p:txBody>
          <a:bodyPr/>
          <a:lstStyle/>
          <a:p>
            <a:endParaRPr lang="en-US"/>
          </a:p>
        </p:txBody>
      </p:sp>
      <p:sp>
        <p:nvSpPr>
          <p:cNvPr id="31" name="Shape 29"/>
          <p:cNvSpPr/>
          <p:nvPr/>
        </p:nvSpPr>
        <p:spPr>
          <a:xfrm>
            <a:off x="8092440" y="3703320"/>
            <a:ext cx="109728" cy="1737360"/>
          </a:xfrm>
          <a:prstGeom prst="rect">
            <a:avLst/>
          </a:prstGeom>
          <a:solidFill>
            <a:srgbClr val="17B9A6"/>
          </a:solidFill>
          <a:ln w="12700">
            <a:solidFill>
              <a:srgbClr val="17B9A6">
                <a:alpha val="0"/>
              </a:srgbClr>
            </a:solidFill>
            <a:prstDash val="solid"/>
          </a:ln>
        </p:spPr>
        <p:txBody>
          <a:bodyPr/>
          <a:lstStyle/>
          <a:p>
            <a:endParaRPr lang="en-US"/>
          </a:p>
        </p:txBody>
      </p:sp>
      <p:sp>
        <p:nvSpPr>
          <p:cNvPr id="32" name="Text 30"/>
          <p:cNvSpPr/>
          <p:nvPr/>
        </p:nvSpPr>
        <p:spPr>
          <a:xfrm>
            <a:off x="8293608" y="3867912"/>
            <a:ext cx="2926080" cy="219456"/>
          </a:xfrm>
          <a:prstGeom prst="rect">
            <a:avLst/>
          </a:prstGeom>
          <a:noFill/>
          <a:ln/>
        </p:spPr>
        <p:txBody>
          <a:bodyPr wrap="square" lIns="0" tIns="0" rIns="0" bIns="0" rtlCol="0" anchor="ctr"/>
          <a:lstStyle/>
          <a:p>
            <a:pPr marL="0" indent="0">
              <a:buNone/>
            </a:pPr>
            <a:r>
              <a:rPr lang="en-US" sz="1900" b="1" dirty="0">
                <a:solidFill>
                  <a:srgbClr val="13233F"/>
                </a:solidFill>
              </a:rPr>
              <a:t>What stays the same</a:t>
            </a:r>
            <a:endParaRPr lang="en-US" sz="1900" dirty="0"/>
          </a:p>
        </p:txBody>
      </p:sp>
      <p:sp>
        <p:nvSpPr>
          <p:cNvPr id="33" name="Text 31"/>
          <p:cNvSpPr/>
          <p:nvPr/>
        </p:nvSpPr>
        <p:spPr>
          <a:xfrm>
            <a:off x="8293608" y="4187952"/>
            <a:ext cx="2898648" cy="1170432"/>
          </a:xfrm>
          <a:prstGeom prst="rect">
            <a:avLst/>
          </a:prstGeom>
          <a:noFill/>
          <a:ln/>
        </p:spPr>
        <p:txBody>
          <a:bodyPr wrap="square" lIns="0" tIns="0" rIns="0" bIns="0" rtlCol="0" anchor="t"/>
          <a:lstStyle/>
          <a:p>
            <a:pPr marL="0" indent="0">
              <a:buNone/>
            </a:pPr>
            <a:r>
              <a:rPr lang="en-US" sz="1450" dirty="0">
                <a:solidFill>
                  <a:srgbClr val="1E2A3A"/>
                </a:solidFill>
              </a:rPr>
              <a:t>• Gemini still queries semantic metrics only.</a:t>
            </a:r>
            <a:endParaRPr lang="en-US" sz="1450" dirty="0"/>
          </a:p>
          <a:p>
            <a:pPr marL="0" indent="0">
              <a:buNone/>
            </a:pPr>
            <a:r>
              <a:rPr lang="en-US" sz="1450" dirty="0">
                <a:solidFill>
                  <a:srgbClr val="1E2A3A"/>
                </a:solidFill>
              </a:rPr>
              <a:t>• The same KPI definitions can power dashboards and AI responses.</a:t>
            </a:r>
            <a:endParaRPr lang="en-US" sz="1450" dirty="0"/>
          </a:p>
        </p:txBody>
      </p:sp>
      <p:sp>
        <p:nvSpPr>
          <p:cNvPr id="34" name="Text 32"/>
          <p:cNvSpPr/>
          <p:nvPr/>
        </p:nvSpPr>
        <p:spPr>
          <a:xfrm>
            <a:off x="566928" y="6437376"/>
            <a:ext cx="9875520" cy="164592"/>
          </a:xfrm>
          <a:prstGeom prst="rect">
            <a:avLst/>
          </a:prstGeom>
          <a:noFill/>
          <a:ln/>
        </p:spPr>
        <p:txBody>
          <a:bodyPr wrap="square" lIns="0" tIns="0" rIns="0" bIns="0" rtlCol="0" anchor="ctr"/>
          <a:lstStyle/>
          <a:p>
            <a:pPr marL="0" indent="0">
              <a:buNone/>
            </a:pPr>
            <a:r>
              <a:rPr lang="en-US" sz="950" dirty="0">
                <a:solidFill>
                  <a:srgbClr val="6C7A89"/>
                </a:solidFill>
              </a:rPr>
              <a:t>Revised approach: JSON + DuckDB or direct SQL source</a:t>
            </a:r>
            <a:endParaRPr lang="en-US" sz="950" dirty="0"/>
          </a:p>
        </p:txBody>
      </p:sp>
      <p:sp>
        <p:nvSpPr>
          <p:cNvPr id="35" name="Text 33"/>
          <p:cNvSpPr/>
          <p:nvPr/>
        </p:nvSpPr>
        <p:spPr>
          <a:xfrm>
            <a:off x="11155680" y="6409944"/>
            <a:ext cx="411480" cy="182880"/>
          </a:xfrm>
          <a:prstGeom prst="rect">
            <a:avLst/>
          </a:prstGeom>
          <a:noFill/>
          <a:ln/>
        </p:spPr>
        <p:txBody>
          <a:bodyPr wrap="square" lIns="0" tIns="0" rIns="0" bIns="0" rtlCol="0" anchor="ctr"/>
          <a:lstStyle/>
          <a:p>
            <a:pPr marL="0" indent="0" algn="r">
              <a:buNone/>
            </a:pPr>
            <a:r>
              <a:rPr lang="en-US" sz="1000" b="1" dirty="0">
                <a:solidFill>
                  <a:srgbClr val="6C7A89"/>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3233F"/>
          </a:solidFill>
          <a:ln w="12700">
            <a:solidFill>
              <a:srgbClr val="13233F">
                <a:alpha val="0"/>
              </a:srgbClr>
            </a:solidFill>
            <a:prstDash val="solid"/>
          </a:ln>
        </p:spPr>
        <p:txBody>
          <a:bodyPr/>
          <a:lstStyle/>
          <a:p>
            <a:endParaRPr lang="en-US"/>
          </a:p>
        </p:txBody>
      </p:sp>
      <p:sp>
        <p:nvSpPr>
          <p:cNvPr id="3" name="Text 1"/>
          <p:cNvSpPr/>
          <p:nvPr/>
        </p:nvSpPr>
        <p:spPr>
          <a:xfrm>
            <a:off x="566928" y="164592"/>
            <a:ext cx="8046720" cy="237744"/>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Decision matrix: when to choose each ingestion pattern</a:t>
            </a:r>
            <a:endParaRPr lang="en-US" sz="2600" dirty="0"/>
          </a:p>
        </p:txBody>
      </p:sp>
      <p:sp>
        <p:nvSpPr>
          <p:cNvPr id="4" name="Text 2"/>
          <p:cNvSpPr/>
          <p:nvPr/>
        </p:nvSpPr>
        <p:spPr>
          <a:xfrm>
            <a:off x="9281160" y="164592"/>
            <a:ext cx="2240280" cy="219456"/>
          </a:xfrm>
          <a:prstGeom prst="rect">
            <a:avLst/>
          </a:prstGeom>
          <a:noFill/>
          <a:ln/>
        </p:spPr>
        <p:txBody>
          <a:bodyPr wrap="square" lIns="0" tIns="0" rIns="0" bIns="0" rtlCol="0" anchor="ctr"/>
          <a:lstStyle/>
          <a:p>
            <a:pPr marL="0" indent="0" algn="r">
              <a:buNone/>
            </a:pPr>
            <a:r>
              <a:rPr lang="en-US" sz="1050" dirty="0">
                <a:solidFill>
                  <a:srgbClr val="D7E2FF"/>
                </a:solidFill>
                <a:latin typeface="Aptos" pitchFamily="34" charset="0"/>
                <a:ea typeface="Aptos" pitchFamily="34" charset="-122"/>
                <a:cs typeface="Aptos" pitchFamily="34" charset="-120"/>
              </a:rPr>
              <a:t>Semantic GenAI for BI · Phase 1</a:t>
            </a:r>
            <a:endParaRPr lang="en-US" sz="1050" dirty="0"/>
          </a:p>
        </p:txBody>
      </p:sp>
      <p:sp>
        <p:nvSpPr>
          <p:cNvPr id="5" name="Shape 3"/>
          <p:cNvSpPr/>
          <p:nvPr/>
        </p:nvSpPr>
        <p:spPr>
          <a:xfrm>
            <a:off x="566928" y="6382512"/>
            <a:ext cx="11064240" cy="0"/>
          </a:xfrm>
          <a:prstGeom prst="line">
            <a:avLst/>
          </a:prstGeom>
          <a:noFill/>
          <a:ln w="12700">
            <a:solidFill>
              <a:srgbClr val="D8E1EE"/>
            </a:solidFill>
            <a:prstDash val="solid"/>
          </a:ln>
        </p:spPr>
        <p:txBody>
          <a:bodyPr/>
          <a:lstStyle/>
          <a:p>
            <a:endParaRPr lang="en-US"/>
          </a:p>
        </p:txBody>
      </p:sp>
      <p:sp>
        <p:nvSpPr>
          <p:cNvPr id="6" name="Text 4"/>
          <p:cNvSpPr/>
          <p:nvPr/>
        </p:nvSpPr>
        <p:spPr>
          <a:xfrm>
            <a:off x="777240" y="896112"/>
            <a:ext cx="6858000" cy="274320"/>
          </a:xfrm>
          <a:prstGeom prst="rect">
            <a:avLst/>
          </a:prstGeom>
          <a:noFill/>
          <a:ln/>
        </p:spPr>
        <p:txBody>
          <a:bodyPr wrap="square" lIns="0" tIns="0" rIns="0" bIns="0" rtlCol="0" anchor="ctr"/>
          <a:lstStyle/>
          <a:p>
            <a:pPr marL="0" indent="0">
              <a:buNone/>
            </a:pPr>
            <a:r>
              <a:rPr lang="en-US" sz="1850" dirty="0">
                <a:solidFill>
                  <a:srgbClr val="1E2A3A"/>
                </a:solidFill>
              </a:rPr>
              <a:t>Choose the simplest path that still preserves governed metric logic.</a:t>
            </a:r>
            <a:endParaRPr lang="en-US" sz="1850" dirty="0"/>
          </a:p>
        </p:txBody>
      </p:sp>
      <p:sp>
        <p:nvSpPr>
          <p:cNvPr id="7" name="Shape 5"/>
          <p:cNvSpPr/>
          <p:nvPr/>
        </p:nvSpPr>
        <p:spPr>
          <a:xfrm>
            <a:off x="841248" y="1554480"/>
            <a:ext cx="2880360" cy="612648"/>
          </a:xfrm>
          <a:prstGeom prst="rect">
            <a:avLst/>
          </a:prstGeom>
          <a:solidFill>
            <a:srgbClr val="13233F"/>
          </a:solidFill>
          <a:ln w="12700">
            <a:solidFill>
              <a:srgbClr val="13233F">
                <a:alpha val="0"/>
              </a:srgbClr>
            </a:solidFill>
            <a:prstDash val="solid"/>
          </a:ln>
        </p:spPr>
        <p:txBody>
          <a:bodyPr/>
          <a:lstStyle/>
          <a:p>
            <a:endParaRPr lang="en-US"/>
          </a:p>
        </p:txBody>
      </p:sp>
      <p:sp>
        <p:nvSpPr>
          <p:cNvPr id="8" name="Text 6"/>
          <p:cNvSpPr/>
          <p:nvPr/>
        </p:nvSpPr>
        <p:spPr>
          <a:xfrm>
            <a:off x="914400" y="1737360"/>
            <a:ext cx="2734056" cy="146304"/>
          </a:xfrm>
          <a:prstGeom prst="rect">
            <a:avLst/>
          </a:prstGeom>
          <a:noFill/>
          <a:ln/>
        </p:spPr>
        <p:txBody>
          <a:bodyPr wrap="square" lIns="0" tIns="0" rIns="0" bIns="0" rtlCol="0" anchor="ctr"/>
          <a:lstStyle/>
          <a:p>
            <a:pPr marL="0" indent="0" algn="ctr">
              <a:buNone/>
            </a:pPr>
            <a:r>
              <a:rPr lang="en-US" sz="1300" b="1" dirty="0">
                <a:solidFill>
                  <a:srgbClr val="FFFFFF"/>
                </a:solidFill>
              </a:rPr>
              <a:t>Decision factor</a:t>
            </a:r>
            <a:endParaRPr lang="en-US" sz="1300" dirty="0"/>
          </a:p>
        </p:txBody>
      </p:sp>
      <p:sp>
        <p:nvSpPr>
          <p:cNvPr id="9" name="Shape 7"/>
          <p:cNvSpPr/>
          <p:nvPr/>
        </p:nvSpPr>
        <p:spPr>
          <a:xfrm>
            <a:off x="3721608" y="1554480"/>
            <a:ext cx="2697480" cy="612648"/>
          </a:xfrm>
          <a:prstGeom prst="rect">
            <a:avLst/>
          </a:prstGeom>
          <a:solidFill>
            <a:srgbClr val="243B63"/>
          </a:solidFill>
          <a:ln w="12700">
            <a:solidFill>
              <a:srgbClr val="13233F">
                <a:alpha val="0"/>
              </a:srgbClr>
            </a:solidFill>
            <a:prstDash val="solid"/>
          </a:ln>
        </p:spPr>
        <p:txBody>
          <a:bodyPr/>
          <a:lstStyle/>
          <a:p>
            <a:endParaRPr lang="en-US"/>
          </a:p>
        </p:txBody>
      </p:sp>
      <p:sp>
        <p:nvSpPr>
          <p:cNvPr id="10" name="Text 8"/>
          <p:cNvSpPr/>
          <p:nvPr/>
        </p:nvSpPr>
        <p:spPr>
          <a:xfrm>
            <a:off x="3794760" y="1737360"/>
            <a:ext cx="2551176" cy="146304"/>
          </a:xfrm>
          <a:prstGeom prst="rect">
            <a:avLst/>
          </a:prstGeom>
          <a:noFill/>
          <a:ln/>
        </p:spPr>
        <p:txBody>
          <a:bodyPr wrap="square" lIns="0" tIns="0" rIns="0" bIns="0" rtlCol="0" anchor="ctr"/>
          <a:lstStyle/>
          <a:p>
            <a:pPr marL="0" indent="0" algn="ctr">
              <a:buNone/>
            </a:pPr>
            <a:r>
              <a:rPr lang="en-US" sz="1300" b="1" dirty="0">
                <a:solidFill>
                  <a:srgbClr val="FFFFFF"/>
                </a:solidFill>
              </a:rPr>
              <a:t>JSON + DuckDB</a:t>
            </a:r>
            <a:endParaRPr lang="en-US" sz="1300" dirty="0"/>
          </a:p>
        </p:txBody>
      </p:sp>
      <p:sp>
        <p:nvSpPr>
          <p:cNvPr id="11" name="Shape 9"/>
          <p:cNvSpPr/>
          <p:nvPr/>
        </p:nvSpPr>
        <p:spPr>
          <a:xfrm>
            <a:off x="6419088" y="1554480"/>
            <a:ext cx="2697480" cy="612648"/>
          </a:xfrm>
          <a:prstGeom prst="rect">
            <a:avLst/>
          </a:prstGeom>
          <a:solidFill>
            <a:srgbClr val="243B63"/>
          </a:solidFill>
          <a:ln w="12700">
            <a:solidFill>
              <a:srgbClr val="13233F">
                <a:alpha val="0"/>
              </a:srgbClr>
            </a:solidFill>
            <a:prstDash val="solid"/>
          </a:ln>
        </p:spPr>
        <p:txBody>
          <a:bodyPr/>
          <a:lstStyle/>
          <a:p>
            <a:endParaRPr lang="en-US"/>
          </a:p>
        </p:txBody>
      </p:sp>
      <p:sp>
        <p:nvSpPr>
          <p:cNvPr id="12" name="Text 10"/>
          <p:cNvSpPr/>
          <p:nvPr/>
        </p:nvSpPr>
        <p:spPr>
          <a:xfrm>
            <a:off x="6492240" y="1737360"/>
            <a:ext cx="2551176" cy="146304"/>
          </a:xfrm>
          <a:prstGeom prst="rect">
            <a:avLst/>
          </a:prstGeom>
          <a:noFill/>
          <a:ln/>
        </p:spPr>
        <p:txBody>
          <a:bodyPr wrap="square" lIns="0" tIns="0" rIns="0" bIns="0" rtlCol="0" anchor="ctr"/>
          <a:lstStyle/>
          <a:p>
            <a:pPr marL="0" indent="0" algn="ctr">
              <a:buNone/>
            </a:pPr>
            <a:r>
              <a:rPr lang="en-US" sz="1300" b="1" dirty="0">
                <a:solidFill>
                  <a:srgbClr val="FFFFFF"/>
                </a:solidFill>
              </a:rPr>
              <a:t>Direct SQL source</a:t>
            </a:r>
            <a:endParaRPr lang="en-US" sz="1300" dirty="0"/>
          </a:p>
        </p:txBody>
      </p:sp>
      <p:sp>
        <p:nvSpPr>
          <p:cNvPr id="13" name="Shape 11"/>
          <p:cNvSpPr/>
          <p:nvPr/>
        </p:nvSpPr>
        <p:spPr>
          <a:xfrm>
            <a:off x="9116568" y="1554480"/>
            <a:ext cx="2697480" cy="612648"/>
          </a:xfrm>
          <a:prstGeom prst="rect">
            <a:avLst/>
          </a:prstGeom>
          <a:solidFill>
            <a:srgbClr val="243B63"/>
          </a:solidFill>
          <a:ln w="12700">
            <a:solidFill>
              <a:srgbClr val="13233F">
                <a:alpha val="0"/>
              </a:srgbClr>
            </a:solidFill>
            <a:prstDash val="solid"/>
          </a:ln>
        </p:spPr>
        <p:txBody>
          <a:bodyPr/>
          <a:lstStyle/>
          <a:p>
            <a:endParaRPr lang="en-US"/>
          </a:p>
        </p:txBody>
      </p:sp>
      <p:sp>
        <p:nvSpPr>
          <p:cNvPr id="14" name="Text 12"/>
          <p:cNvSpPr/>
          <p:nvPr/>
        </p:nvSpPr>
        <p:spPr>
          <a:xfrm>
            <a:off x="9189720" y="1737360"/>
            <a:ext cx="2551176" cy="146304"/>
          </a:xfrm>
          <a:prstGeom prst="rect">
            <a:avLst/>
          </a:prstGeom>
          <a:noFill/>
          <a:ln/>
        </p:spPr>
        <p:txBody>
          <a:bodyPr wrap="square" lIns="0" tIns="0" rIns="0" bIns="0" rtlCol="0" anchor="ctr"/>
          <a:lstStyle/>
          <a:p>
            <a:pPr marL="0" indent="0" algn="ctr">
              <a:buNone/>
            </a:pPr>
            <a:r>
              <a:rPr lang="en-US" sz="1300" b="1" dirty="0">
                <a:solidFill>
                  <a:srgbClr val="FFFFFF"/>
                </a:solidFill>
              </a:rPr>
              <a:t>Recommendation</a:t>
            </a:r>
            <a:endParaRPr lang="en-US" sz="1300" dirty="0"/>
          </a:p>
        </p:txBody>
      </p:sp>
      <p:sp>
        <p:nvSpPr>
          <p:cNvPr id="15" name="Shape 13"/>
          <p:cNvSpPr/>
          <p:nvPr/>
        </p:nvSpPr>
        <p:spPr>
          <a:xfrm>
            <a:off x="841248" y="2167128"/>
            <a:ext cx="2880360" cy="612648"/>
          </a:xfrm>
          <a:prstGeom prst="rect">
            <a:avLst/>
          </a:prstGeom>
          <a:solidFill>
            <a:srgbClr val="F5F8FE"/>
          </a:solidFill>
          <a:ln w="12700">
            <a:solidFill>
              <a:srgbClr val="D8E1EE"/>
            </a:solidFill>
            <a:prstDash val="solid"/>
          </a:ln>
        </p:spPr>
        <p:txBody>
          <a:bodyPr/>
          <a:lstStyle/>
          <a:p>
            <a:endParaRPr lang="en-US"/>
          </a:p>
        </p:txBody>
      </p:sp>
      <p:sp>
        <p:nvSpPr>
          <p:cNvPr id="16" name="Text 14"/>
          <p:cNvSpPr/>
          <p:nvPr/>
        </p:nvSpPr>
        <p:spPr>
          <a:xfrm>
            <a:off x="914400" y="2286000"/>
            <a:ext cx="2734056" cy="365760"/>
          </a:xfrm>
          <a:prstGeom prst="rect">
            <a:avLst/>
          </a:prstGeom>
          <a:noFill/>
          <a:ln/>
        </p:spPr>
        <p:txBody>
          <a:bodyPr wrap="square" lIns="127" tIns="127" rIns="127" bIns="127" rtlCol="0" anchor="ctr"/>
          <a:lstStyle/>
          <a:p>
            <a:pPr marL="0" indent="0" algn="l">
              <a:buNone/>
            </a:pPr>
            <a:r>
              <a:rPr lang="en-US" sz="1250" dirty="0">
                <a:solidFill>
                  <a:srgbClr val="1E2A3A"/>
                </a:solidFill>
              </a:rPr>
              <a:t>Physical source</a:t>
            </a:r>
            <a:endParaRPr lang="en-US" sz="1250" dirty="0"/>
          </a:p>
        </p:txBody>
      </p:sp>
      <p:sp>
        <p:nvSpPr>
          <p:cNvPr id="17" name="Shape 15"/>
          <p:cNvSpPr/>
          <p:nvPr/>
        </p:nvSpPr>
        <p:spPr>
          <a:xfrm>
            <a:off x="3721608" y="2167128"/>
            <a:ext cx="2697480" cy="612648"/>
          </a:xfrm>
          <a:prstGeom prst="rect">
            <a:avLst/>
          </a:prstGeom>
          <a:solidFill>
            <a:srgbClr val="FFFFFF"/>
          </a:solidFill>
          <a:ln w="12700">
            <a:solidFill>
              <a:srgbClr val="D8E1EE"/>
            </a:solidFill>
            <a:prstDash val="solid"/>
          </a:ln>
        </p:spPr>
        <p:txBody>
          <a:bodyPr/>
          <a:lstStyle/>
          <a:p>
            <a:endParaRPr lang="en-US"/>
          </a:p>
        </p:txBody>
      </p:sp>
      <p:sp>
        <p:nvSpPr>
          <p:cNvPr id="18" name="Text 16"/>
          <p:cNvSpPr/>
          <p:nvPr/>
        </p:nvSpPr>
        <p:spPr>
          <a:xfrm>
            <a:off x="3794760" y="2286000"/>
            <a:ext cx="2551176" cy="365760"/>
          </a:xfrm>
          <a:prstGeom prst="rect">
            <a:avLst/>
          </a:prstGeom>
          <a:noFill/>
          <a:ln/>
        </p:spPr>
        <p:txBody>
          <a:bodyPr wrap="square" lIns="127" tIns="127" rIns="127" bIns="127" rtlCol="0" anchor="ctr"/>
          <a:lstStyle/>
          <a:p>
            <a:pPr marL="0" indent="0" algn="ctr">
              <a:buNone/>
            </a:pPr>
            <a:r>
              <a:rPr lang="en-US" sz="1250" dirty="0">
                <a:solidFill>
                  <a:srgbClr val="1E2A3A"/>
                </a:solidFill>
              </a:rPr>
              <a:t>folder of JSON files</a:t>
            </a:r>
            <a:endParaRPr lang="en-US" sz="1250" dirty="0"/>
          </a:p>
        </p:txBody>
      </p:sp>
      <p:sp>
        <p:nvSpPr>
          <p:cNvPr id="19" name="Shape 17"/>
          <p:cNvSpPr/>
          <p:nvPr/>
        </p:nvSpPr>
        <p:spPr>
          <a:xfrm>
            <a:off x="6419088" y="2167128"/>
            <a:ext cx="2697480" cy="612648"/>
          </a:xfrm>
          <a:prstGeom prst="rect">
            <a:avLst/>
          </a:prstGeom>
          <a:solidFill>
            <a:srgbClr val="FFFFFF"/>
          </a:solidFill>
          <a:ln w="12700">
            <a:solidFill>
              <a:srgbClr val="D8E1EE"/>
            </a:solidFill>
            <a:prstDash val="solid"/>
          </a:ln>
        </p:spPr>
        <p:txBody>
          <a:bodyPr/>
          <a:lstStyle/>
          <a:p>
            <a:endParaRPr lang="en-US"/>
          </a:p>
        </p:txBody>
      </p:sp>
      <p:sp>
        <p:nvSpPr>
          <p:cNvPr id="20" name="Text 18"/>
          <p:cNvSpPr/>
          <p:nvPr/>
        </p:nvSpPr>
        <p:spPr>
          <a:xfrm>
            <a:off x="6492240" y="2286000"/>
            <a:ext cx="2551176" cy="365760"/>
          </a:xfrm>
          <a:prstGeom prst="rect">
            <a:avLst/>
          </a:prstGeom>
          <a:noFill/>
          <a:ln/>
        </p:spPr>
        <p:txBody>
          <a:bodyPr wrap="square" lIns="127" tIns="127" rIns="127" bIns="127" rtlCol="0" anchor="ctr"/>
          <a:lstStyle/>
          <a:p>
            <a:pPr marL="0" indent="0" algn="ctr">
              <a:buNone/>
            </a:pPr>
            <a:r>
              <a:rPr lang="en-US" sz="1250" dirty="0">
                <a:solidFill>
                  <a:srgbClr val="1E2A3A"/>
                </a:solidFill>
              </a:rPr>
              <a:t>database view or table</a:t>
            </a:r>
            <a:endParaRPr lang="en-US" sz="1250" dirty="0"/>
          </a:p>
        </p:txBody>
      </p:sp>
      <p:sp>
        <p:nvSpPr>
          <p:cNvPr id="21" name="Shape 19"/>
          <p:cNvSpPr/>
          <p:nvPr/>
        </p:nvSpPr>
        <p:spPr>
          <a:xfrm>
            <a:off x="9116568" y="2167128"/>
            <a:ext cx="2697480" cy="612648"/>
          </a:xfrm>
          <a:prstGeom prst="rect">
            <a:avLst/>
          </a:prstGeom>
          <a:solidFill>
            <a:srgbClr val="FFFFFF"/>
          </a:solidFill>
          <a:ln w="12700">
            <a:solidFill>
              <a:srgbClr val="D8E1EE"/>
            </a:solidFill>
            <a:prstDash val="solid"/>
          </a:ln>
        </p:spPr>
        <p:txBody>
          <a:bodyPr/>
          <a:lstStyle/>
          <a:p>
            <a:endParaRPr lang="en-US"/>
          </a:p>
        </p:txBody>
      </p:sp>
      <p:sp>
        <p:nvSpPr>
          <p:cNvPr id="22" name="Text 20"/>
          <p:cNvSpPr/>
          <p:nvPr/>
        </p:nvSpPr>
        <p:spPr>
          <a:xfrm>
            <a:off x="9189720" y="2286000"/>
            <a:ext cx="2551176" cy="365760"/>
          </a:xfrm>
          <a:prstGeom prst="rect">
            <a:avLst/>
          </a:prstGeom>
          <a:noFill/>
          <a:ln/>
        </p:spPr>
        <p:txBody>
          <a:bodyPr wrap="square" lIns="127" tIns="127" rIns="127" bIns="127" rtlCol="0" anchor="ctr"/>
          <a:lstStyle/>
          <a:p>
            <a:pPr marL="0" indent="0" algn="ctr">
              <a:buNone/>
            </a:pPr>
            <a:r>
              <a:rPr lang="en-US" sz="1250" b="1" dirty="0">
                <a:solidFill>
                  <a:srgbClr val="13233F"/>
                </a:solidFill>
              </a:rPr>
              <a:t>match the physical reality</a:t>
            </a:r>
            <a:endParaRPr lang="en-US" sz="1250" dirty="0"/>
          </a:p>
        </p:txBody>
      </p:sp>
      <p:sp>
        <p:nvSpPr>
          <p:cNvPr id="23" name="Shape 21"/>
          <p:cNvSpPr/>
          <p:nvPr/>
        </p:nvSpPr>
        <p:spPr>
          <a:xfrm>
            <a:off x="841248" y="2779776"/>
            <a:ext cx="2880360" cy="612648"/>
          </a:xfrm>
          <a:prstGeom prst="rect">
            <a:avLst/>
          </a:prstGeom>
          <a:solidFill>
            <a:srgbClr val="F5F8FE"/>
          </a:solidFill>
          <a:ln w="12700">
            <a:solidFill>
              <a:srgbClr val="D8E1EE"/>
            </a:solidFill>
            <a:prstDash val="solid"/>
          </a:ln>
        </p:spPr>
        <p:txBody>
          <a:bodyPr/>
          <a:lstStyle/>
          <a:p>
            <a:endParaRPr lang="en-US"/>
          </a:p>
        </p:txBody>
      </p:sp>
      <p:sp>
        <p:nvSpPr>
          <p:cNvPr id="24" name="Text 22"/>
          <p:cNvSpPr/>
          <p:nvPr/>
        </p:nvSpPr>
        <p:spPr>
          <a:xfrm>
            <a:off x="914400" y="2898648"/>
            <a:ext cx="2734056" cy="365760"/>
          </a:xfrm>
          <a:prstGeom prst="rect">
            <a:avLst/>
          </a:prstGeom>
          <a:noFill/>
          <a:ln/>
        </p:spPr>
        <p:txBody>
          <a:bodyPr wrap="square" lIns="127" tIns="127" rIns="127" bIns="127" rtlCol="0" anchor="ctr"/>
          <a:lstStyle/>
          <a:p>
            <a:pPr marL="0" indent="0" algn="l">
              <a:buNone/>
            </a:pPr>
            <a:r>
              <a:rPr lang="en-US" sz="1250" dirty="0">
                <a:solidFill>
                  <a:srgbClr val="1E2A3A"/>
                </a:solidFill>
              </a:rPr>
              <a:t>Best phase</a:t>
            </a:r>
            <a:endParaRPr lang="en-US" sz="1250" dirty="0"/>
          </a:p>
        </p:txBody>
      </p:sp>
      <p:sp>
        <p:nvSpPr>
          <p:cNvPr id="25" name="Shape 23"/>
          <p:cNvSpPr/>
          <p:nvPr/>
        </p:nvSpPr>
        <p:spPr>
          <a:xfrm>
            <a:off x="3721608" y="2779776"/>
            <a:ext cx="2697480" cy="612648"/>
          </a:xfrm>
          <a:prstGeom prst="rect">
            <a:avLst/>
          </a:prstGeom>
          <a:solidFill>
            <a:srgbClr val="FBFCFE"/>
          </a:solidFill>
          <a:ln w="12700">
            <a:solidFill>
              <a:srgbClr val="D8E1EE"/>
            </a:solidFill>
            <a:prstDash val="solid"/>
          </a:ln>
        </p:spPr>
        <p:txBody>
          <a:bodyPr/>
          <a:lstStyle/>
          <a:p>
            <a:endParaRPr lang="en-US"/>
          </a:p>
        </p:txBody>
      </p:sp>
      <p:sp>
        <p:nvSpPr>
          <p:cNvPr id="26" name="Text 24"/>
          <p:cNvSpPr/>
          <p:nvPr/>
        </p:nvSpPr>
        <p:spPr>
          <a:xfrm>
            <a:off x="3794760" y="2898648"/>
            <a:ext cx="2551176" cy="365760"/>
          </a:xfrm>
          <a:prstGeom prst="rect">
            <a:avLst/>
          </a:prstGeom>
          <a:noFill/>
          <a:ln/>
        </p:spPr>
        <p:txBody>
          <a:bodyPr wrap="square" lIns="127" tIns="127" rIns="127" bIns="127" rtlCol="0" anchor="ctr"/>
          <a:lstStyle/>
          <a:p>
            <a:pPr marL="0" indent="0" algn="ctr">
              <a:buNone/>
            </a:pPr>
            <a:r>
              <a:rPr lang="en-US" sz="1250" dirty="0">
                <a:solidFill>
                  <a:srgbClr val="1E2A3A"/>
                </a:solidFill>
              </a:rPr>
              <a:t>rapid POC / file analytics</a:t>
            </a:r>
            <a:endParaRPr lang="en-US" sz="1250" dirty="0"/>
          </a:p>
        </p:txBody>
      </p:sp>
      <p:sp>
        <p:nvSpPr>
          <p:cNvPr id="27" name="Shape 25"/>
          <p:cNvSpPr/>
          <p:nvPr/>
        </p:nvSpPr>
        <p:spPr>
          <a:xfrm>
            <a:off x="6419088" y="2779776"/>
            <a:ext cx="2697480" cy="612648"/>
          </a:xfrm>
          <a:prstGeom prst="rect">
            <a:avLst/>
          </a:prstGeom>
          <a:solidFill>
            <a:srgbClr val="FBFCFE"/>
          </a:solidFill>
          <a:ln w="12700">
            <a:solidFill>
              <a:srgbClr val="D8E1EE"/>
            </a:solidFill>
            <a:prstDash val="solid"/>
          </a:ln>
        </p:spPr>
        <p:txBody>
          <a:bodyPr/>
          <a:lstStyle/>
          <a:p>
            <a:endParaRPr lang="en-US"/>
          </a:p>
        </p:txBody>
      </p:sp>
      <p:sp>
        <p:nvSpPr>
          <p:cNvPr id="28" name="Text 26"/>
          <p:cNvSpPr/>
          <p:nvPr/>
        </p:nvSpPr>
        <p:spPr>
          <a:xfrm>
            <a:off x="6492240" y="2898648"/>
            <a:ext cx="2551176" cy="365760"/>
          </a:xfrm>
          <a:prstGeom prst="rect">
            <a:avLst/>
          </a:prstGeom>
          <a:noFill/>
          <a:ln/>
        </p:spPr>
        <p:txBody>
          <a:bodyPr wrap="square" lIns="127" tIns="127" rIns="127" bIns="127" rtlCol="0" anchor="ctr"/>
          <a:lstStyle/>
          <a:p>
            <a:pPr marL="0" indent="0" algn="ctr">
              <a:buNone/>
            </a:pPr>
            <a:r>
              <a:rPr lang="en-US" sz="1250" dirty="0">
                <a:solidFill>
                  <a:srgbClr val="1E2A3A"/>
                </a:solidFill>
              </a:rPr>
              <a:t>enterprise-ready pipeline</a:t>
            </a:r>
            <a:endParaRPr lang="en-US" sz="1250" dirty="0"/>
          </a:p>
        </p:txBody>
      </p:sp>
      <p:sp>
        <p:nvSpPr>
          <p:cNvPr id="29" name="Shape 27"/>
          <p:cNvSpPr/>
          <p:nvPr/>
        </p:nvSpPr>
        <p:spPr>
          <a:xfrm>
            <a:off x="9116568" y="2779776"/>
            <a:ext cx="2697480" cy="612648"/>
          </a:xfrm>
          <a:prstGeom prst="rect">
            <a:avLst/>
          </a:prstGeom>
          <a:solidFill>
            <a:srgbClr val="FBFCFE"/>
          </a:solidFill>
          <a:ln w="12700">
            <a:solidFill>
              <a:srgbClr val="D8E1EE"/>
            </a:solidFill>
            <a:prstDash val="solid"/>
          </a:ln>
        </p:spPr>
        <p:txBody>
          <a:bodyPr/>
          <a:lstStyle/>
          <a:p>
            <a:endParaRPr lang="en-US"/>
          </a:p>
        </p:txBody>
      </p:sp>
      <p:sp>
        <p:nvSpPr>
          <p:cNvPr id="30" name="Text 28"/>
          <p:cNvSpPr/>
          <p:nvPr/>
        </p:nvSpPr>
        <p:spPr>
          <a:xfrm>
            <a:off x="9189720" y="2898648"/>
            <a:ext cx="2551176" cy="365760"/>
          </a:xfrm>
          <a:prstGeom prst="rect">
            <a:avLst/>
          </a:prstGeom>
          <a:noFill/>
          <a:ln/>
        </p:spPr>
        <p:txBody>
          <a:bodyPr wrap="square" lIns="127" tIns="127" rIns="127" bIns="127" rtlCol="0" anchor="ctr"/>
          <a:lstStyle/>
          <a:p>
            <a:pPr marL="0" indent="0" algn="ctr">
              <a:buNone/>
            </a:pPr>
            <a:r>
              <a:rPr lang="en-US" sz="1250" b="1" dirty="0">
                <a:solidFill>
                  <a:srgbClr val="13233F"/>
                </a:solidFill>
              </a:rPr>
              <a:t>prefer SQL if already curated</a:t>
            </a:r>
            <a:endParaRPr lang="en-US" sz="1250" dirty="0"/>
          </a:p>
        </p:txBody>
      </p:sp>
      <p:sp>
        <p:nvSpPr>
          <p:cNvPr id="31" name="Shape 29"/>
          <p:cNvSpPr/>
          <p:nvPr/>
        </p:nvSpPr>
        <p:spPr>
          <a:xfrm>
            <a:off x="841248" y="3392424"/>
            <a:ext cx="2880360" cy="612648"/>
          </a:xfrm>
          <a:prstGeom prst="rect">
            <a:avLst/>
          </a:prstGeom>
          <a:solidFill>
            <a:srgbClr val="F5F8FE"/>
          </a:solidFill>
          <a:ln w="12700">
            <a:solidFill>
              <a:srgbClr val="D8E1EE"/>
            </a:solidFill>
            <a:prstDash val="solid"/>
          </a:ln>
        </p:spPr>
        <p:txBody>
          <a:bodyPr/>
          <a:lstStyle/>
          <a:p>
            <a:endParaRPr lang="en-US"/>
          </a:p>
        </p:txBody>
      </p:sp>
      <p:sp>
        <p:nvSpPr>
          <p:cNvPr id="32" name="Text 30"/>
          <p:cNvSpPr/>
          <p:nvPr/>
        </p:nvSpPr>
        <p:spPr>
          <a:xfrm>
            <a:off x="914400" y="3511296"/>
            <a:ext cx="2734056" cy="365760"/>
          </a:xfrm>
          <a:prstGeom prst="rect">
            <a:avLst/>
          </a:prstGeom>
          <a:noFill/>
          <a:ln/>
        </p:spPr>
        <p:txBody>
          <a:bodyPr wrap="square" lIns="127" tIns="127" rIns="127" bIns="127" rtlCol="0" anchor="ctr"/>
          <a:lstStyle/>
          <a:p>
            <a:pPr marL="0" indent="0" algn="l">
              <a:buNone/>
            </a:pPr>
            <a:r>
              <a:rPr lang="en-US" sz="1250" dirty="0">
                <a:solidFill>
                  <a:srgbClr val="1E2A3A"/>
                </a:solidFill>
              </a:rPr>
              <a:t>Extra component</a:t>
            </a:r>
            <a:endParaRPr lang="en-US" sz="1250" dirty="0"/>
          </a:p>
        </p:txBody>
      </p:sp>
      <p:sp>
        <p:nvSpPr>
          <p:cNvPr id="33" name="Shape 31"/>
          <p:cNvSpPr/>
          <p:nvPr/>
        </p:nvSpPr>
        <p:spPr>
          <a:xfrm>
            <a:off x="3721608" y="3392424"/>
            <a:ext cx="2697480" cy="612648"/>
          </a:xfrm>
          <a:prstGeom prst="rect">
            <a:avLst/>
          </a:prstGeom>
          <a:solidFill>
            <a:srgbClr val="FFFFFF"/>
          </a:solidFill>
          <a:ln w="12700">
            <a:solidFill>
              <a:srgbClr val="D8E1EE"/>
            </a:solidFill>
            <a:prstDash val="solid"/>
          </a:ln>
        </p:spPr>
        <p:txBody>
          <a:bodyPr/>
          <a:lstStyle/>
          <a:p>
            <a:endParaRPr lang="en-US"/>
          </a:p>
        </p:txBody>
      </p:sp>
      <p:sp>
        <p:nvSpPr>
          <p:cNvPr id="34" name="Text 32"/>
          <p:cNvSpPr/>
          <p:nvPr/>
        </p:nvSpPr>
        <p:spPr>
          <a:xfrm>
            <a:off x="3794760" y="3511296"/>
            <a:ext cx="2551176" cy="365760"/>
          </a:xfrm>
          <a:prstGeom prst="rect">
            <a:avLst/>
          </a:prstGeom>
          <a:noFill/>
          <a:ln/>
        </p:spPr>
        <p:txBody>
          <a:bodyPr wrap="square" lIns="127" tIns="127" rIns="127" bIns="127" rtlCol="0" anchor="ctr"/>
          <a:lstStyle/>
          <a:p>
            <a:pPr marL="0" indent="0" algn="ctr">
              <a:buNone/>
            </a:pPr>
            <a:r>
              <a:rPr lang="en-US" sz="1250" dirty="0">
                <a:solidFill>
                  <a:srgbClr val="1E2A3A"/>
                </a:solidFill>
              </a:rPr>
              <a:t>requires DuckDB runtime</a:t>
            </a:r>
            <a:endParaRPr lang="en-US" sz="1250" dirty="0"/>
          </a:p>
        </p:txBody>
      </p:sp>
      <p:sp>
        <p:nvSpPr>
          <p:cNvPr id="35" name="Shape 33"/>
          <p:cNvSpPr/>
          <p:nvPr/>
        </p:nvSpPr>
        <p:spPr>
          <a:xfrm>
            <a:off x="6419088" y="3392424"/>
            <a:ext cx="2697480" cy="612648"/>
          </a:xfrm>
          <a:prstGeom prst="rect">
            <a:avLst/>
          </a:prstGeom>
          <a:solidFill>
            <a:srgbClr val="FFFFFF"/>
          </a:solidFill>
          <a:ln w="12700">
            <a:solidFill>
              <a:srgbClr val="D8E1EE"/>
            </a:solidFill>
            <a:prstDash val="solid"/>
          </a:ln>
        </p:spPr>
        <p:txBody>
          <a:bodyPr/>
          <a:lstStyle/>
          <a:p>
            <a:endParaRPr lang="en-US"/>
          </a:p>
        </p:txBody>
      </p:sp>
      <p:sp>
        <p:nvSpPr>
          <p:cNvPr id="36" name="Text 34"/>
          <p:cNvSpPr/>
          <p:nvPr/>
        </p:nvSpPr>
        <p:spPr>
          <a:xfrm>
            <a:off x="6492240" y="3511296"/>
            <a:ext cx="2551176" cy="365760"/>
          </a:xfrm>
          <a:prstGeom prst="rect">
            <a:avLst/>
          </a:prstGeom>
          <a:noFill/>
          <a:ln/>
        </p:spPr>
        <p:txBody>
          <a:bodyPr wrap="square" lIns="127" tIns="127" rIns="127" bIns="127" rtlCol="0" anchor="ctr"/>
          <a:lstStyle/>
          <a:p>
            <a:pPr marL="0" indent="0" algn="ctr">
              <a:buNone/>
            </a:pPr>
            <a:r>
              <a:rPr lang="en-US" sz="1250" dirty="0">
                <a:solidFill>
                  <a:srgbClr val="1E2A3A"/>
                </a:solidFill>
              </a:rPr>
              <a:t>no DuckDB required</a:t>
            </a:r>
            <a:endParaRPr lang="en-US" sz="1250" dirty="0"/>
          </a:p>
        </p:txBody>
      </p:sp>
      <p:sp>
        <p:nvSpPr>
          <p:cNvPr id="37" name="Shape 35"/>
          <p:cNvSpPr/>
          <p:nvPr/>
        </p:nvSpPr>
        <p:spPr>
          <a:xfrm>
            <a:off x="9116568" y="3392424"/>
            <a:ext cx="2697480" cy="612648"/>
          </a:xfrm>
          <a:prstGeom prst="rect">
            <a:avLst/>
          </a:prstGeom>
          <a:solidFill>
            <a:srgbClr val="FFFFFF"/>
          </a:solidFill>
          <a:ln w="12700">
            <a:solidFill>
              <a:srgbClr val="D8E1EE"/>
            </a:solidFill>
            <a:prstDash val="solid"/>
          </a:ln>
        </p:spPr>
        <p:txBody>
          <a:bodyPr/>
          <a:lstStyle/>
          <a:p>
            <a:endParaRPr lang="en-US"/>
          </a:p>
        </p:txBody>
      </p:sp>
      <p:sp>
        <p:nvSpPr>
          <p:cNvPr id="38" name="Text 36"/>
          <p:cNvSpPr/>
          <p:nvPr/>
        </p:nvSpPr>
        <p:spPr>
          <a:xfrm>
            <a:off x="9189720" y="3511296"/>
            <a:ext cx="2551176" cy="365760"/>
          </a:xfrm>
          <a:prstGeom prst="rect">
            <a:avLst/>
          </a:prstGeom>
          <a:noFill/>
          <a:ln/>
        </p:spPr>
        <p:txBody>
          <a:bodyPr wrap="square" lIns="127" tIns="127" rIns="127" bIns="127" rtlCol="0" anchor="ctr"/>
          <a:lstStyle/>
          <a:p>
            <a:pPr marL="0" indent="0" algn="ctr">
              <a:buNone/>
            </a:pPr>
            <a:r>
              <a:rPr lang="en-US" sz="1250" b="1" dirty="0">
                <a:solidFill>
                  <a:srgbClr val="13233F"/>
                </a:solidFill>
              </a:rPr>
              <a:t>reduce components when possible</a:t>
            </a:r>
            <a:endParaRPr lang="en-US" sz="1250" dirty="0"/>
          </a:p>
        </p:txBody>
      </p:sp>
      <p:sp>
        <p:nvSpPr>
          <p:cNvPr id="39" name="Shape 37"/>
          <p:cNvSpPr/>
          <p:nvPr/>
        </p:nvSpPr>
        <p:spPr>
          <a:xfrm>
            <a:off x="841248" y="4005072"/>
            <a:ext cx="2880360" cy="612648"/>
          </a:xfrm>
          <a:prstGeom prst="rect">
            <a:avLst/>
          </a:prstGeom>
          <a:solidFill>
            <a:srgbClr val="F5F8FE"/>
          </a:solidFill>
          <a:ln w="12700">
            <a:solidFill>
              <a:srgbClr val="D8E1EE"/>
            </a:solidFill>
            <a:prstDash val="solid"/>
          </a:ln>
        </p:spPr>
        <p:txBody>
          <a:bodyPr/>
          <a:lstStyle/>
          <a:p>
            <a:endParaRPr lang="en-US"/>
          </a:p>
        </p:txBody>
      </p:sp>
      <p:sp>
        <p:nvSpPr>
          <p:cNvPr id="40" name="Text 38"/>
          <p:cNvSpPr/>
          <p:nvPr/>
        </p:nvSpPr>
        <p:spPr>
          <a:xfrm>
            <a:off x="914400" y="4123944"/>
            <a:ext cx="2734056" cy="365760"/>
          </a:xfrm>
          <a:prstGeom prst="rect">
            <a:avLst/>
          </a:prstGeom>
          <a:noFill/>
          <a:ln/>
        </p:spPr>
        <p:txBody>
          <a:bodyPr wrap="square" lIns="127" tIns="127" rIns="127" bIns="127" rtlCol="0" anchor="ctr"/>
          <a:lstStyle/>
          <a:p>
            <a:pPr marL="0" indent="0" algn="l">
              <a:buNone/>
            </a:pPr>
            <a:r>
              <a:rPr lang="en-US" sz="1250" dirty="0">
                <a:solidFill>
                  <a:srgbClr val="1E2A3A"/>
                </a:solidFill>
              </a:rPr>
              <a:t>Semantic layer role</a:t>
            </a:r>
            <a:endParaRPr lang="en-US" sz="1250" dirty="0"/>
          </a:p>
        </p:txBody>
      </p:sp>
      <p:sp>
        <p:nvSpPr>
          <p:cNvPr id="41" name="Shape 39"/>
          <p:cNvSpPr/>
          <p:nvPr/>
        </p:nvSpPr>
        <p:spPr>
          <a:xfrm>
            <a:off x="3721608" y="4005072"/>
            <a:ext cx="2697480" cy="612648"/>
          </a:xfrm>
          <a:prstGeom prst="rect">
            <a:avLst/>
          </a:prstGeom>
          <a:solidFill>
            <a:srgbClr val="FBFCFE"/>
          </a:solidFill>
          <a:ln w="12700">
            <a:solidFill>
              <a:srgbClr val="D8E1EE"/>
            </a:solidFill>
            <a:prstDash val="solid"/>
          </a:ln>
        </p:spPr>
        <p:txBody>
          <a:bodyPr/>
          <a:lstStyle/>
          <a:p>
            <a:endParaRPr lang="en-US"/>
          </a:p>
        </p:txBody>
      </p:sp>
      <p:sp>
        <p:nvSpPr>
          <p:cNvPr id="42" name="Text 40"/>
          <p:cNvSpPr/>
          <p:nvPr/>
        </p:nvSpPr>
        <p:spPr>
          <a:xfrm>
            <a:off x="3794760" y="4123944"/>
            <a:ext cx="2551176" cy="365760"/>
          </a:xfrm>
          <a:prstGeom prst="rect">
            <a:avLst/>
          </a:prstGeom>
          <a:noFill/>
          <a:ln/>
        </p:spPr>
        <p:txBody>
          <a:bodyPr wrap="square" lIns="127" tIns="127" rIns="127" bIns="127" rtlCol="0" anchor="ctr"/>
          <a:lstStyle/>
          <a:p>
            <a:pPr marL="0" indent="0" algn="ctr">
              <a:buNone/>
            </a:pPr>
            <a:r>
              <a:rPr lang="en-US" sz="1250" dirty="0">
                <a:solidFill>
                  <a:srgbClr val="1E2A3A"/>
                </a:solidFill>
              </a:rPr>
              <a:t>same in both options</a:t>
            </a:r>
            <a:endParaRPr lang="en-US" sz="1250" dirty="0"/>
          </a:p>
        </p:txBody>
      </p:sp>
      <p:sp>
        <p:nvSpPr>
          <p:cNvPr id="43" name="Shape 41"/>
          <p:cNvSpPr/>
          <p:nvPr/>
        </p:nvSpPr>
        <p:spPr>
          <a:xfrm>
            <a:off x="6419088" y="4005072"/>
            <a:ext cx="2697480" cy="612648"/>
          </a:xfrm>
          <a:prstGeom prst="rect">
            <a:avLst/>
          </a:prstGeom>
          <a:solidFill>
            <a:srgbClr val="FBFCFE"/>
          </a:solidFill>
          <a:ln w="12700">
            <a:solidFill>
              <a:srgbClr val="D8E1EE"/>
            </a:solidFill>
            <a:prstDash val="solid"/>
          </a:ln>
        </p:spPr>
        <p:txBody>
          <a:bodyPr/>
          <a:lstStyle/>
          <a:p>
            <a:endParaRPr lang="en-US"/>
          </a:p>
        </p:txBody>
      </p:sp>
      <p:sp>
        <p:nvSpPr>
          <p:cNvPr id="44" name="Text 42"/>
          <p:cNvSpPr/>
          <p:nvPr/>
        </p:nvSpPr>
        <p:spPr>
          <a:xfrm>
            <a:off x="6492240" y="4123944"/>
            <a:ext cx="2551176" cy="365760"/>
          </a:xfrm>
          <a:prstGeom prst="rect">
            <a:avLst/>
          </a:prstGeom>
          <a:noFill/>
          <a:ln/>
        </p:spPr>
        <p:txBody>
          <a:bodyPr wrap="square" lIns="127" tIns="127" rIns="127" bIns="127" rtlCol="0" anchor="ctr"/>
          <a:lstStyle/>
          <a:p>
            <a:pPr marL="0" indent="0" algn="ctr">
              <a:buNone/>
            </a:pPr>
            <a:r>
              <a:rPr lang="en-US" sz="1250" dirty="0">
                <a:solidFill>
                  <a:srgbClr val="1E2A3A"/>
                </a:solidFill>
              </a:rPr>
              <a:t>same in both options</a:t>
            </a:r>
            <a:endParaRPr lang="en-US" sz="1250" dirty="0"/>
          </a:p>
        </p:txBody>
      </p:sp>
      <p:sp>
        <p:nvSpPr>
          <p:cNvPr id="45" name="Shape 43"/>
          <p:cNvSpPr/>
          <p:nvPr/>
        </p:nvSpPr>
        <p:spPr>
          <a:xfrm>
            <a:off x="9116568" y="4005072"/>
            <a:ext cx="2697480" cy="612648"/>
          </a:xfrm>
          <a:prstGeom prst="rect">
            <a:avLst/>
          </a:prstGeom>
          <a:solidFill>
            <a:srgbClr val="FBFCFE"/>
          </a:solidFill>
          <a:ln w="12700">
            <a:solidFill>
              <a:srgbClr val="D8E1EE"/>
            </a:solidFill>
            <a:prstDash val="solid"/>
          </a:ln>
        </p:spPr>
        <p:txBody>
          <a:bodyPr/>
          <a:lstStyle/>
          <a:p>
            <a:endParaRPr lang="en-US"/>
          </a:p>
        </p:txBody>
      </p:sp>
      <p:sp>
        <p:nvSpPr>
          <p:cNvPr id="46" name="Text 44"/>
          <p:cNvSpPr/>
          <p:nvPr/>
        </p:nvSpPr>
        <p:spPr>
          <a:xfrm>
            <a:off x="9189720" y="4123944"/>
            <a:ext cx="2551176" cy="365760"/>
          </a:xfrm>
          <a:prstGeom prst="rect">
            <a:avLst/>
          </a:prstGeom>
          <a:noFill/>
          <a:ln/>
        </p:spPr>
        <p:txBody>
          <a:bodyPr wrap="square" lIns="127" tIns="127" rIns="127" bIns="127" rtlCol="0" anchor="ctr"/>
          <a:lstStyle/>
          <a:p>
            <a:pPr marL="0" indent="0" algn="ctr">
              <a:buNone/>
            </a:pPr>
            <a:r>
              <a:rPr lang="en-US" sz="1250" b="1" dirty="0">
                <a:solidFill>
                  <a:srgbClr val="13233F"/>
                </a:solidFill>
              </a:rPr>
              <a:t>always keep KPI logic in dbt</a:t>
            </a:r>
            <a:endParaRPr lang="en-US" sz="1250" dirty="0"/>
          </a:p>
        </p:txBody>
      </p:sp>
      <p:sp>
        <p:nvSpPr>
          <p:cNvPr id="47" name="Shape 45"/>
          <p:cNvSpPr/>
          <p:nvPr/>
        </p:nvSpPr>
        <p:spPr>
          <a:xfrm>
            <a:off x="841248" y="4617720"/>
            <a:ext cx="2880360" cy="612648"/>
          </a:xfrm>
          <a:prstGeom prst="rect">
            <a:avLst/>
          </a:prstGeom>
          <a:solidFill>
            <a:srgbClr val="F5F8FE"/>
          </a:solidFill>
          <a:ln w="12700">
            <a:solidFill>
              <a:srgbClr val="D8E1EE"/>
            </a:solidFill>
            <a:prstDash val="solid"/>
          </a:ln>
        </p:spPr>
        <p:txBody>
          <a:bodyPr/>
          <a:lstStyle/>
          <a:p>
            <a:endParaRPr lang="en-US"/>
          </a:p>
        </p:txBody>
      </p:sp>
      <p:sp>
        <p:nvSpPr>
          <p:cNvPr id="48" name="Text 46"/>
          <p:cNvSpPr/>
          <p:nvPr/>
        </p:nvSpPr>
        <p:spPr>
          <a:xfrm>
            <a:off x="914400" y="4736592"/>
            <a:ext cx="2734056" cy="365760"/>
          </a:xfrm>
          <a:prstGeom prst="rect">
            <a:avLst/>
          </a:prstGeom>
          <a:noFill/>
          <a:ln/>
        </p:spPr>
        <p:txBody>
          <a:bodyPr wrap="square" lIns="127" tIns="127" rIns="127" bIns="127" rtlCol="0" anchor="ctr"/>
          <a:lstStyle/>
          <a:p>
            <a:pPr marL="0" indent="0" algn="l">
              <a:buNone/>
            </a:pPr>
            <a:r>
              <a:rPr lang="en-US" sz="1250" dirty="0">
                <a:solidFill>
                  <a:srgbClr val="1E2A3A"/>
                </a:solidFill>
              </a:rPr>
              <a:t>LLM exposure</a:t>
            </a:r>
            <a:endParaRPr lang="en-US" sz="1250" dirty="0"/>
          </a:p>
        </p:txBody>
      </p:sp>
      <p:sp>
        <p:nvSpPr>
          <p:cNvPr id="49" name="Shape 47"/>
          <p:cNvSpPr/>
          <p:nvPr/>
        </p:nvSpPr>
        <p:spPr>
          <a:xfrm>
            <a:off x="3721608" y="4617720"/>
            <a:ext cx="2697480" cy="612648"/>
          </a:xfrm>
          <a:prstGeom prst="rect">
            <a:avLst/>
          </a:prstGeom>
          <a:solidFill>
            <a:srgbClr val="FFFFFF"/>
          </a:solidFill>
          <a:ln w="12700">
            <a:solidFill>
              <a:srgbClr val="D8E1EE"/>
            </a:solidFill>
            <a:prstDash val="solid"/>
          </a:ln>
        </p:spPr>
        <p:txBody>
          <a:bodyPr/>
          <a:lstStyle/>
          <a:p>
            <a:endParaRPr lang="en-US"/>
          </a:p>
        </p:txBody>
      </p:sp>
      <p:sp>
        <p:nvSpPr>
          <p:cNvPr id="50" name="Text 48"/>
          <p:cNvSpPr/>
          <p:nvPr/>
        </p:nvSpPr>
        <p:spPr>
          <a:xfrm>
            <a:off x="3794760" y="4736592"/>
            <a:ext cx="2551176" cy="365760"/>
          </a:xfrm>
          <a:prstGeom prst="rect">
            <a:avLst/>
          </a:prstGeom>
          <a:noFill/>
          <a:ln/>
        </p:spPr>
        <p:txBody>
          <a:bodyPr wrap="square" lIns="127" tIns="127" rIns="127" bIns="127" rtlCol="0" anchor="ctr"/>
          <a:lstStyle/>
          <a:p>
            <a:pPr marL="0" indent="0" algn="ctr">
              <a:buNone/>
            </a:pPr>
            <a:r>
              <a:rPr lang="en-US" sz="1250" dirty="0">
                <a:solidFill>
                  <a:srgbClr val="1E2A3A"/>
                </a:solidFill>
              </a:rPr>
              <a:t>never sees raw codes directly</a:t>
            </a:r>
            <a:endParaRPr lang="en-US" sz="1250" dirty="0"/>
          </a:p>
        </p:txBody>
      </p:sp>
      <p:sp>
        <p:nvSpPr>
          <p:cNvPr id="51" name="Shape 49"/>
          <p:cNvSpPr/>
          <p:nvPr/>
        </p:nvSpPr>
        <p:spPr>
          <a:xfrm>
            <a:off x="6419088" y="4617720"/>
            <a:ext cx="2697480" cy="612648"/>
          </a:xfrm>
          <a:prstGeom prst="rect">
            <a:avLst/>
          </a:prstGeom>
          <a:solidFill>
            <a:srgbClr val="FFFFFF"/>
          </a:solidFill>
          <a:ln w="12700">
            <a:solidFill>
              <a:srgbClr val="D8E1EE"/>
            </a:solidFill>
            <a:prstDash val="solid"/>
          </a:ln>
        </p:spPr>
        <p:txBody>
          <a:bodyPr/>
          <a:lstStyle/>
          <a:p>
            <a:endParaRPr lang="en-US"/>
          </a:p>
        </p:txBody>
      </p:sp>
      <p:sp>
        <p:nvSpPr>
          <p:cNvPr id="52" name="Text 50"/>
          <p:cNvSpPr/>
          <p:nvPr/>
        </p:nvSpPr>
        <p:spPr>
          <a:xfrm>
            <a:off x="6492240" y="4736592"/>
            <a:ext cx="2551176" cy="365760"/>
          </a:xfrm>
          <a:prstGeom prst="rect">
            <a:avLst/>
          </a:prstGeom>
          <a:noFill/>
          <a:ln/>
        </p:spPr>
        <p:txBody>
          <a:bodyPr wrap="square" lIns="127" tIns="127" rIns="127" bIns="127" rtlCol="0" anchor="ctr"/>
          <a:lstStyle/>
          <a:p>
            <a:pPr marL="0" indent="0" algn="ctr">
              <a:buNone/>
            </a:pPr>
            <a:r>
              <a:rPr lang="en-US" sz="1250" dirty="0">
                <a:solidFill>
                  <a:srgbClr val="1E2A3A"/>
                </a:solidFill>
              </a:rPr>
              <a:t>never sees raw codes directly</a:t>
            </a:r>
            <a:endParaRPr lang="en-US" sz="1250" dirty="0"/>
          </a:p>
        </p:txBody>
      </p:sp>
      <p:sp>
        <p:nvSpPr>
          <p:cNvPr id="53" name="Shape 51"/>
          <p:cNvSpPr/>
          <p:nvPr/>
        </p:nvSpPr>
        <p:spPr>
          <a:xfrm>
            <a:off x="9116568" y="4617720"/>
            <a:ext cx="2697480" cy="612648"/>
          </a:xfrm>
          <a:prstGeom prst="rect">
            <a:avLst/>
          </a:prstGeom>
          <a:solidFill>
            <a:srgbClr val="FFFFFF"/>
          </a:solidFill>
          <a:ln w="12700">
            <a:solidFill>
              <a:srgbClr val="D8E1EE"/>
            </a:solidFill>
            <a:prstDash val="solid"/>
          </a:ln>
        </p:spPr>
        <p:txBody>
          <a:bodyPr/>
          <a:lstStyle/>
          <a:p>
            <a:endParaRPr lang="en-US"/>
          </a:p>
        </p:txBody>
      </p:sp>
      <p:sp>
        <p:nvSpPr>
          <p:cNvPr id="54" name="Text 52"/>
          <p:cNvSpPr/>
          <p:nvPr/>
        </p:nvSpPr>
        <p:spPr>
          <a:xfrm>
            <a:off x="9189720" y="4736592"/>
            <a:ext cx="2551176" cy="365760"/>
          </a:xfrm>
          <a:prstGeom prst="rect">
            <a:avLst/>
          </a:prstGeom>
          <a:noFill/>
          <a:ln/>
        </p:spPr>
        <p:txBody>
          <a:bodyPr wrap="square" lIns="127" tIns="127" rIns="127" bIns="127" rtlCol="0" anchor="ctr"/>
          <a:lstStyle/>
          <a:p>
            <a:pPr marL="0" indent="0" algn="ctr">
              <a:buNone/>
            </a:pPr>
            <a:r>
              <a:rPr lang="en-US" sz="1250" b="1" dirty="0">
                <a:solidFill>
                  <a:srgbClr val="13233F"/>
                </a:solidFill>
              </a:rPr>
              <a:t>semantic contract is mandatory</a:t>
            </a:r>
            <a:endParaRPr lang="en-US" sz="1250" dirty="0"/>
          </a:p>
        </p:txBody>
      </p:sp>
      <p:sp>
        <p:nvSpPr>
          <p:cNvPr id="55" name="Shape 53"/>
          <p:cNvSpPr/>
          <p:nvPr/>
        </p:nvSpPr>
        <p:spPr>
          <a:xfrm>
            <a:off x="3108960" y="5440680"/>
            <a:ext cx="6035040" cy="329184"/>
          </a:xfrm>
          <a:prstGeom prst="roundRect">
            <a:avLst>
              <a:gd name="adj" fmla="val 22222"/>
            </a:avLst>
          </a:prstGeom>
          <a:solidFill>
            <a:srgbClr val="DFF7F3"/>
          </a:solidFill>
          <a:ln w="12700">
            <a:solidFill>
              <a:srgbClr val="DFF7F3">
                <a:alpha val="0"/>
              </a:srgbClr>
            </a:solidFill>
            <a:prstDash val="solid"/>
          </a:ln>
        </p:spPr>
        <p:txBody>
          <a:bodyPr/>
          <a:lstStyle/>
          <a:p>
            <a:endParaRPr lang="en-US"/>
          </a:p>
        </p:txBody>
      </p:sp>
      <p:sp>
        <p:nvSpPr>
          <p:cNvPr id="56" name="Text 54"/>
          <p:cNvSpPr/>
          <p:nvPr/>
        </p:nvSpPr>
        <p:spPr>
          <a:xfrm>
            <a:off x="3182112" y="5513832"/>
            <a:ext cx="5888736" cy="146304"/>
          </a:xfrm>
          <a:prstGeom prst="rect">
            <a:avLst/>
          </a:prstGeom>
          <a:noFill/>
          <a:ln/>
        </p:spPr>
        <p:txBody>
          <a:bodyPr wrap="square" lIns="0" tIns="0" rIns="0" bIns="0" rtlCol="0" anchor="ctr"/>
          <a:lstStyle/>
          <a:p>
            <a:pPr marL="0" indent="0" algn="ctr">
              <a:buNone/>
            </a:pPr>
            <a:r>
              <a:rPr lang="en-US" sz="1100" b="1" dirty="0">
                <a:solidFill>
                  <a:srgbClr val="17B9A6"/>
                </a:solidFill>
              </a:rPr>
              <a:t>Default rule: if SQL is already governed, ingest SQL directly.</a:t>
            </a:r>
            <a:endParaRPr lang="en-US" sz="1100" dirty="0"/>
          </a:p>
        </p:txBody>
      </p:sp>
      <p:sp>
        <p:nvSpPr>
          <p:cNvPr id="57" name="Text 55"/>
          <p:cNvSpPr/>
          <p:nvPr/>
        </p:nvSpPr>
        <p:spPr>
          <a:xfrm>
            <a:off x="566928" y="6437376"/>
            <a:ext cx="9875520" cy="164592"/>
          </a:xfrm>
          <a:prstGeom prst="rect">
            <a:avLst/>
          </a:prstGeom>
          <a:noFill/>
          <a:ln/>
        </p:spPr>
        <p:txBody>
          <a:bodyPr wrap="square" lIns="0" tIns="0" rIns="0" bIns="0" rtlCol="0" anchor="ctr"/>
          <a:lstStyle/>
          <a:p>
            <a:pPr marL="0" indent="0">
              <a:buNone/>
            </a:pPr>
            <a:r>
              <a:rPr lang="en-US" sz="950" dirty="0">
                <a:solidFill>
                  <a:srgbClr val="6C7A89"/>
                </a:solidFill>
              </a:rPr>
              <a:t>Revised approach: JSON + DuckDB or direct SQL source</a:t>
            </a:r>
            <a:endParaRPr lang="en-US" sz="950" dirty="0"/>
          </a:p>
        </p:txBody>
      </p:sp>
      <p:sp>
        <p:nvSpPr>
          <p:cNvPr id="58" name="Text 56"/>
          <p:cNvSpPr/>
          <p:nvPr/>
        </p:nvSpPr>
        <p:spPr>
          <a:xfrm>
            <a:off x="11155680" y="6409944"/>
            <a:ext cx="411480" cy="182880"/>
          </a:xfrm>
          <a:prstGeom prst="rect">
            <a:avLst/>
          </a:prstGeom>
          <a:noFill/>
          <a:ln/>
        </p:spPr>
        <p:txBody>
          <a:bodyPr wrap="square" lIns="0" tIns="0" rIns="0" bIns="0" rtlCol="0" anchor="ctr"/>
          <a:lstStyle/>
          <a:p>
            <a:pPr marL="0" indent="0" algn="r">
              <a:buNone/>
            </a:pPr>
            <a:r>
              <a:rPr lang="en-US" sz="1000" b="1" dirty="0">
                <a:solidFill>
                  <a:srgbClr val="6C7A89"/>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3233F"/>
          </a:solidFill>
          <a:ln w="12700">
            <a:solidFill>
              <a:srgbClr val="13233F">
                <a:alpha val="0"/>
              </a:srgbClr>
            </a:solidFill>
            <a:prstDash val="solid"/>
          </a:ln>
        </p:spPr>
        <p:txBody>
          <a:bodyPr/>
          <a:lstStyle/>
          <a:p>
            <a:endParaRPr lang="en-US"/>
          </a:p>
        </p:txBody>
      </p:sp>
      <p:sp>
        <p:nvSpPr>
          <p:cNvPr id="3" name="Text 1"/>
          <p:cNvSpPr/>
          <p:nvPr/>
        </p:nvSpPr>
        <p:spPr>
          <a:xfrm>
            <a:off x="566928" y="164592"/>
            <a:ext cx="8046720" cy="237744"/>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dbt source definitions for the two Phase 1 variants</a:t>
            </a:r>
            <a:endParaRPr lang="en-US" sz="2600" dirty="0"/>
          </a:p>
        </p:txBody>
      </p:sp>
      <p:sp>
        <p:nvSpPr>
          <p:cNvPr id="4" name="Text 2"/>
          <p:cNvSpPr/>
          <p:nvPr/>
        </p:nvSpPr>
        <p:spPr>
          <a:xfrm>
            <a:off x="9281160" y="164592"/>
            <a:ext cx="2240280" cy="219456"/>
          </a:xfrm>
          <a:prstGeom prst="rect">
            <a:avLst/>
          </a:prstGeom>
          <a:noFill/>
          <a:ln/>
        </p:spPr>
        <p:txBody>
          <a:bodyPr wrap="square" lIns="0" tIns="0" rIns="0" bIns="0" rtlCol="0" anchor="ctr"/>
          <a:lstStyle/>
          <a:p>
            <a:pPr marL="0" indent="0" algn="r">
              <a:buNone/>
            </a:pPr>
            <a:r>
              <a:rPr lang="en-US" sz="1050" dirty="0">
                <a:solidFill>
                  <a:srgbClr val="D7E2FF"/>
                </a:solidFill>
                <a:latin typeface="Aptos" pitchFamily="34" charset="0"/>
                <a:ea typeface="Aptos" pitchFamily="34" charset="-122"/>
                <a:cs typeface="Aptos" pitchFamily="34" charset="-120"/>
              </a:rPr>
              <a:t>Semantic GenAI for BI · Phase 1</a:t>
            </a:r>
            <a:endParaRPr lang="en-US" sz="1050" dirty="0"/>
          </a:p>
        </p:txBody>
      </p:sp>
      <p:sp>
        <p:nvSpPr>
          <p:cNvPr id="5" name="Shape 3"/>
          <p:cNvSpPr/>
          <p:nvPr/>
        </p:nvSpPr>
        <p:spPr>
          <a:xfrm>
            <a:off x="566928" y="6382512"/>
            <a:ext cx="11064240" cy="0"/>
          </a:xfrm>
          <a:prstGeom prst="line">
            <a:avLst/>
          </a:prstGeom>
          <a:noFill/>
          <a:ln w="12700">
            <a:solidFill>
              <a:srgbClr val="D8E1EE"/>
            </a:solidFill>
            <a:prstDash val="solid"/>
          </a:ln>
        </p:spPr>
        <p:txBody>
          <a:bodyPr/>
          <a:lstStyle/>
          <a:p>
            <a:endParaRPr lang="en-US"/>
          </a:p>
        </p:txBody>
      </p:sp>
      <p:sp>
        <p:nvSpPr>
          <p:cNvPr id="6" name="Shape 4"/>
          <p:cNvSpPr/>
          <p:nvPr/>
        </p:nvSpPr>
        <p:spPr>
          <a:xfrm>
            <a:off x="731520" y="1051560"/>
            <a:ext cx="5166360" cy="4389120"/>
          </a:xfrm>
          <a:prstGeom prst="roundRect">
            <a:avLst>
              <a:gd name="adj" fmla="val 833"/>
            </a:avLst>
          </a:prstGeom>
          <a:solidFill>
            <a:srgbClr val="FCFDFE"/>
          </a:solidFill>
          <a:ln w="12700">
            <a:solidFill>
              <a:srgbClr val="D8E1EE"/>
            </a:solidFill>
            <a:prstDash val="solid"/>
          </a:ln>
        </p:spPr>
        <p:txBody>
          <a:bodyPr/>
          <a:lstStyle/>
          <a:p>
            <a:endParaRPr lang="en-US"/>
          </a:p>
        </p:txBody>
      </p:sp>
      <p:sp>
        <p:nvSpPr>
          <p:cNvPr id="7" name="Shape 5"/>
          <p:cNvSpPr/>
          <p:nvPr/>
        </p:nvSpPr>
        <p:spPr>
          <a:xfrm>
            <a:off x="731520" y="1051560"/>
            <a:ext cx="5166360" cy="310896"/>
          </a:xfrm>
          <a:prstGeom prst="rect">
            <a:avLst/>
          </a:prstGeom>
          <a:solidFill>
            <a:srgbClr val="243B63"/>
          </a:solidFill>
          <a:ln w="12700">
            <a:solidFill>
              <a:srgbClr val="243B63">
                <a:alpha val="0"/>
              </a:srgbClr>
            </a:solidFill>
            <a:prstDash val="solid"/>
          </a:ln>
        </p:spPr>
        <p:txBody>
          <a:bodyPr/>
          <a:lstStyle/>
          <a:p>
            <a:endParaRPr lang="en-US"/>
          </a:p>
        </p:txBody>
      </p:sp>
      <p:sp>
        <p:nvSpPr>
          <p:cNvPr id="8" name="Text 6"/>
          <p:cNvSpPr/>
          <p:nvPr/>
        </p:nvSpPr>
        <p:spPr>
          <a:xfrm>
            <a:off x="868680" y="1124712"/>
            <a:ext cx="4892040" cy="146304"/>
          </a:xfrm>
          <a:prstGeom prst="rect">
            <a:avLst/>
          </a:prstGeom>
          <a:noFill/>
          <a:ln/>
        </p:spPr>
        <p:txBody>
          <a:bodyPr wrap="square" lIns="0" tIns="0" rIns="0" bIns="0" rtlCol="0" anchor="ctr"/>
          <a:lstStyle/>
          <a:p>
            <a:pPr marL="0" indent="0">
              <a:buNone/>
            </a:pPr>
            <a:r>
              <a:rPr lang="en-US" sz="1150" b="1" dirty="0">
                <a:solidFill>
                  <a:srgbClr val="FFFFFF"/>
                </a:solidFill>
              </a:rPr>
              <a:t>JSON source · sources.yml</a:t>
            </a:r>
            <a:endParaRPr lang="en-US" sz="1150" dirty="0"/>
          </a:p>
        </p:txBody>
      </p:sp>
      <p:sp>
        <p:nvSpPr>
          <p:cNvPr id="9" name="Text 7"/>
          <p:cNvSpPr/>
          <p:nvPr/>
        </p:nvSpPr>
        <p:spPr>
          <a:xfrm>
            <a:off x="877824" y="1463040"/>
            <a:ext cx="4873752" cy="3877056"/>
          </a:xfrm>
          <a:prstGeom prst="rect">
            <a:avLst/>
          </a:prstGeom>
          <a:solidFill>
            <a:srgbClr val="222831"/>
          </a:solidFill>
          <a:ln w="9525">
            <a:solidFill>
              <a:srgbClr val="35404F"/>
            </a:solidFill>
          </a:ln>
        </p:spPr>
        <p:txBody>
          <a:bodyPr wrap="square" lIns="73152" tIns="54864" rIns="73152" bIns="54864" rtlCol="0" anchor="t">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version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2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sources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name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raw_app_data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meta</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      external_location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'path/to/your/data/*.json'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FFFFF"/>
                </a:solidFill>
                <a:latin typeface="Consolas" pitchFamily="34" charset="0"/>
                <a:ea typeface="Consolas" pitchFamily="34" charset="-122"/>
                <a:cs typeface="Consolas" pitchFamily="34" charset="-120"/>
              </a:rPr>
              <a:t>    tables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8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name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margin_transactions
</a:t>
            </a:r>
            <a:r>
              <a:rPr lang="en-US" sz="1400" dirty="0">
                <a:solidFill>
                  <a:srgbClr val="8292A2"/>
                </a:solidFill>
                <a:latin typeface="Consolas" pitchFamily="34" charset="0"/>
                <a:ea typeface="Consolas" pitchFamily="34" charset="-122"/>
                <a:cs typeface="Consolas" pitchFamily="34" charset="-120"/>
              </a:rPr>
              <a:t>9 </a:t>
            </a:r>
            <a:r>
              <a:rPr lang="en-US" sz="1400" dirty="0">
                <a:solidFill>
                  <a:srgbClr val="FFFFFF"/>
                </a:solidFill>
                <a:latin typeface="Consolas" pitchFamily="34" charset="0"/>
                <a:ea typeface="Consolas" pitchFamily="34" charset="-122"/>
                <a:cs typeface="Consolas" pitchFamily="34" charset="-120"/>
              </a:rPr>
              <a:t>        description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'Raw JSON export from the app backend.'</a:t>
            </a:r>
            <a:endParaRPr lang="en-US" sz="1050" dirty="0"/>
          </a:p>
        </p:txBody>
      </p:sp>
      <p:sp>
        <p:nvSpPr>
          <p:cNvPr id="10" name="Shape 8"/>
          <p:cNvSpPr/>
          <p:nvPr/>
        </p:nvSpPr>
        <p:spPr>
          <a:xfrm>
            <a:off x="6291072" y="1051560"/>
            <a:ext cx="5166360" cy="4389120"/>
          </a:xfrm>
          <a:prstGeom prst="roundRect">
            <a:avLst>
              <a:gd name="adj" fmla="val 833"/>
            </a:avLst>
          </a:prstGeom>
          <a:solidFill>
            <a:srgbClr val="FCFDFE"/>
          </a:solidFill>
          <a:ln w="12700">
            <a:solidFill>
              <a:srgbClr val="D8E1EE"/>
            </a:solidFill>
            <a:prstDash val="solid"/>
          </a:ln>
        </p:spPr>
        <p:txBody>
          <a:bodyPr/>
          <a:lstStyle/>
          <a:p>
            <a:endParaRPr lang="en-US"/>
          </a:p>
        </p:txBody>
      </p:sp>
      <p:sp>
        <p:nvSpPr>
          <p:cNvPr id="11" name="Shape 9"/>
          <p:cNvSpPr/>
          <p:nvPr/>
        </p:nvSpPr>
        <p:spPr>
          <a:xfrm>
            <a:off x="6291072" y="1051560"/>
            <a:ext cx="5166360" cy="310896"/>
          </a:xfrm>
          <a:prstGeom prst="rect">
            <a:avLst/>
          </a:prstGeom>
          <a:solidFill>
            <a:srgbClr val="243B63"/>
          </a:solidFill>
          <a:ln w="12700">
            <a:solidFill>
              <a:srgbClr val="243B63">
                <a:alpha val="0"/>
              </a:srgbClr>
            </a:solidFill>
            <a:prstDash val="solid"/>
          </a:ln>
        </p:spPr>
        <p:txBody>
          <a:bodyPr/>
          <a:lstStyle/>
          <a:p>
            <a:endParaRPr lang="en-US"/>
          </a:p>
        </p:txBody>
      </p:sp>
      <p:sp>
        <p:nvSpPr>
          <p:cNvPr id="12" name="Text 10"/>
          <p:cNvSpPr/>
          <p:nvPr/>
        </p:nvSpPr>
        <p:spPr>
          <a:xfrm>
            <a:off x="6428232" y="1124712"/>
            <a:ext cx="4892040" cy="146304"/>
          </a:xfrm>
          <a:prstGeom prst="rect">
            <a:avLst/>
          </a:prstGeom>
          <a:noFill/>
          <a:ln/>
        </p:spPr>
        <p:txBody>
          <a:bodyPr wrap="square" lIns="0" tIns="0" rIns="0" bIns="0" rtlCol="0" anchor="ctr"/>
          <a:lstStyle/>
          <a:p>
            <a:pPr marL="0" indent="0">
              <a:buNone/>
            </a:pPr>
            <a:r>
              <a:rPr lang="en-US" sz="1150" b="1" dirty="0">
                <a:solidFill>
                  <a:srgbClr val="FFFFFF"/>
                </a:solidFill>
              </a:rPr>
              <a:t>Direct SQL source · sources.yml</a:t>
            </a:r>
            <a:endParaRPr lang="en-US" sz="1150" dirty="0"/>
          </a:p>
        </p:txBody>
      </p:sp>
      <p:sp>
        <p:nvSpPr>
          <p:cNvPr id="13" name="Text 11"/>
          <p:cNvSpPr/>
          <p:nvPr/>
        </p:nvSpPr>
        <p:spPr>
          <a:xfrm>
            <a:off x="6437376" y="1463040"/>
            <a:ext cx="4873752" cy="3877056"/>
          </a:xfrm>
          <a:prstGeom prst="rect">
            <a:avLst/>
          </a:prstGeom>
          <a:solidFill>
            <a:srgbClr val="222831"/>
          </a:solidFill>
          <a:ln w="9525">
            <a:solidFill>
              <a:srgbClr val="35404F"/>
            </a:solidFill>
          </a:ln>
        </p:spPr>
        <p:txBody>
          <a:bodyPr wrap="square" lIns="73152" tIns="54864" rIns="73152" bIns="54864" rtlCol="0" anchor="t">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version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2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sources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name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raw_sql_data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schema</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risk_ops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    tables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name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vw_margin_transactions_consolidated
</a:t>
            </a:r>
            <a:r>
              <a:rPr lang="en-US" sz="1400" dirty="0">
                <a:solidFill>
                  <a:srgbClr val="8292A2"/>
                </a:solidFill>
                <a:latin typeface="Consolas" pitchFamily="34" charset="0"/>
                <a:ea typeface="Consolas" pitchFamily="34" charset="-122"/>
                <a:cs typeface="Consolas" pitchFamily="34" charset="-120"/>
              </a:rPr>
              <a:t>8 </a:t>
            </a:r>
            <a:r>
              <a:rPr lang="en-US" sz="1400" dirty="0">
                <a:solidFill>
                  <a:srgbClr val="FFFFFF"/>
                </a:solidFill>
                <a:latin typeface="Consolas" pitchFamily="34" charset="0"/>
                <a:ea typeface="Consolas" pitchFamily="34" charset="-122"/>
                <a:cs typeface="Consolas" pitchFamily="34" charset="-120"/>
              </a:rPr>
              <a:t>        description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'Curated SQL view for margin transactions.'</a:t>
            </a:r>
            <a:endParaRPr lang="en-US" sz="1050" dirty="0"/>
          </a:p>
        </p:txBody>
      </p:sp>
      <p:sp>
        <p:nvSpPr>
          <p:cNvPr id="14" name="Text 12"/>
          <p:cNvSpPr/>
          <p:nvPr/>
        </p:nvSpPr>
        <p:spPr>
          <a:xfrm>
            <a:off x="868680" y="5623560"/>
            <a:ext cx="10698480" cy="219456"/>
          </a:xfrm>
          <a:prstGeom prst="rect">
            <a:avLst/>
          </a:prstGeom>
          <a:noFill/>
          <a:ln/>
        </p:spPr>
        <p:txBody>
          <a:bodyPr wrap="square" lIns="0" tIns="0" rIns="0" bIns="0" rtlCol="0" anchor="ctr"/>
          <a:lstStyle/>
          <a:p>
            <a:pPr marL="0" indent="0" algn="ctr">
              <a:buNone/>
            </a:pPr>
            <a:r>
              <a:rPr lang="en-US" sz="1620" dirty="0">
                <a:solidFill>
                  <a:srgbClr val="1E2A3A"/>
                </a:solidFill>
              </a:rPr>
              <a:t>Both source registrations feed the same downstream staging model contract.</a:t>
            </a:r>
            <a:endParaRPr lang="en-US" sz="1620" dirty="0"/>
          </a:p>
        </p:txBody>
      </p:sp>
      <p:sp>
        <p:nvSpPr>
          <p:cNvPr id="15" name="Text 13"/>
          <p:cNvSpPr/>
          <p:nvPr/>
        </p:nvSpPr>
        <p:spPr>
          <a:xfrm>
            <a:off x="566928" y="6437376"/>
            <a:ext cx="9875520" cy="164592"/>
          </a:xfrm>
          <a:prstGeom prst="rect">
            <a:avLst/>
          </a:prstGeom>
          <a:noFill/>
          <a:ln/>
        </p:spPr>
        <p:txBody>
          <a:bodyPr wrap="square" lIns="0" tIns="0" rIns="0" bIns="0" rtlCol="0" anchor="ctr"/>
          <a:lstStyle/>
          <a:p>
            <a:pPr marL="0" indent="0">
              <a:buNone/>
            </a:pPr>
            <a:r>
              <a:rPr lang="en-US" sz="950" dirty="0">
                <a:solidFill>
                  <a:srgbClr val="6C7A89"/>
                </a:solidFill>
              </a:rPr>
              <a:t>Revised approach: JSON + DuckDB or direct SQL source</a:t>
            </a:r>
            <a:endParaRPr lang="en-US" sz="950" dirty="0"/>
          </a:p>
        </p:txBody>
      </p:sp>
      <p:sp>
        <p:nvSpPr>
          <p:cNvPr id="16" name="Text 14"/>
          <p:cNvSpPr/>
          <p:nvPr/>
        </p:nvSpPr>
        <p:spPr>
          <a:xfrm>
            <a:off x="11155680" y="6409944"/>
            <a:ext cx="411480" cy="182880"/>
          </a:xfrm>
          <a:prstGeom prst="rect">
            <a:avLst/>
          </a:prstGeom>
          <a:noFill/>
          <a:ln/>
        </p:spPr>
        <p:txBody>
          <a:bodyPr wrap="square" lIns="0" tIns="0" rIns="0" bIns="0" rtlCol="0" anchor="ctr"/>
          <a:lstStyle/>
          <a:p>
            <a:pPr marL="0" indent="0" algn="r">
              <a:buNone/>
            </a:pPr>
            <a:r>
              <a:rPr lang="en-US" sz="1000" b="1" dirty="0">
                <a:solidFill>
                  <a:srgbClr val="6C7A89"/>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3233F"/>
          </a:solidFill>
          <a:ln w="12700">
            <a:solidFill>
              <a:srgbClr val="13233F">
                <a:alpha val="0"/>
              </a:srgbClr>
            </a:solidFill>
            <a:prstDash val="solid"/>
          </a:ln>
        </p:spPr>
        <p:txBody>
          <a:bodyPr/>
          <a:lstStyle/>
          <a:p>
            <a:endParaRPr lang="en-US"/>
          </a:p>
        </p:txBody>
      </p:sp>
      <p:sp>
        <p:nvSpPr>
          <p:cNvPr id="3" name="Text 1"/>
          <p:cNvSpPr/>
          <p:nvPr/>
        </p:nvSpPr>
        <p:spPr>
          <a:xfrm>
            <a:off x="566928" y="164592"/>
            <a:ext cx="8046720" cy="237744"/>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stg_margin_calls.sql: the cleaning room and semantic bridge</a:t>
            </a:r>
            <a:endParaRPr lang="en-US" sz="2600" dirty="0"/>
          </a:p>
        </p:txBody>
      </p:sp>
      <p:sp>
        <p:nvSpPr>
          <p:cNvPr id="4" name="Text 2"/>
          <p:cNvSpPr/>
          <p:nvPr/>
        </p:nvSpPr>
        <p:spPr>
          <a:xfrm>
            <a:off x="9281160" y="164592"/>
            <a:ext cx="2240280" cy="219456"/>
          </a:xfrm>
          <a:prstGeom prst="rect">
            <a:avLst/>
          </a:prstGeom>
          <a:noFill/>
          <a:ln/>
        </p:spPr>
        <p:txBody>
          <a:bodyPr wrap="square" lIns="0" tIns="0" rIns="0" bIns="0" rtlCol="0" anchor="ctr"/>
          <a:lstStyle/>
          <a:p>
            <a:pPr marL="0" indent="0" algn="r">
              <a:buNone/>
            </a:pPr>
            <a:r>
              <a:rPr lang="en-US" sz="1050" dirty="0">
                <a:solidFill>
                  <a:srgbClr val="D7E2FF"/>
                </a:solidFill>
                <a:latin typeface="Aptos" pitchFamily="34" charset="0"/>
                <a:ea typeface="Aptos" pitchFamily="34" charset="-122"/>
                <a:cs typeface="Aptos" pitchFamily="34" charset="-120"/>
              </a:rPr>
              <a:t>Semantic GenAI for BI · Phase 1</a:t>
            </a:r>
            <a:endParaRPr lang="en-US" sz="1050" dirty="0"/>
          </a:p>
        </p:txBody>
      </p:sp>
      <p:sp>
        <p:nvSpPr>
          <p:cNvPr id="5" name="Shape 3"/>
          <p:cNvSpPr/>
          <p:nvPr/>
        </p:nvSpPr>
        <p:spPr>
          <a:xfrm>
            <a:off x="566928" y="6382512"/>
            <a:ext cx="11064240" cy="0"/>
          </a:xfrm>
          <a:prstGeom prst="line">
            <a:avLst/>
          </a:prstGeom>
          <a:noFill/>
          <a:ln w="12700">
            <a:solidFill>
              <a:srgbClr val="D8E1EE"/>
            </a:solidFill>
            <a:prstDash val="solid"/>
          </a:ln>
        </p:spPr>
        <p:txBody>
          <a:bodyPr/>
          <a:lstStyle/>
          <a:p>
            <a:endParaRPr lang="en-US"/>
          </a:p>
        </p:txBody>
      </p:sp>
      <p:sp>
        <p:nvSpPr>
          <p:cNvPr id="6" name="Text 4"/>
          <p:cNvSpPr/>
          <p:nvPr/>
        </p:nvSpPr>
        <p:spPr>
          <a:xfrm>
            <a:off x="777240" y="896112"/>
            <a:ext cx="8046720" cy="292608"/>
          </a:xfrm>
          <a:prstGeom prst="rect">
            <a:avLst/>
          </a:prstGeom>
          <a:noFill/>
          <a:ln/>
        </p:spPr>
        <p:txBody>
          <a:bodyPr wrap="square" lIns="0" tIns="0" rIns="0" bIns="0" rtlCol="0" anchor="ctr"/>
          <a:lstStyle/>
          <a:p>
            <a:pPr marL="0" indent="0">
              <a:buNone/>
            </a:pPr>
            <a:r>
              <a:rPr lang="en-US" sz="1850" dirty="0">
                <a:solidFill>
                  <a:srgbClr val="1E2A3A"/>
                </a:solidFill>
              </a:rPr>
              <a:t>This is where raw field names become human-readable analytics fields and where status codes stop being ambiguous.</a:t>
            </a:r>
            <a:endParaRPr lang="en-US" sz="1850" dirty="0"/>
          </a:p>
        </p:txBody>
      </p:sp>
      <p:sp>
        <p:nvSpPr>
          <p:cNvPr id="7" name="Shape 5"/>
          <p:cNvSpPr/>
          <p:nvPr/>
        </p:nvSpPr>
        <p:spPr>
          <a:xfrm>
            <a:off x="749808" y="1280160"/>
            <a:ext cx="6858000" cy="4526280"/>
          </a:xfrm>
          <a:prstGeom prst="roundRect">
            <a:avLst>
              <a:gd name="adj" fmla="val 808"/>
            </a:avLst>
          </a:prstGeom>
          <a:solidFill>
            <a:srgbClr val="FCFDFE"/>
          </a:solidFill>
          <a:ln w="12700">
            <a:solidFill>
              <a:srgbClr val="D8E1EE"/>
            </a:solidFill>
            <a:prstDash val="solid"/>
          </a:ln>
        </p:spPr>
        <p:txBody>
          <a:bodyPr/>
          <a:lstStyle/>
          <a:p>
            <a:endParaRPr lang="en-US"/>
          </a:p>
        </p:txBody>
      </p:sp>
      <p:sp>
        <p:nvSpPr>
          <p:cNvPr id="8" name="Shape 6"/>
          <p:cNvSpPr/>
          <p:nvPr/>
        </p:nvSpPr>
        <p:spPr>
          <a:xfrm>
            <a:off x="749808" y="1280160"/>
            <a:ext cx="6858000" cy="310896"/>
          </a:xfrm>
          <a:prstGeom prst="rect">
            <a:avLst/>
          </a:prstGeom>
          <a:solidFill>
            <a:srgbClr val="243B63"/>
          </a:solidFill>
          <a:ln w="12700">
            <a:solidFill>
              <a:srgbClr val="243B63">
                <a:alpha val="0"/>
              </a:srgbClr>
            </a:solidFill>
            <a:prstDash val="solid"/>
          </a:ln>
        </p:spPr>
        <p:txBody>
          <a:bodyPr/>
          <a:lstStyle/>
          <a:p>
            <a:endParaRPr lang="en-US"/>
          </a:p>
        </p:txBody>
      </p:sp>
      <p:sp>
        <p:nvSpPr>
          <p:cNvPr id="9" name="Text 7"/>
          <p:cNvSpPr/>
          <p:nvPr/>
        </p:nvSpPr>
        <p:spPr>
          <a:xfrm>
            <a:off x="886968" y="1353312"/>
            <a:ext cx="6583680" cy="146304"/>
          </a:xfrm>
          <a:prstGeom prst="rect">
            <a:avLst/>
          </a:prstGeom>
          <a:noFill/>
          <a:ln/>
        </p:spPr>
        <p:txBody>
          <a:bodyPr wrap="square" lIns="0" tIns="0" rIns="0" bIns="0" rtlCol="0" anchor="ctr"/>
          <a:lstStyle/>
          <a:p>
            <a:pPr marL="0" indent="0">
              <a:buNone/>
            </a:pPr>
            <a:r>
              <a:rPr lang="en-US" sz="1150" b="1" dirty="0">
                <a:solidFill>
                  <a:srgbClr val="FFFFFF"/>
                </a:solidFill>
              </a:rPr>
              <a:t>staging model excerpt</a:t>
            </a:r>
            <a:endParaRPr lang="en-US" sz="1150" dirty="0"/>
          </a:p>
        </p:txBody>
      </p:sp>
      <p:sp>
        <p:nvSpPr>
          <p:cNvPr id="10" name="Text 8"/>
          <p:cNvSpPr/>
          <p:nvPr/>
        </p:nvSpPr>
        <p:spPr>
          <a:xfrm>
            <a:off x="896112" y="1691640"/>
            <a:ext cx="6565392" cy="4014216"/>
          </a:xfrm>
          <a:prstGeom prst="rect">
            <a:avLst/>
          </a:prstGeom>
          <a:solidFill>
            <a:srgbClr val="222831"/>
          </a:solidFill>
          <a:ln w="9525">
            <a:solidFill>
              <a:srgbClr val="35404F"/>
            </a:solidFill>
          </a:ln>
        </p:spPr>
        <p:txBody>
          <a:bodyPr wrap="square" lIns="73152" tIns="54864" rIns="73152" bIns="54864" rtlCol="0" anchor="t">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66D9EF"/>
                </a:solidFill>
                <a:latin typeface="Consolas" pitchFamily="34" charset="0"/>
                <a:ea typeface="Consolas" pitchFamily="34" charset="-122"/>
                <a:cs typeface="Consolas" pitchFamily="34" charset="-120"/>
              </a:rPr>
              <a:t>select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cast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call_id </a:t>
            </a:r>
            <a:r>
              <a:rPr lang="en-US" sz="1400" dirty="0">
                <a:solidFill>
                  <a:srgbClr val="66D9EF"/>
                </a:solidFill>
                <a:latin typeface="Consolas" pitchFamily="34" charset="0"/>
                <a:ea typeface="Consolas" pitchFamily="34" charset="-122"/>
                <a:cs typeface="Consolas" pitchFamily="34" charset="-120"/>
              </a:rPr>
              <a:t>as</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varchar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as</a:t>
            </a:r>
            <a:r>
              <a:rPr lang="en-US" sz="1400" dirty="0">
                <a:solidFill>
                  <a:srgbClr val="FFFFFF"/>
                </a:solidFill>
                <a:latin typeface="Consolas" pitchFamily="34" charset="0"/>
                <a:ea typeface="Consolas" pitchFamily="34" charset="-122"/>
                <a:cs typeface="Consolas" pitchFamily="34" charset="-120"/>
              </a:rPr>
              <a:t> call_id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cast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account_id </a:t>
            </a:r>
            <a:r>
              <a:rPr lang="en-US" sz="1400" dirty="0">
                <a:solidFill>
                  <a:srgbClr val="66D9EF"/>
                </a:solidFill>
                <a:latin typeface="Consolas" pitchFamily="34" charset="0"/>
                <a:ea typeface="Consolas" pitchFamily="34" charset="-122"/>
                <a:cs typeface="Consolas" pitchFamily="34" charset="-120"/>
              </a:rPr>
              <a:t>as</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varchar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as</a:t>
            </a:r>
            <a:r>
              <a:rPr lang="en-US" sz="1400" dirty="0">
                <a:solidFill>
                  <a:srgbClr val="FFFFFF"/>
                </a:solidFill>
                <a:latin typeface="Consolas" pitchFamily="34" charset="0"/>
                <a:ea typeface="Consolas" pitchFamily="34" charset="-122"/>
                <a:cs typeface="Consolas" pitchFamily="34" charset="-120"/>
              </a:rPr>
              <a:t> account_id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cast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mc_amt </a:t>
            </a:r>
            <a:r>
              <a:rPr lang="en-US" sz="1400" dirty="0">
                <a:solidFill>
                  <a:srgbClr val="66D9EF"/>
                </a:solidFill>
                <a:latin typeface="Consolas" pitchFamily="34" charset="0"/>
                <a:ea typeface="Consolas" pitchFamily="34" charset="-122"/>
                <a:cs typeface="Consolas" pitchFamily="34" charset="-120"/>
              </a:rPr>
              <a:t>as</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decimal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18</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2</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as</a:t>
            </a:r>
            <a:r>
              <a:rPr lang="en-US" sz="1400" dirty="0">
                <a:solidFill>
                  <a:srgbClr val="FFFFFF"/>
                </a:solidFill>
                <a:latin typeface="Consolas" pitchFamily="34" charset="0"/>
                <a:ea typeface="Consolas" pitchFamily="34" charset="-122"/>
                <a:cs typeface="Consolas" pitchFamily="34" charset="-120"/>
              </a:rPr>
              <a:t> margin_amount_usd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cast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collateral_val </a:t>
            </a:r>
            <a:r>
              <a:rPr lang="en-US" sz="1400" dirty="0">
                <a:solidFill>
                  <a:srgbClr val="66D9EF"/>
                </a:solidFill>
                <a:latin typeface="Consolas" pitchFamily="34" charset="0"/>
                <a:ea typeface="Consolas" pitchFamily="34" charset="-122"/>
                <a:cs typeface="Consolas" pitchFamily="34" charset="-120"/>
              </a:rPr>
              <a:t>as</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decimal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18</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2</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as</a:t>
            </a:r>
            <a:r>
              <a:rPr lang="en-US" sz="1400" dirty="0">
                <a:solidFill>
                  <a:srgbClr val="FFFFFF"/>
                </a:solidFill>
                <a:latin typeface="Consolas" pitchFamily="34" charset="0"/>
                <a:ea typeface="Consolas" pitchFamily="34" charset="-122"/>
                <a:cs typeface="Consolas" pitchFamily="34" charset="-120"/>
              </a:rPr>
              <a:t> collateral_amount_usd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cast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mc_amt </a:t>
            </a:r>
            <a:r>
              <a:rPr lang="en-US" sz="1400" dirty="0">
                <a:solidFill>
                  <a:srgbClr val="66D9EF"/>
                </a:solidFill>
                <a:latin typeface="Consolas" pitchFamily="34" charset="0"/>
                <a:ea typeface="Consolas" pitchFamily="34" charset="-122"/>
                <a:cs typeface="Consolas" pitchFamily="34" charset="-120"/>
              </a:rPr>
              <a:t>as</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decimal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18</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2</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cast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collateral_val </a:t>
            </a:r>
            <a:r>
              <a:rPr lang="en-US" sz="1400" dirty="0">
                <a:solidFill>
                  <a:srgbClr val="66D9EF"/>
                </a:solidFill>
                <a:latin typeface="Consolas" pitchFamily="34" charset="0"/>
                <a:ea typeface="Consolas" pitchFamily="34" charset="-122"/>
                <a:cs typeface="Consolas" pitchFamily="34" charset="-120"/>
              </a:rPr>
              <a:t>as</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decimal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18</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2</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as</a:t>
            </a:r>
            <a:r>
              <a:rPr lang="en-US" sz="1400" dirty="0">
                <a:solidFill>
                  <a:srgbClr val="FFFFFF"/>
                </a:solidFill>
                <a:latin typeface="Consolas" pitchFamily="34" charset="0"/>
                <a:ea typeface="Consolas" pitchFamily="34" charset="-122"/>
                <a:cs typeface="Consolas" pitchFamily="34" charset="-120"/>
              </a:rPr>
              <a:t> net_val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case</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when</a:t>
            </a:r>
            <a:r>
              <a:rPr lang="en-US" sz="1400" dirty="0">
                <a:solidFill>
                  <a:srgbClr val="FFFFFF"/>
                </a:solidFill>
                <a:latin typeface="Consolas" pitchFamily="34" charset="0"/>
                <a:ea typeface="Consolas" pitchFamily="34" charset="-122"/>
                <a:cs typeface="Consolas" pitchFamily="34" charset="-120"/>
              </a:rPr>
              <a:t> st_cd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4 </a:t>
            </a:r>
            <a:r>
              <a:rPr lang="en-US" sz="1400" dirty="0">
                <a:solidFill>
                  <a:srgbClr val="66D9EF"/>
                </a:solidFill>
                <a:latin typeface="Consolas" pitchFamily="34" charset="0"/>
                <a:ea typeface="Consolas" pitchFamily="34" charset="-122"/>
                <a:cs typeface="Consolas" pitchFamily="34" charset="-120"/>
              </a:rPr>
              <a:t>then</a:t>
            </a:r>
            <a:r>
              <a:rPr lang="en-US" sz="1400" dirty="0">
                <a:solidFill>
                  <a:srgbClr val="FFFFFF"/>
                </a:solidFill>
                <a:latin typeface="Consolas" pitchFamily="34" charset="0"/>
                <a:ea typeface="Consolas" pitchFamily="34" charset="-122"/>
                <a:cs typeface="Consolas" pitchFamily="34" charset="-120"/>
              </a:rPr>
              <a:t> 'CONFIRMED'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when</a:t>
            </a:r>
            <a:r>
              <a:rPr lang="en-US" sz="1400" dirty="0">
                <a:solidFill>
                  <a:srgbClr val="FFFFFF"/>
                </a:solidFill>
                <a:latin typeface="Consolas" pitchFamily="34" charset="0"/>
                <a:ea typeface="Consolas" pitchFamily="34" charset="-122"/>
                <a:cs typeface="Consolas" pitchFamily="34" charset="-120"/>
              </a:rPr>
              <a:t> st_cd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5 </a:t>
            </a:r>
            <a:r>
              <a:rPr lang="en-US" sz="1400" dirty="0">
                <a:solidFill>
                  <a:srgbClr val="66D9EF"/>
                </a:solidFill>
                <a:latin typeface="Consolas" pitchFamily="34" charset="0"/>
                <a:ea typeface="Consolas" pitchFamily="34" charset="-122"/>
                <a:cs typeface="Consolas" pitchFamily="34" charset="-120"/>
              </a:rPr>
              <a:t>then</a:t>
            </a:r>
            <a:r>
              <a:rPr lang="en-US" sz="1400" dirty="0">
                <a:solidFill>
                  <a:srgbClr val="FFFFFF"/>
                </a:solidFill>
                <a:latin typeface="Consolas" pitchFamily="34" charset="0"/>
                <a:ea typeface="Consolas" pitchFamily="34" charset="-122"/>
                <a:cs typeface="Consolas" pitchFamily="34" charset="-120"/>
              </a:rPr>
              <a:t> 'PENDING'
</a:t>
            </a:r>
            <a:r>
              <a:rPr lang="en-US" sz="1400" dirty="0">
                <a:solidFill>
                  <a:srgbClr val="8292A2"/>
                </a:solidFill>
                <a:latin typeface="Consolas" pitchFamily="34" charset="0"/>
                <a:ea typeface="Consolas" pitchFamily="34" charset="-122"/>
                <a:cs typeface="Consolas" pitchFamily="34" charset="-120"/>
              </a:rPr>
              <a:t>11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when</a:t>
            </a:r>
            <a:r>
              <a:rPr lang="en-US" sz="1400" dirty="0">
                <a:solidFill>
                  <a:srgbClr val="FFFFFF"/>
                </a:solidFill>
                <a:latin typeface="Consolas" pitchFamily="34" charset="0"/>
                <a:ea typeface="Consolas" pitchFamily="34" charset="-122"/>
                <a:cs typeface="Consolas" pitchFamily="34" charset="-120"/>
              </a:rPr>
              <a:t> st_cd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0 </a:t>
            </a:r>
            <a:r>
              <a:rPr lang="en-US" sz="1400" dirty="0">
                <a:solidFill>
                  <a:srgbClr val="66D9EF"/>
                </a:solidFill>
                <a:latin typeface="Consolas" pitchFamily="34" charset="0"/>
                <a:ea typeface="Consolas" pitchFamily="34" charset="-122"/>
                <a:cs typeface="Consolas" pitchFamily="34" charset="-120"/>
              </a:rPr>
              <a:t>then</a:t>
            </a:r>
            <a:r>
              <a:rPr lang="en-US" sz="1400" dirty="0">
                <a:solidFill>
                  <a:srgbClr val="FFFFFF"/>
                </a:solidFill>
                <a:latin typeface="Consolas" pitchFamily="34" charset="0"/>
                <a:ea typeface="Consolas" pitchFamily="34" charset="-122"/>
                <a:cs typeface="Consolas" pitchFamily="34" charset="-120"/>
              </a:rPr>
              <a:t> 'CANCELLED'
</a:t>
            </a:r>
            <a:r>
              <a:rPr lang="en-US" sz="1400" dirty="0">
                <a:solidFill>
                  <a:srgbClr val="8292A2"/>
                </a:solidFill>
                <a:latin typeface="Consolas" pitchFamily="34" charset="0"/>
                <a:ea typeface="Consolas" pitchFamily="34" charset="-122"/>
                <a:cs typeface="Consolas" pitchFamily="34" charset="-120"/>
              </a:rPr>
              <a:t>12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else</a:t>
            </a:r>
            <a:r>
              <a:rPr lang="en-US" sz="1400" dirty="0">
                <a:solidFill>
                  <a:srgbClr val="FFFFFF"/>
                </a:solidFill>
                <a:latin typeface="Consolas" pitchFamily="34" charset="0"/>
                <a:ea typeface="Consolas" pitchFamily="34" charset="-122"/>
                <a:cs typeface="Consolas" pitchFamily="34" charset="-120"/>
              </a:rPr>
              <a:t> 'UNKNOWN'
</a:t>
            </a:r>
            <a:r>
              <a:rPr lang="en-US" sz="1400" dirty="0">
                <a:solidFill>
                  <a:srgbClr val="8292A2"/>
                </a:solidFill>
                <a:latin typeface="Consolas" pitchFamily="34" charset="0"/>
                <a:ea typeface="Consolas" pitchFamily="34" charset="-122"/>
                <a:cs typeface="Consolas" pitchFamily="34" charset="-120"/>
              </a:rPr>
              <a:t>13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end</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as</a:t>
            </a:r>
            <a:r>
              <a:rPr lang="en-US" sz="1400" dirty="0">
                <a:solidFill>
                  <a:srgbClr val="FFFFFF"/>
                </a:solidFill>
                <a:latin typeface="Consolas" pitchFamily="34" charset="0"/>
                <a:ea typeface="Consolas" pitchFamily="34" charset="-122"/>
                <a:cs typeface="Consolas" pitchFamily="34" charset="-120"/>
              </a:rPr>
              <a:t> status_name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14 </a:t>
            </a:r>
            <a:r>
              <a:rPr lang="en-US" sz="1400" dirty="0">
                <a:solidFill>
                  <a:srgbClr val="FFFFFF"/>
                </a:solidFill>
                <a:latin typeface="Consolas" pitchFamily="34" charset="0"/>
                <a:ea typeface="Consolas" pitchFamily="34" charset="-122"/>
                <a:cs typeface="Consolas" pitchFamily="34" charset="-120"/>
              </a:rPr>
              <a:t>  cast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event_ts </a:t>
            </a:r>
            <a:r>
              <a:rPr lang="en-US" sz="1400" dirty="0">
                <a:solidFill>
                  <a:srgbClr val="66D9EF"/>
                </a:solidFill>
                <a:latin typeface="Consolas" pitchFamily="34" charset="0"/>
                <a:ea typeface="Consolas" pitchFamily="34" charset="-122"/>
                <a:cs typeface="Consolas" pitchFamily="34" charset="-120"/>
              </a:rPr>
              <a:t>as</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timestamp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66D9EF"/>
                </a:solidFill>
                <a:latin typeface="Consolas" pitchFamily="34" charset="0"/>
                <a:ea typeface="Consolas" pitchFamily="34" charset="-122"/>
                <a:cs typeface="Consolas" pitchFamily="34" charset="-120"/>
              </a:rPr>
              <a:t>as</a:t>
            </a:r>
            <a:r>
              <a:rPr lang="en-US" sz="1400" dirty="0">
                <a:solidFill>
                  <a:srgbClr val="FFFFFF"/>
                </a:solidFill>
                <a:latin typeface="Consolas" pitchFamily="34" charset="0"/>
                <a:ea typeface="Consolas" pitchFamily="34" charset="-122"/>
                <a:cs typeface="Consolas" pitchFamily="34" charset="-120"/>
              </a:rPr>
              <a:t> event_at
</a:t>
            </a:r>
            <a:r>
              <a:rPr lang="en-US" sz="1400" dirty="0">
                <a:solidFill>
                  <a:srgbClr val="8292A2"/>
                </a:solidFill>
                <a:latin typeface="Consolas" pitchFamily="34" charset="0"/>
                <a:ea typeface="Consolas" pitchFamily="34" charset="-122"/>
                <a:cs typeface="Consolas" pitchFamily="34" charset="-120"/>
              </a:rPr>
              <a:t>15 </a:t>
            </a:r>
            <a:r>
              <a:rPr lang="en-US" sz="1400" dirty="0">
                <a:solidFill>
                  <a:srgbClr val="66D9EF"/>
                </a:solidFill>
                <a:latin typeface="Consolas" pitchFamily="34" charset="0"/>
                <a:ea typeface="Consolas" pitchFamily="34" charset="-122"/>
                <a:cs typeface="Consolas" pitchFamily="34" charset="-120"/>
              </a:rPr>
              <a:t>from</a:t>
            </a:r>
            <a:r>
              <a:rPr lang="en-US" sz="1400" dirty="0">
                <a:solidFill>
                  <a:srgbClr val="FFFFFF"/>
                </a:solidFill>
                <a:latin typeface="Consolas" pitchFamily="34" charset="0"/>
                <a:ea typeface="Consolas" pitchFamily="34" charset="-122"/>
                <a:cs typeface="Consolas" pitchFamily="34" charset="-120"/>
              </a:rPr>
              <a:t> {{ source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'raw_sql_data'</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'vw_margin_transactions_consolidated'</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endParaRPr lang="en-US" sz="1050" dirty="0"/>
          </a:p>
        </p:txBody>
      </p:sp>
      <p:sp>
        <p:nvSpPr>
          <p:cNvPr id="11" name="Shape 9"/>
          <p:cNvSpPr/>
          <p:nvPr/>
        </p:nvSpPr>
        <p:spPr>
          <a:xfrm>
            <a:off x="7909560" y="1444752"/>
            <a:ext cx="3337560" cy="1371600"/>
          </a:xfrm>
          <a:prstGeom prst="roundRect">
            <a:avLst>
              <a:gd name="adj" fmla="val 4000"/>
            </a:avLst>
          </a:prstGeom>
          <a:solidFill>
            <a:srgbClr val="FBFDFF"/>
          </a:solidFill>
          <a:ln w="12700">
            <a:solidFill>
              <a:srgbClr val="D8E1EE"/>
            </a:solidFill>
            <a:prstDash val="solid"/>
          </a:ln>
        </p:spPr>
        <p:txBody>
          <a:bodyPr/>
          <a:lstStyle/>
          <a:p>
            <a:endParaRPr lang="en-US"/>
          </a:p>
        </p:txBody>
      </p:sp>
      <p:sp>
        <p:nvSpPr>
          <p:cNvPr id="12" name="Shape 10"/>
          <p:cNvSpPr/>
          <p:nvPr/>
        </p:nvSpPr>
        <p:spPr>
          <a:xfrm>
            <a:off x="7909560" y="1444752"/>
            <a:ext cx="109728" cy="1371600"/>
          </a:xfrm>
          <a:prstGeom prst="rect">
            <a:avLst/>
          </a:prstGeom>
          <a:solidFill>
            <a:srgbClr val="2F6BFF"/>
          </a:solidFill>
          <a:ln w="12700">
            <a:solidFill>
              <a:srgbClr val="2F6BFF">
                <a:alpha val="0"/>
              </a:srgbClr>
            </a:solidFill>
            <a:prstDash val="solid"/>
          </a:ln>
        </p:spPr>
        <p:txBody>
          <a:bodyPr/>
          <a:lstStyle/>
          <a:p>
            <a:endParaRPr lang="en-US"/>
          </a:p>
        </p:txBody>
      </p:sp>
      <p:sp>
        <p:nvSpPr>
          <p:cNvPr id="13" name="Text 11"/>
          <p:cNvSpPr/>
          <p:nvPr/>
        </p:nvSpPr>
        <p:spPr>
          <a:xfrm>
            <a:off x="8110728" y="1609344"/>
            <a:ext cx="3017520" cy="219456"/>
          </a:xfrm>
          <a:prstGeom prst="rect">
            <a:avLst/>
          </a:prstGeom>
          <a:noFill/>
          <a:ln/>
        </p:spPr>
        <p:txBody>
          <a:bodyPr wrap="square" lIns="0" tIns="0" rIns="0" bIns="0" rtlCol="0" anchor="ctr"/>
          <a:lstStyle/>
          <a:p>
            <a:pPr marL="0" indent="0">
              <a:buNone/>
            </a:pPr>
            <a:r>
              <a:rPr lang="en-US" sz="1900" b="1" dirty="0">
                <a:solidFill>
                  <a:srgbClr val="13233F"/>
                </a:solidFill>
              </a:rPr>
              <a:t>Why this model matters</a:t>
            </a:r>
            <a:endParaRPr lang="en-US" sz="1900" dirty="0"/>
          </a:p>
        </p:txBody>
      </p:sp>
      <p:sp>
        <p:nvSpPr>
          <p:cNvPr id="14" name="Text 12"/>
          <p:cNvSpPr/>
          <p:nvPr/>
        </p:nvSpPr>
        <p:spPr>
          <a:xfrm>
            <a:off x="8110728" y="1929384"/>
            <a:ext cx="2990088" cy="804672"/>
          </a:xfrm>
          <a:prstGeom prst="rect">
            <a:avLst/>
          </a:prstGeom>
          <a:noFill/>
          <a:ln/>
        </p:spPr>
        <p:txBody>
          <a:bodyPr wrap="square" lIns="0" tIns="0" rIns="0" bIns="0" rtlCol="0" anchor="t"/>
          <a:lstStyle/>
          <a:p>
            <a:pPr marL="0" indent="0">
              <a:buNone/>
            </a:pPr>
            <a:r>
              <a:rPr lang="en-US" sz="1450" dirty="0">
                <a:solidFill>
                  <a:srgbClr val="1E2A3A"/>
                </a:solidFill>
              </a:rPr>
              <a:t>• The LLM no longer has to infer what mc_amt or st_cd mean.</a:t>
            </a:r>
            <a:endParaRPr lang="en-US" sz="1450" dirty="0"/>
          </a:p>
          <a:p>
            <a:pPr marL="0" indent="0">
              <a:buNone/>
            </a:pPr>
            <a:r>
              <a:rPr lang="en-US" sz="1450" dirty="0">
                <a:solidFill>
                  <a:srgbClr val="1E2A3A"/>
                </a:solidFill>
              </a:rPr>
              <a:t>• All downstream metrics can reuse clean, typed columns.</a:t>
            </a:r>
            <a:endParaRPr lang="en-US" sz="1450" dirty="0"/>
          </a:p>
        </p:txBody>
      </p:sp>
      <p:sp>
        <p:nvSpPr>
          <p:cNvPr id="15" name="Shape 13"/>
          <p:cNvSpPr/>
          <p:nvPr/>
        </p:nvSpPr>
        <p:spPr>
          <a:xfrm>
            <a:off x="7909560" y="3063240"/>
            <a:ext cx="3337560" cy="1325880"/>
          </a:xfrm>
          <a:prstGeom prst="roundRect">
            <a:avLst>
              <a:gd name="adj" fmla="val 4138"/>
            </a:avLst>
          </a:prstGeom>
          <a:solidFill>
            <a:srgbClr val="FFF8F8"/>
          </a:solidFill>
          <a:ln w="12700">
            <a:solidFill>
              <a:srgbClr val="D8E1EE"/>
            </a:solidFill>
            <a:prstDash val="solid"/>
          </a:ln>
        </p:spPr>
        <p:txBody>
          <a:bodyPr/>
          <a:lstStyle/>
          <a:p>
            <a:endParaRPr lang="en-US"/>
          </a:p>
        </p:txBody>
      </p:sp>
      <p:sp>
        <p:nvSpPr>
          <p:cNvPr id="16" name="Shape 14"/>
          <p:cNvSpPr/>
          <p:nvPr/>
        </p:nvSpPr>
        <p:spPr>
          <a:xfrm>
            <a:off x="7909560" y="3063240"/>
            <a:ext cx="109728" cy="1325880"/>
          </a:xfrm>
          <a:prstGeom prst="rect">
            <a:avLst/>
          </a:prstGeom>
          <a:solidFill>
            <a:srgbClr val="E95D5D"/>
          </a:solidFill>
          <a:ln w="12700">
            <a:solidFill>
              <a:srgbClr val="E95D5D">
                <a:alpha val="0"/>
              </a:srgbClr>
            </a:solidFill>
            <a:prstDash val="solid"/>
          </a:ln>
        </p:spPr>
        <p:txBody>
          <a:bodyPr/>
          <a:lstStyle/>
          <a:p>
            <a:endParaRPr lang="en-US"/>
          </a:p>
        </p:txBody>
      </p:sp>
      <p:sp>
        <p:nvSpPr>
          <p:cNvPr id="17" name="Text 15"/>
          <p:cNvSpPr/>
          <p:nvPr/>
        </p:nvSpPr>
        <p:spPr>
          <a:xfrm>
            <a:off x="8110728" y="3227832"/>
            <a:ext cx="3017520" cy="219456"/>
          </a:xfrm>
          <a:prstGeom prst="rect">
            <a:avLst/>
          </a:prstGeom>
          <a:noFill/>
          <a:ln/>
        </p:spPr>
        <p:txBody>
          <a:bodyPr wrap="square" lIns="0" tIns="0" rIns="0" bIns="0" rtlCol="0" anchor="ctr"/>
          <a:lstStyle/>
          <a:p>
            <a:pPr marL="0" indent="0">
              <a:buNone/>
            </a:pPr>
            <a:r>
              <a:rPr lang="en-US" sz="1900" b="1" dirty="0">
                <a:solidFill>
                  <a:srgbClr val="13233F"/>
                </a:solidFill>
              </a:rPr>
              <a:t>Important correction</a:t>
            </a:r>
            <a:endParaRPr lang="en-US" sz="1900" dirty="0"/>
          </a:p>
        </p:txBody>
      </p:sp>
      <p:sp>
        <p:nvSpPr>
          <p:cNvPr id="18" name="Text 16"/>
          <p:cNvSpPr/>
          <p:nvPr/>
        </p:nvSpPr>
        <p:spPr>
          <a:xfrm>
            <a:off x="8110728" y="3547872"/>
            <a:ext cx="2990088" cy="758952"/>
          </a:xfrm>
          <a:prstGeom prst="rect">
            <a:avLst/>
          </a:prstGeom>
          <a:noFill/>
          <a:ln/>
        </p:spPr>
        <p:txBody>
          <a:bodyPr wrap="square" lIns="0" tIns="0" rIns="0" bIns="0" rtlCol="0" anchor="t"/>
          <a:lstStyle/>
          <a:p>
            <a:pPr marL="0" indent="0">
              <a:buNone/>
            </a:pPr>
            <a:r>
              <a:rPr lang="en-US" sz="1450" dirty="0">
                <a:solidFill>
                  <a:srgbClr val="1E2A3A"/>
                </a:solidFill>
              </a:rPr>
              <a:t>• net_val is explicitly created here so the semantic metric can reference a real measure.</a:t>
            </a:r>
            <a:endParaRPr lang="en-US" sz="1450" dirty="0"/>
          </a:p>
        </p:txBody>
      </p:sp>
      <p:sp>
        <p:nvSpPr>
          <p:cNvPr id="19" name="Shape 17"/>
          <p:cNvSpPr/>
          <p:nvPr/>
        </p:nvSpPr>
        <p:spPr>
          <a:xfrm>
            <a:off x="7909560" y="4617720"/>
            <a:ext cx="3337560" cy="1005840"/>
          </a:xfrm>
          <a:prstGeom prst="roundRect">
            <a:avLst>
              <a:gd name="adj" fmla="val 5455"/>
            </a:avLst>
          </a:prstGeom>
          <a:solidFill>
            <a:srgbClr val="FBFFFD"/>
          </a:solidFill>
          <a:ln w="12700">
            <a:solidFill>
              <a:srgbClr val="D8E1EE"/>
            </a:solidFill>
            <a:prstDash val="solid"/>
          </a:ln>
        </p:spPr>
        <p:txBody>
          <a:bodyPr/>
          <a:lstStyle/>
          <a:p>
            <a:endParaRPr lang="en-US"/>
          </a:p>
        </p:txBody>
      </p:sp>
      <p:sp>
        <p:nvSpPr>
          <p:cNvPr id="20" name="Shape 18"/>
          <p:cNvSpPr/>
          <p:nvPr/>
        </p:nvSpPr>
        <p:spPr>
          <a:xfrm>
            <a:off x="7909560" y="4617720"/>
            <a:ext cx="109728" cy="1005840"/>
          </a:xfrm>
          <a:prstGeom prst="rect">
            <a:avLst/>
          </a:prstGeom>
          <a:solidFill>
            <a:srgbClr val="17B9A6"/>
          </a:solidFill>
          <a:ln w="12700">
            <a:solidFill>
              <a:srgbClr val="17B9A6">
                <a:alpha val="0"/>
              </a:srgbClr>
            </a:solidFill>
            <a:prstDash val="solid"/>
          </a:ln>
        </p:spPr>
        <p:txBody>
          <a:bodyPr/>
          <a:lstStyle/>
          <a:p>
            <a:endParaRPr lang="en-US"/>
          </a:p>
        </p:txBody>
      </p:sp>
      <p:sp>
        <p:nvSpPr>
          <p:cNvPr id="21" name="Text 19"/>
          <p:cNvSpPr/>
          <p:nvPr/>
        </p:nvSpPr>
        <p:spPr>
          <a:xfrm>
            <a:off x="8110728" y="4782312"/>
            <a:ext cx="3017520" cy="219456"/>
          </a:xfrm>
          <a:prstGeom prst="rect">
            <a:avLst/>
          </a:prstGeom>
          <a:noFill/>
          <a:ln/>
        </p:spPr>
        <p:txBody>
          <a:bodyPr wrap="square" lIns="0" tIns="0" rIns="0" bIns="0" rtlCol="0" anchor="ctr"/>
          <a:lstStyle/>
          <a:p>
            <a:pPr marL="0" indent="0">
              <a:buNone/>
            </a:pPr>
            <a:r>
              <a:rPr lang="en-US" sz="1900" b="1" dirty="0">
                <a:solidFill>
                  <a:srgbClr val="13233F"/>
                </a:solidFill>
              </a:rPr>
              <a:t>Design rule</a:t>
            </a:r>
            <a:endParaRPr lang="en-US" sz="1900" dirty="0"/>
          </a:p>
        </p:txBody>
      </p:sp>
      <p:sp>
        <p:nvSpPr>
          <p:cNvPr id="22" name="Text 20"/>
          <p:cNvSpPr/>
          <p:nvPr/>
        </p:nvSpPr>
        <p:spPr>
          <a:xfrm>
            <a:off x="8110728" y="5102352"/>
            <a:ext cx="2990088" cy="438912"/>
          </a:xfrm>
          <a:prstGeom prst="rect">
            <a:avLst/>
          </a:prstGeom>
          <a:noFill/>
          <a:ln/>
        </p:spPr>
        <p:txBody>
          <a:bodyPr wrap="square" lIns="0" tIns="0" rIns="0" bIns="0" rtlCol="0" anchor="t"/>
          <a:lstStyle/>
          <a:p>
            <a:pPr marL="0" indent="0">
              <a:buNone/>
            </a:pPr>
            <a:r>
              <a:rPr lang="en-US" sz="1450" dirty="0">
                <a:solidFill>
                  <a:srgbClr val="1E2A3A"/>
                </a:solidFill>
              </a:rPr>
              <a:t>• Type cast early. Rename once. Reuse everywhere.</a:t>
            </a:r>
            <a:endParaRPr lang="en-US" sz="1450" dirty="0"/>
          </a:p>
        </p:txBody>
      </p:sp>
      <p:sp>
        <p:nvSpPr>
          <p:cNvPr id="23" name="Text 21"/>
          <p:cNvSpPr/>
          <p:nvPr/>
        </p:nvSpPr>
        <p:spPr>
          <a:xfrm>
            <a:off x="566928" y="6437376"/>
            <a:ext cx="9875520" cy="164592"/>
          </a:xfrm>
          <a:prstGeom prst="rect">
            <a:avLst/>
          </a:prstGeom>
          <a:noFill/>
          <a:ln/>
        </p:spPr>
        <p:txBody>
          <a:bodyPr wrap="square" lIns="0" tIns="0" rIns="0" bIns="0" rtlCol="0" anchor="ctr"/>
          <a:lstStyle/>
          <a:p>
            <a:pPr marL="0" indent="0">
              <a:buNone/>
            </a:pPr>
            <a:r>
              <a:rPr lang="en-US" sz="950" dirty="0">
                <a:solidFill>
                  <a:srgbClr val="6C7A89"/>
                </a:solidFill>
              </a:rPr>
              <a:t>Revised approach: JSON + DuckDB or direct SQL source</a:t>
            </a:r>
            <a:endParaRPr lang="en-US" sz="950" dirty="0"/>
          </a:p>
        </p:txBody>
      </p:sp>
      <p:sp>
        <p:nvSpPr>
          <p:cNvPr id="24" name="Text 22"/>
          <p:cNvSpPr/>
          <p:nvPr/>
        </p:nvSpPr>
        <p:spPr>
          <a:xfrm>
            <a:off x="11155680" y="6409944"/>
            <a:ext cx="411480" cy="182880"/>
          </a:xfrm>
          <a:prstGeom prst="rect">
            <a:avLst/>
          </a:prstGeom>
          <a:noFill/>
          <a:ln/>
        </p:spPr>
        <p:txBody>
          <a:bodyPr wrap="square" lIns="0" tIns="0" rIns="0" bIns="0" rtlCol="0" anchor="ctr"/>
          <a:lstStyle/>
          <a:p>
            <a:pPr marL="0" indent="0" algn="r">
              <a:buNone/>
            </a:pPr>
            <a:r>
              <a:rPr lang="en-US" sz="1000" b="1" dirty="0">
                <a:solidFill>
                  <a:srgbClr val="6C7A89"/>
                </a:solidFill>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3233F"/>
          </a:solidFill>
          <a:ln w="12700">
            <a:solidFill>
              <a:srgbClr val="13233F">
                <a:alpha val="0"/>
              </a:srgbClr>
            </a:solidFill>
            <a:prstDash val="solid"/>
          </a:ln>
        </p:spPr>
        <p:txBody>
          <a:bodyPr/>
          <a:lstStyle/>
          <a:p>
            <a:endParaRPr lang="en-US"/>
          </a:p>
        </p:txBody>
      </p:sp>
      <p:sp>
        <p:nvSpPr>
          <p:cNvPr id="3" name="Text 1"/>
          <p:cNvSpPr/>
          <p:nvPr/>
        </p:nvSpPr>
        <p:spPr>
          <a:xfrm>
            <a:off x="566928" y="164592"/>
            <a:ext cx="8046720" cy="237744"/>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semantic_models.yml: the contract Gemini reasons over</a:t>
            </a:r>
            <a:endParaRPr lang="en-US" sz="2600" dirty="0"/>
          </a:p>
        </p:txBody>
      </p:sp>
      <p:sp>
        <p:nvSpPr>
          <p:cNvPr id="4" name="Text 2"/>
          <p:cNvSpPr/>
          <p:nvPr/>
        </p:nvSpPr>
        <p:spPr>
          <a:xfrm>
            <a:off x="9281160" y="164592"/>
            <a:ext cx="2240280" cy="219456"/>
          </a:xfrm>
          <a:prstGeom prst="rect">
            <a:avLst/>
          </a:prstGeom>
          <a:noFill/>
          <a:ln/>
        </p:spPr>
        <p:txBody>
          <a:bodyPr wrap="square" lIns="0" tIns="0" rIns="0" bIns="0" rtlCol="0" anchor="ctr"/>
          <a:lstStyle/>
          <a:p>
            <a:pPr marL="0" indent="0" algn="r">
              <a:buNone/>
            </a:pPr>
            <a:r>
              <a:rPr lang="en-US" sz="1050" dirty="0">
                <a:solidFill>
                  <a:srgbClr val="D7E2FF"/>
                </a:solidFill>
                <a:latin typeface="Aptos" pitchFamily="34" charset="0"/>
                <a:ea typeface="Aptos" pitchFamily="34" charset="-122"/>
                <a:cs typeface="Aptos" pitchFamily="34" charset="-120"/>
              </a:rPr>
              <a:t>Semantic GenAI for BI · Phase 1</a:t>
            </a:r>
            <a:endParaRPr lang="en-US" sz="1050" dirty="0"/>
          </a:p>
        </p:txBody>
      </p:sp>
      <p:sp>
        <p:nvSpPr>
          <p:cNvPr id="5" name="Shape 3"/>
          <p:cNvSpPr/>
          <p:nvPr/>
        </p:nvSpPr>
        <p:spPr>
          <a:xfrm>
            <a:off x="566928" y="6382512"/>
            <a:ext cx="11064240" cy="0"/>
          </a:xfrm>
          <a:prstGeom prst="line">
            <a:avLst/>
          </a:prstGeom>
          <a:noFill/>
          <a:ln w="12700">
            <a:solidFill>
              <a:srgbClr val="D8E1EE"/>
            </a:solidFill>
            <a:prstDash val="solid"/>
          </a:ln>
        </p:spPr>
        <p:txBody>
          <a:bodyPr/>
          <a:lstStyle/>
          <a:p>
            <a:endParaRPr lang="en-US"/>
          </a:p>
        </p:txBody>
      </p:sp>
      <p:sp>
        <p:nvSpPr>
          <p:cNvPr id="6" name="Shape 4"/>
          <p:cNvSpPr/>
          <p:nvPr/>
        </p:nvSpPr>
        <p:spPr>
          <a:xfrm>
            <a:off x="749808" y="1234440"/>
            <a:ext cx="7086600" cy="4663440"/>
          </a:xfrm>
          <a:prstGeom prst="roundRect">
            <a:avLst>
              <a:gd name="adj" fmla="val 784"/>
            </a:avLst>
          </a:prstGeom>
          <a:solidFill>
            <a:srgbClr val="FCFDFE"/>
          </a:solidFill>
          <a:ln w="12700">
            <a:solidFill>
              <a:srgbClr val="D8E1EE"/>
            </a:solidFill>
            <a:prstDash val="solid"/>
          </a:ln>
        </p:spPr>
        <p:txBody>
          <a:bodyPr/>
          <a:lstStyle/>
          <a:p>
            <a:endParaRPr lang="en-US"/>
          </a:p>
        </p:txBody>
      </p:sp>
      <p:sp>
        <p:nvSpPr>
          <p:cNvPr id="7" name="Shape 5"/>
          <p:cNvSpPr/>
          <p:nvPr/>
        </p:nvSpPr>
        <p:spPr>
          <a:xfrm>
            <a:off x="749808" y="1234440"/>
            <a:ext cx="7086600" cy="310896"/>
          </a:xfrm>
          <a:prstGeom prst="rect">
            <a:avLst/>
          </a:prstGeom>
          <a:solidFill>
            <a:srgbClr val="243B63"/>
          </a:solidFill>
          <a:ln w="12700">
            <a:solidFill>
              <a:srgbClr val="243B63">
                <a:alpha val="0"/>
              </a:srgbClr>
            </a:solidFill>
            <a:prstDash val="solid"/>
          </a:ln>
        </p:spPr>
        <p:txBody>
          <a:bodyPr/>
          <a:lstStyle/>
          <a:p>
            <a:endParaRPr lang="en-US"/>
          </a:p>
        </p:txBody>
      </p:sp>
      <p:sp>
        <p:nvSpPr>
          <p:cNvPr id="8" name="Text 6"/>
          <p:cNvSpPr/>
          <p:nvPr/>
        </p:nvSpPr>
        <p:spPr>
          <a:xfrm>
            <a:off x="886968" y="1307592"/>
            <a:ext cx="6812280" cy="146304"/>
          </a:xfrm>
          <a:prstGeom prst="rect">
            <a:avLst/>
          </a:prstGeom>
          <a:noFill/>
          <a:ln/>
        </p:spPr>
        <p:txBody>
          <a:bodyPr wrap="square" lIns="0" tIns="0" rIns="0" bIns="0" rtlCol="0" anchor="ctr"/>
          <a:lstStyle/>
          <a:p>
            <a:pPr marL="0" indent="0">
              <a:buNone/>
            </a:pPr>
            <a:r>
              <a:rPr lang="en-US" sz="1150" b="1" dirty="0">
                <a:solidFill>
                  <a:srgbClr val="FFFFFF"/>
                </a:solidFill>
              </a:rPr>
              <a:t>margin_risk.yml excerpt</a:t>
            </a:r>
            <a:endParaRPr lang="en-US" sz="1150" dirty="0"/>
          </a:p>
        </p:txBody>
      </p:sp>
      <p:sp>
        <p:nvSpPr>
          <p:cNvPr id="9" name="Text 7"/>
          <p:cNvSpPr/>
          <p:nvPr/>
        </p:nvSpPr>
        <p:spPr>
          <a:xfrm>
            <a:off x="896112" y="1645920"/>
            <a:ext cx="6793992" cy="4151376"/>
          </a:xfrm>
          <a:prstGeom prst="rect">
            <a:avLst/>
          </a:prstGeom>
          <a:solidFill>
            <a:srgbClr val="222831"/>
          </a:solidFill>
          <a:ln w="9525">
            <a:solidFill>
              <a:srgbClr val="35404F"/>
            </a:solidFill>
          </a:ln>
        </p:spPr>
        <p:txBody>
          <a:bodyPr wrap="square" lIns="73152" tIns="54864" rIns="73152" bIns="54864" rtlCol="0" anchor="t">
            <a:normAutofit fontScale="77500" lnSpcReduction="20000"/>
          </a:bodyP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FFFFFF"/>
                </a:solidFill>
                <a:latin typeface="Consolas" pitchFamily="34" charset="0"/>
                <a:ea typeface="Consolas" pitchFamily="34" charset="-122"/>
                <a:cs typeface="Consolas" pitchFamily="34" charset="-120"/>
              </a:rPr>
              <a:t>semantic_models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name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margin_call_analysis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model</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ref('stg_margin_calls')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entities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name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call_id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type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primary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dimensions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name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event_at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type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time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FFFFF"/>
                </a:solidFill>
                <a:latin typeface="Consolas" pitchFamily="34" charset="0"/>
                <a:ea typeface="Consolas" pitchFamily="34" charset="-122"/>
                <a:cs typeface="Consolas" pitchFamily="34" charset="-120"/>
              </a:rPr>
              <a:t>        type_params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11 </a:t>
            </a:r>
            <a:r>
              <a:rPr lang="en-US" sz="1400" dirty="0">
                <a:solidFill>
                  <a:srgbClr val="FFFFFF"/>
                </a:solidFill>
                <a:latin typeface="Consolas" pitchFamily="34" charset="0"/>
                <a:ea typeface="Consolas" pitchFamily="34" charset="-122"/>
                <a:cs typeface="Consolas" pitchFamily="34" charset="-120"/>
              </a:rPr>
              <a:t>          time_granularity</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day
</a:t>
            </a:r>
            <a:r>
              <a:rPr lang="en-US" sz="1400" dirty="0">
                <a:solidFill>
                  <a:srgbClr val="8292A2"/>
                </a:solidFill>
                <a:latin typeface="Consolas" pitchFamily="34" charset="0"/>
                <a:ea typeface="Consolas" pitchFamily="34" charset="-122"/>
                <a:cs typeface="Consolas" pitchFamily="34" charset="-120"/>
              </a:rPr>
              <a:t>12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name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status_name
</a:t>
            </a:r>
            <a:r>
              <a:rPr lang="en-US" sz="1400" dirty="0">
                <a:solidFill>
                  <a:srgbClr val="8292A2"/>
                </a:solidFill>
                <a:latin typeface="Consolas" pitchFamily="34" charset="0"/>
                <a:ea typeface="Consolas" pitchFamily="34" charset="-122"/>
                <a:cs typeface="Consolas" pitchFamily="34" charset="-120"/>
              </a:rPr>
              <a:t>13 </a:t>
            </a:r>
            <a:r>
              <a:rPr lang="en-US" sz="1400" dirty="0">
                <a:solidFill>
                  <a:srgbClr val="FFFFFF"/>
                </a:solidFill>
                <a:latin typeface="Consolas" pitchFamily="34" charset="0"/>
                <a:ea typeface="Consolas" pitchFamily="34" charset="-122"/>
                <a:cs typeface="Consolas" pitchFamily="34" charset="-120"/>
              </a:rPr>
              <a:t>        type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categorical
</a:t>
            </a:r>
            <a:r>
              <a:rPr lang="en-US" sz="1400" dirty="0">
                <a:solidFill>
                  <a:srgbClr val="8292A2"/>
                </a:solidFill>
                <a:latin typeface="Consolas" pitchFamily="34" charset="0"/>
                <a:ea typeface="Consolas" pitchFamily="34" charset="-122"/>
                <a:cs typeface="Consolas" pitchFamily="34" charset="-120"/>
              </a:rPr>
              <a:t>14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15 </a:t>
            </a:r>
            <a:r>
              <a:rPr lang="en-US" sz="1400" dirty="0">
                <a:solidFill>
                  <a:srgbClr val="FFFFFF"/>
                </a:solidFill>
                <a:latin typeface="Consolas" pitchFamily="34" charset="0"/>
                <a:ea typeface="Consolas" pitchFamily="34" charset="-122"/>
                <a:cs typeface="Consolas" pitchFamily="34" charset="-120"/>
              </a:rPr>
              <a:t>metrics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16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name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net_margin_exposure
</a:t>
            </a:r>
            <a:r>
              <a:rPr lang="en-US" sz="1400" dirty="0">
                <a:solidFill>
                  <a:srgbClr val="8292A2"/>
                </a:solidFill>
                <a:latin typeface="Consolas" pitchFamily="34" charset="0"/>
                <a:ea typeface="Consolas" pitchFamily="34" charset="-122"/>
                <a:cs typeface="Consolas" pitchFamily="34" charset="-120"/>
              </a:rPr>
              <a:t>17 </a:t>
            </a:r>
            <a:r>
              <a:rPr lang="en-US" sz="1400" dirty="0">
                <a:solidFill>
                  <a:srgbClr val="FFFFFF"/>
                </a:solidFill>
                <a:latin typeface="Consolas" pitchFamily="34" charset="0"/>
                <a:ea typeface="Consolas" pitchFamily="34" charset="-122"/>
                <a:cs typeface="Consolas" pitchFamily="34" charset="-120"/>
              </a:rPr>
              <a:t>    type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simple
</a:t>
            </a:r>
            <a:r>
              <a:rPr lang="en-US" sz="1400" dirty="0">
                <a:solidFill>
                  <a:srgbClr val="8292A2"/>
                </a:solidFill>
                <a:latin typeface="Consolas" pitchFamily="34" charset="0"/>
                <a:ea typeface="Consolas" pitchFamily="34" charset="-122"/>
                <a:cs typeface="Consolas" pitchFamily="34" charset="-120"/>
              </a:rPr>
              <a:t>18 </a:t>
            </a:r>
            <a:r>
              <a:rPr lang="en-US" sz="1400" dirty="0">
                <a:solidFill>
                  <a:srgbClr val="FFFFFF"/>
                </a:solidFill>
                <a:latin typeface="Consolas" pitchFamily="34" charset="0"/>
                <a:ea typeface="Consolas" pitchFamily="34" charset="-122"/>
                <a:cs typeface="Consolas" pitchFamily="34" charset="-120"/>
              </a:rPr>
              <a:t>    type_params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19 </a:t>
            </a:r>
            <a:r>
              <a:rPr lang="en-US" sz="1400" dirty="0">
                <a:solidFill>
                  <a:srgbClr val="FFFFFF"/>
                </a:solidFill>
                <a:latin typeface="Consolas" pitchFamily="34" charset="0"/>
                <a:ea typeface="Consolas" pitchFamily="34" charset="-122"/>
                <a:cs typeface="Consolas" pitchFamily="34" charset="-120"/>
              </a:rPr>
              <a:t>      measure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net_val
</a:t>
            </a:r>
            <a:r>
              <a:rPr lang="en-US" sz="1400" dirty="0">
                <a:solidFill>
                  <a:srgbClr val="8292A2"/>
                </a:solidFill>
                <a:latin typeface="Consolas" pitchFamily="34" charset="0"/>
                <a:ea typeface="Consolas" pitchFamily="34" charset="-122"/>
                <a:cs typeface="Consolas" pitchFamily="34" charset="-120"/>
              </a:rPr>
              <a:t>20 </a:t>
            </a:r>
            <a:r>
              <a:rPr lang="en-US" sz="1400" dirty="0">
                <a:solidFill>
                  <a:srgbClr val="FFFFFF"/>
                </a:solidFill>
                <a:latin typeface="Consolas" pitchFamily="34" charset="0"/>
                <a:ea typeface="Consolas" pitchFamily="34" charset="-122"/>
                <a:cs typeface="Consolas" pitchFamily="34" charset="-120"/>
              </a:rPr>
              <a:t>    filter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21 </a:t>
            </a:r>
            <a:r>
              <a:rPr lang="en-US" sz="1400" dirty="0">
                <a:solidFill>
                  <a:srgbClr val="FFFFFF"/>
                </a:solidFill>
                <a:latin typeface="Consolas" pitchFamily="34" charset="0"/>
                <a:ea typeface="Consolas" pitchFamily="34" charset="-122"/>
                <a:cs typeface="Consolas" pitchFamily="34" charset="-120"/>
              </a:rPr>
              <a:t>      status_name = 'CONFIRMED'
</a:t>
            </a:r>
            <a:r>
              <a:rPr lang="en-US" sz="1400" dirty="0">
                <a:solidFill>
                  <a:srgbClr val="8292A2"/>
                </a:solidFill>
                <a:latin typeface="Consolas" pitchFamily="34" charset="0"/>
                <a:ea typeface="Consolas" pitchFamily="34" charset="-122"/>
                <a:cs typeface="Consolas" pitchFamily="34" charset="-120"/>
              </a:rPr>
              <a:t>22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23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name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high_risk_breaches
</a:t>
            </a:r>
            <a:r>
              <a:rPr lang="en-US" sz="1400" dirty="0">
                <a:solidFill>
                  <a:srgbClr val="8292A2"/>
                </a:solidFill>
                <a:latin typeface="Consolas" pitchFamily="34" charset="0"/>
                <a:ea typeface="Consolas" pitchFamily="34" charset="-122"/>
                <a:cs typeface="Consolas" pitchFamily="34" charset="-120"/>
              </a:rPr>
              <a:t>24 </a:t>
            </a:r>
            <a:r>
              <a:rPr lang="en-US" sz="1400" dirty="0">
                <a:solidFill>
                  <a:srgbClr val="FFFFFF"/>
                </a:solidFill>
                <a:latin typeface="Consolas" pitchFamily="34" charset="0"/>
                <a:ea typeface="Consolas" pitchFamily="34" charset="-122"/>
                <a:cs typeface="Consolas" pitchFamily="34" charset="-120"/>
              </a:rPr>
              <a:t>    type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simple
</a:t>
            </a:r>
            <a:r>
              <a:rPr lang="en-US" sz="1400" dirty="0">
                <a:solidFill>
                  <a:srgbClr val="8292A2"/>
                </a:solidFill>
                <a:latin typeface="Consolas" pitchFamily="34" charset="0"/>
                <a:ea typeface="Consolas" pitchFamily="34" charset="-122"/>
                <a:cs typeface="Consolas" pitchFamily="34" charset="-120"/>
              </a:rPr>
              <a:t>25 </a:t>
            </a:r>
            <a:r>
              <a:rPr lang="en-US" sz="1400" dirty="0">
                <a:solidFill>
                  <a:srgbClr val="FFFFFF"/>
                </a:solidFill>
                <a:latin typeface="Consolas" pitchFamily="34" charset="0"/>
                <a:ea typeface="Consolas" pitchFamily="34" charset="-122"/>
                <a:cs typeface="Consolas" pitchFamily="34" charset="-120"/>
              </a:rPr>
              <a:t>    type_params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26 </a:t>
            </a:r>
            <a:r>
              <a:rPr lang="en-US" sz="1400" dirty="0">
                <a:solidFill>
                  <a:srgbClr val="FFFFFF"/>
                </a:solidFill>
                <a:latin typeface="Consolas" pitchFamily="34" charset="0"/>
                <a:ea typeface="Consolas" pitchFamily="34" charset="-122"/>
                <a:cs typeface="Consolas" pitchFamily="34" charset="-120"/>
              </a:rPr>
              <a:t>      measure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call_id
</a:t>
            </a:r>
            <a:r>
              <a:rPr lang="en-US" sz="1400" dirty="0">
                <a:solidFill>
                  <a:srgbClr val="8292A2"/>
                </a:solidFill>
                <a:latin typeface="Consolas" pitchFamily="34" charset="0"/>
                <a:ea typeface="Consolas" pitchFamily="34" charset="-122"/>
                <a:cs typeface="Consolas" pitchFamily="34" charset="-120"/>
              </a:rPr>
              <a:t>27 </a:t>
            </a:r>
            <a:r>
              <a:rPr lang="en-US" sz="1400" dirty="0">
                <a:solidFill>
                  <a:srgbClr val="FFFFFF"/>
                </a:solidFill>
                <a:latin typeface="Consolas" pitchFamily="34" charset="0"/>
                <a:ea typeface="Consolas" pitchFamily="34" charset="-122"/>
                <a:cs typeface="Consolas" pitchFamily="34" charset="-120"/>
              </a:rPr>
              <a:t>      aggregation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count_distinct
</a:t>
            </a:r>
            <a:r>
              <a:rPr lang="en-US" sz="1400" dirty="0">
                <a:solidFill>
                  <a:srgbClr val="8292A2"/>
                </a:solidFill>
                <a:latin typeface="Consolas" pitchFamily="34" charset="0"/>
                <a:ea typeface="Consolas" pitchFamily="34" charset="-122"/>
                <a:cs typeface="Consolas" pitchFamily="34" charset="-120"/>
              </a:rPr>
              <a:t>28 </a:t>
            </a:r>
            <a:r>
              <a:rPr lang="en-US" sz="1400" dirty="0">
                <a:solidFill>
                  <a:srgbClr val="FFFFFF"/>
                </a:solidFill>
                <a:latin typeface="Consolas" pitchFamily="34" charset="0"/>
                <a:ea typeface="Consolas" pitchFamily="34" charset="-122"/>
                <a:cs typeface="Consolas" pitchFamily="34" charset="-120"/>
              </a:rPr>
              <a:t>    filter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29 </a:t>
            </a:r>
            <a:r>
              <a:rPr lang="en-US" sz="1400" dirty="0">
                <a:solidFill>
                  <a:srgbClr val="FFFFFF"/>
                </a:solidFill>
                <a:latin typeface="Consolas" pitchFamily="34" charset="0"/>
                <a:ea typeface="Consolas" pitchFamily="34" charset="-122"/>
                <a:cs typeface="Consolas" pitchFamily="34" charset="-120"/>
              </a:rPr>
              <a:t>      status_name = 'CONFIRMED' AND margin_amount_usd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5000000</a:t>
            </a:r>
            <a:endParaRPr lang="en-US" sz="1050" dirty="0"/>
          </a:p>
        </p:txBody>
      </p:sp>
      <p:sp>
        <p:nvSpPr>
          <p:cNvPr id="10" name="Shape 8"/>
          <p:cNvSpPr/>
          <p:nvPr/>
        </p:nvSpPr>
        <p:spPr>
          <a:xfrm>
            <a:off x="8138160" y="1417320"/>
            <a:ext cx="3017520" cy="1417320"/>
          </a:xfrm>
          <a:prstGeom prst="roundRect">
            <a:avLst>
              <a:gd name="adj" fmla="val 3871"/>
            </a:avLst>
          </a:prstGeom>
          <a:solidFill>
            <a:srgbClr val="FBFDFF"/>
          </a:solidFill>
          <a:ln w="12700">
            <a:solidFill>
              <a:srgbClr val="D8E1EE"/>
            </a:solidFill>
            <a:prstDash val="solid"/>
          </a:ln>
        </p:spPr>
        <p:txBody>
          <a:bodyPr/>
          <a:lstStyle/>
          <a:p>
            <a:endParaRPr lang="en-US"/>
          </a:p>
        </p:txBody>
      </p:sp>
      <p:sp>
        <p:nvSpPr>
          <p:cNvPr id="11" name="Shape 9"/>
          <p:cNvSpPr/>
          <p:nvPr/>
        </p:nvSpPr>
        <p:spPr>
          <a:xfrm>
            <a:off x="8138160" y="1417320"/>
            <a:ext cx="109728" cy="1417320"/>
          </a:xfrm>
          <a:prstGeom prst="rect">
            <a:avLst/>
          </a:prstGeom>
          <a:solidFill>
            <a:srgbClr val="2F6BFF"/>
          </a:solidFill>
          <a:ln w="12700">
            <a:solidFill>
              <a:srgbClr val="2F6BFF">
                <a:alpha val="0"/>
              </a:srgbClr>
            </a:solidFill>
            <a:prstDash val="solid"/>
          </a:ln>
        </p:spPr>
        <p:txBody>
          <a:bodyPr/>
          <a:lstStyle/>
          <a:p>
            <a:endParaRPr lang="en-US"/>
          </a:p>
        </p:txBody>
      </p:sp>
      <p:sp>
        <p:nvSpPr>
          <p:cNvPr id="12" name="Text 10"/>
          <p:cNvSpPr/>
          <p:nvPr/>
        </p:nvSpPr>
        <p:spPr>
          <a:xfrm>
            <a:off x="8339328" y="1581912"/>
            <a:ext cx="2697480" cy="219456"/>
          </a:xfrm>
          <a:prstGeom prst="rect">
            <a:avLst/>
          </a:prstGeom>
          <a:noFill/>
          <a:ln/>
        </p:spPr>
        <p:txBody>
          <a:bodyPr wrap="square" lIns="0" tIns="0" rIns="0" bIns="0" rtlCol="0" anchor="ctr"/>
          <a:lstStyle/>
          <a:p>
            <a:pPr marL="0" indent="0">
              <a:buNone/>
            </a:pPr>
            <a:r>
              <a:rPr lang="en-US" sz="1900" b="1" dirty="0">
                <a:solidFill>
                  <a:srgbClr val="13233F"/>
                </a:solidFill>
              </a:rPr>
              <a:t>Entities</a:t>
            </a:r>
            <a:endParaRPr lang="en-US" sz="1900" dirty="0"/>
          </a:p>
        </p:txBody>
      </p:sp>
      <p:sp>
        <p:nvSpPr>
          <p:cNvPr id="13" name="Text 11"/>
          <p:cNvSpPr/>
          <p:nvPr/>
        </p:nvSpPr>
        <p:spPr>
          <a:xfrm>
            <a:off x="8339328" y="1901952"/>
            <a:ext cx="2670048" cy="850392"/>
          </a:xfrm>
          <a:prstGeom prst="rect">
            <a:avLst/>
          </a:prstGeom>
          <a:noFill/>
          <a:ln/>
        </p:spPr>
        <p:txBody>
          <a:bodyPr wrap="square" lIns="0" tIns="0" rIns="0" bIns="0" rtlCol="0" anchor="t"/>
          <a:lstStyle/>
          <a:p>
            <a:pPr marL="0" indent="0">
              <a:buNone/>
            </a:pPr>
            <a:r>
              <a:rPr lang="en-US" sz="1450" dirty="0">
                <a:solidFill>
                  <a:srgbClr val="1E2A3A"/>
                </a:solidFill>
              </a:rPr>
              <a:t>• Identify the grain of analysis.</a:t>
            </a:r>
            <a:endParaRPr lang="en-US" sz="1450" dirty="0"/>
          </a:p>
          <a:p>
            <a:pPr marL="0" indent="0">
              <a:buNone/>
            </a:pPr>
            <a:r>
              <a:rPr lang="en-US" sz="1450" dirty="0">
                <a:solidFill>
                  <a:srgbClr val="1E2A3A"/>
                </a:solidFill>
              </a:rPr>
              <a:t>• call_id becomes the primary business entity.</a:t>
            </a:r>
            <a:endParaRPr lang="en-US" sz="1450" dirty="0"/>
          </a:p>
        </p:txBody>
      </p:sp>
      <p:sp>
        <p:nvSpPr>
          <p:cNvPr id="14" name="Shape 12"/>
          <p:cNvSpPr/>
          <p:nvPr/>
        </p:nvSpPr>
        <p:spPr>
          <a:xfrm>
            <a:off x="8138160" y="3090672"/>
            <a:ext cx="3017520" cy="1417320"/>
          </a:xfrm>
          <a:prstGeom prst="roundRect">
            <a:avLst>
              <a:gd name="adj" fmla="val 3871"/>
            </a:avLst>
          </a:prstGeom>
          <a:solidFill>
            <a:srgbClr val="FBFFFD"/>
          </a:solidFill>
          <a:ln w="12700">
            <a:solidFill>
              <a:srgbClr val="D8E1EE"/>
            </a:solidFill>
            <a:prstDash val="solid"/>
          </a:ln>
        </p:spPr>
        <p:txBody>
          <a:bodyPr/>
          <a:lstStyle/>
          <a:p>
            <a:endParaRPr lang="en-US"/>
          </a:p>
        </p:txBody>
      </p:sp>
      <p:sp>
        <p:nvSpPr>
          <p:cNvPr id="15" name="Shape 13"/>
          <p:cNvSpPr/>
          <p:nvPr/>
        </p:nvSpPr>
        <p:spPr>
          <a:xfrm>
            <a:off x="8138160" y="3090672"/>
            <a:ext cx="109728" cy="1417320"/>
          </a:xfrm>
          <a:prstGeom prst="rect">
            <a:avLst/>
          </a:prstGeom>
          <a:solidFill>
            <a:srgbClr val="17B9A6"/>
          </a:solidFill>
          <a:ln w="12700">
            <a:solidFill>
              <a:srgbClr val="17B9A6">
                <a:alpha val="0"/>
              </a:srgbClr>
            </a:solidFill>
            <a:prstDash val="solid"/>
          </a:ln>
        </p:spPr>
        <p:txBody>
          <a:bodyPr/>
          <a:lstStyle/>
          <a:p>
            <a:endParaRPr lang="en-US"/>
          </a:p>
        </p:txBody>
      </p:sp>
      <p:sp>
        <p:nvSpPr>
          <p:cNvPr id="16" name="Text 14"/>
          <p:cNvSpPr/>
          <p:nvPr/>
        </p:nvSpPr>
        <p:spPr>
          <a:xfrm>
            <a:off x="8339328" y="3255264"/>
            <a:ext cx="2697480" cy="219456"/>
          </a:xfrm>
          <a:prstGeom prst="rect">
            <a:avLst/>
          </a:prstGeom>
          <a:noFill/>
          <a:ln/>
        </p:spPr>
        <p:txBody>
          <a:bodyPr wrap="square" lIns="0" tIns="0" rIns="0" bIns="0" rtlCol="0" anchor="ctr"/>
          <a:lstStyle/>
          <a:p>
            <a:pPr marL="0" indent="0">
              <a:buNone/>
            </a:pPr>
            <a:r>
              <a:rPr lang="en-US" sz="1900" b="1" dirty="0">
                <a:solidFill>
                  <a:srgbClr val="13233F"/>
                </a:solidFill>
              </a:rPr>
              <a:t>Dimensions</a:t>
            </a:r>
            <a:endParaRPr lang="en-US" sz="1900" dirty="0"/>
          </a:p>
        </p:txBody>
      </p:sp>
      <p:sp>
        <p:nvSpPr>
          <p:cNvPr id="17" name="Text 15"/>
          <p:cNvSpPr/>
          <p:nvPr/>
        </p:nvSpPr>
        <p:spPr>
          <a:xfrm>
            <a:off x="8339328" y="3575304"/>
            <a:ext cx="2670048" cy="850392"/>
          </a:xfrm>
          <a:prstGeom prst="rect">
            <a:avLst/>
          </a:prstGeom>
          <a:noFill/>
          <a:ln/>
        </p:spPr>
        <p:txBody>
          <a:bodyPr wrap="square" lIns="0" tIns="0" rIns="0" bIns="0" rtlCol="0" anchor="t"/>
          <a:lstStyle/>
          <a:p>
            <a:pPr marL="0" indent="0">
              <a:buNone/>
            </a:pPr>
            <a:r>
              <a:rPr lang="en-US" sz="1450" dirty="0">
                <a:solidFill>
                  <a:srgbClr val="1E2A3A"/>
                </a:solidFill>
              </a:rPr>
              <a:t>• event_at provides governed time grouping.</a:t>
            </a:r>
            <a:endParaRPr lang="en-US" sz="1450" dirty="0"/>
          </a:p>
          <a:p>
            <a:pPr marL="0" indent="0">
              <a:buNone/>
            </a:pPr>
            <a:r>
              <a:rPr lang="en-US" sz="1450" dirty="0">
                <a:solidFill>
                  <a:srgbClr val="1E2A3A"/>
                </a:solidFill>
              </a:rPr>
              <a:t>• status_name standardizes categorical filtering.</a:t>
            </a:r>
            <a:endParaRPr lang="en-US" sz="1450" dirty="0"/>
          </a:p>
        </p:txBody>
      </p:sp>
      <p:sp>
        <p:nvSpPr>
          <p:cNvPr id="18" name="Shape 16"/>
          <p:cNvSpPr/>
          <p:nvPr/>
        </p:nvSpPr>
        <p:spPr>
          <a:xfrm>
            <a:off x="8138160" y="4754880"/>
            <a:ext cx="3017520" cy="914400"/>
          </a:xfrm>
          <a:prstGeom prst="roundRect">
            <a:avLst>
              <a:gd name="adj" fmla="val 6000"/>
            </a:avLst>
          </a:prstGeom>
          <a:solidFill>
            <a:srgbClr val="FFFDF7"/>
          </a:solidFill>
          <a:ln w="12700">
            <a:solidFill>
              <a:srgbClr val="D8E1EE"/>
            </a:solidFill>
            <a:prstDash val="solid"/>
          </a:ln>
        </p:spPr>
        <p:txBody>
          <a:bodyPr/>
          <a:lstStyle/>
          <a:p>
            <a:endParaRPr lang="en-US"/>
          </a:p>
        </p:txBody>
      </p:sp>
      <p:sp>
        <p:nvSpPr>
          <p:cNvPr id="19" name="Shape 17"/>
          <p:cNvSpPr/>
          <p:nvPr/>
        </p:nvSpPr>
        <p:spPr>
          <a:xfrm>
            <a:off x="8138160" y="4754880"/>
            <a:ext cx="109728" cy="914400"/>
          </a:xfrm>
          <a:prstGeom prst="rect">
            <a:avLst/>
          </a:prstGeom>
          <a:solidFill>
            <a:srgbClr val="F5A623"/>
          </a:solidFill>
          <a:ln w="12700">
            <a:solidFill>
              <a:srgbClr val="F5A623">
                <a:alpha val="0"/>
              </a:srgbClr>
            </a:solidFill>
            <a:prstDash val="solid"/>
          </a:ln>
        </p:spPr>
        <p:txBody>
          <a:bodyPr/>
          <a:lstStyle/>
          <a:p>
            <a:endParaRPr lang="en-US"/>
          </a:p>
        </p:txBody>
      </p:sp>
      <p:sp>
        <p:nvSpPr>
          <p:cNvPr id="20" name="Text 18"/>
          <p:cNvSpPr/>
          <p:nvPr/>
        </p:nvSpPr>
        <p:spPr>
          <a:xfrm>
            <a:off x="8339328" y="4919472"/>
            <a:ext cx="2697480" cy="219456"/>
          </a:xfrm>
          <a:prstGeom prst="rect">
            <a:avLst/>
          </a:prstGeom>
          <a:noFill/>
          <a:ln/>
        </p:spPr>
        <p:txBody>
          <a:bodyPr wrap="square" lIns="0" tIns="0" rIns="0" bIns="0" rtlCol="0" anchor="ctr"/>
          <a:lstStyle/>
          <a:p>
            <a:pPr marL="0" indent="0">
              <a:buNone/>
            </a:pPr>
            <a:r>
              <a:rPr lang="en-US" sz="1900" b="1" dirty="0">
                <a:solidFill>
                  <a:srgbClr val="13233F"/>
                </a:solidFill>
              </a:rPr>
              <a:t>Metrics</a:t>
            </a:r>
            <a:endParaRPr lang="en-US" sz="1900" dirty="0"/>
          </a:p>
        </p:txBody>
      </p:sp>
      <p:sp>
        <p:nvSpPr>
          <p:cNvPr id="21" name="Text 19"/>
          <p:cNvSpPr/>
          <p:nvPr/>
        </p:nvSpPr>
        <p:spPr>
          <a:xfrm>
            <a:off x="8339328" y="5239512"/>
            <a:ext cx="2670048" cy="347472"/>
          </a:xfrm>
          <a:prstGeom prst="rect">
            <a:avLst/>
          </a:prstGeom>
          <a:noFill/>
          <a:ln/>
        </p:spPr>
        <p:txBody>
          <a:bodyPr wrap="square" lIns="0" tIns="0" rIns="0" bIns="0" rtlCol="0" anchor="t"/>
          <a:lstStyle/>
          <a:p>
            <a:pPr marL="0" indent="0">
              <a:buNone/>
            </a:pPr>
            <a:r>
              <a:rPr lang="en-US" sz="1450" dirty="0">
                <a:solidFill>
                  <a:srgbClr val="1E2A3A"/>
                </a:solidFill>
              </a:rPr>
              <a:t>• Pre-defined formulas anchor every answer.</a:t>
            </a:r>
            <a:endParaRPr lang="en-US" sz="1450" dirty="0"/>
          </a:p>
        </p:txBody>
      </p:sp>
      <p:sp>
        <p:nvSpPr>
          <p:cNvPr id="22" name="Text 20"/>
          <p:cNvSpPr/>
          <p:nvPr/>
        </p:nvSpPr>
        <p:spPr>
          <a:xfrm>
            <a:off x="566928" y="6437376"/>
            <a:ext cx="9875520" cy="164592"/>
          </a:xfrm>
          <a:prstGeom prst="rect">
            <a:avLst/>
          </a:prstGeom>
          <a:noFill/>
          <a:ln/>
        </p:spPr>
        <p:txBody>
          <a:bodyPr wrap="square" lIns="0" tIns="0" rIns="0" bIns="0" rtlCol="0" anchor="ctr"/>
          <a:lstStyle/>
          <a:p>
            <a:pPr marL="0" indent="0">
              <a:buNone/>
            </a:pPr>
            <a:r>
              <a:rPr lang="en-US" sz="950" dirty="0">
                <a:solidFill>
                  <a:srgbClr val="6C7A89"/>
                </a:solidFill>
              </a:rPr>
              <a:t>Revised approach: JSON + DuckDB or direct SQL source</a:t>
            </a:r>
            <a:endParaRPr lang="en-US" sz="950" dirty="0"/>
          </a:p>
        </p:txBody>
      </p:sp>
      <p:sp>
        <p:nvSpPr>
          <p:cNvPr id="23" name="Text 21"/>
          <p:cNvSpPr/>
          <p:nvPr/>
        </p:nvSpPr>
        <p:spPr>
          <a:xfrm>
            <a:off x="11155680" y="6409944"/>
            <a:ext cx="411480" cy="182880"/>
          </a:xfrm>
          <a:prstGeom prst="rect">
            <a:avLst/>
          </a:prstGeom>
          <a:noFill/>
          <a:ln/>
        </p:spPr>
        <p:txBody>
          <a:bodyPr wrap="square" lIns="0" tIns="0" rIns="0" bIns="0" rtlCol="0" anchor="ctr"/>
          <a:lstStyle/>
          <a:p>
            <a:pPr marL="0" indent="0" algn="r">
              <a:buNone/>
            </a:pPr>
            <a:r>
              <a:rPr lang="en-US" sz="1000" b="1" dirty="0">
                <a:solidFill>
                  <a:srgbClr val="6C7A89"/>
                </a:solidFill>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3233F"/>
          </a:solidFill>
          <a:ln w="12700">
            <a:solidFill>
              <a:srgbClr val="13233F">
                <a:alpha val="0"/>
              </a:srgbClr>
            </a:solidFill>
            <a:prstDash val="solid"/>
          </a:ln>
        </p:spPr>
        <p:txBody>
          <a:bodyPr/>
          <a:lstStyle/>
          <a:p>
            <a:endParaRPr lang="en-US"/>
          </a:p>
        </p:txBody>
      </p:sp>
      <p:sp>
        <p:nvSpPr>
          <p:cNvPr id="3" name="Text 1"/>
          <p:cNvSpPr/>
          <p:nvPr/>
        </p:nvSpPr>
        <p:spPr>
          <a:xfrm>
            <a:off x="566928" y="164592"/>
            <a:ext cx="8046720" cy="237744"/>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KPI logic: net exposure is calculated, filtered, then narrated</a:t>
            </a:r>
            <a:endParaRPr lang="en-US" sz="2600" dirty="0"/>
          </a:p>
        </p:txBody>
      </p:sp>
      <p:sp>
        <p:nvSpPr>
          <p:cNvPr id="4" name="Text 2"/>
          <p:cNvSpPr/>
          <p:nvPr/>
        </p:nvSpPr>
        <p:spPr>
          <a:xfrm>
            <a:off x="9281160" y="164592"/>
            <a:ext cx="2240280" cy="219456"/>
          </a:xfrm>
          <a:prstGeom prst="rect">
            <a:avLst/>
          </a:prstGeom>
          <a:noFill/>
          <a:ln/>
        </p:spPr>
        <p:txBody>
          <a:bodyPr wrap="square" lIns="0" tIns="0" rIns="0" bIns="0" rtlCol="0" anchor="ctr"/>
          <a:lstStyle/>
          <a:p>
            <a:pPr marL="0" indent="0" algn="r">
              <a:buNone/>
            </a:pPr>
            <a:r>
              <a:rPr lang="en-US" sz="1050" dirty="0">
                <a:solidFill>
                  <a:srgbClr val="D7E2FF"/>
                </a:solidFill>
                <a:latin typeface="Aptos" pitchFamily="34" charset="0"/>
                <a:ea typeface="Aptos" pitchFamily="34" charset="-122"/>
                <a:cs typeface="Aptos" pitchFamily="34" charset="-120"/>
              </a:rPr>
              <a:t>Semantic GenAI for BI · Phase 1</a:t>
            </a:r>
            <a:endParaRPr lang="en-US" sz="1050" dirty="0"/>
          </a:p>
        </p:txBody>
      </p:sp>
      <p:sp>
        <p:nvSpPr>
          <p:cNvPr id="5" name="Shape 3"/>
          <p:cNvSpPr/>
          <p:nvPr/>
        </p:nvSpPr>
        <p:spPr>
          <a:xfrm>
            <a:off x="566928" y="6382512"/>
            <a:ext cx="11064240" cy="0"/>
          </a:xfrm>
          <a:prstGeom prst="line">
            <a:avLst/>
          </a:prstGeom>
          <a:noFill/>
          <a:ln w="12700">
            <a:solidFill>
              <a:srgbClr val="D8E1EE"/>
            </a:solidFill>
            <a:prstDash val="solid"/>
          </a:ln>
        </p:spPr>
        <p:txBody>
          <a:bodyPr/>
          <a:lstStyle/>
          <a:p>
            <a:endParaRPr lang="en-US"/>
          </a:p>
        </p:txBody>
      </p:sp>
      <p:sp>
        <p:nvSpPr>
          <p:cNvPr id="6" name="Shape 4"/>
          <p:cNvSpPr/>
          <p:nvPr/>
        </p:nvSpPr>
        <p:spPr>
          <a:xfrm>
            <a:off x="868680" y="1170432"/>
            <a:ext cx="10424160" cy="1051560"/>
          </a:xfrm>
          <a:prstGeom prst="roundRect">
            <a:avLst>
              <a:gd name="adj" fmla="val 5217"/>
            </a:avLst>
          </a:prstGeom>
          <a:solidFill>
            <a:srgbClr val="FFFFFF"/>
          </a:solidFill>
          <a:ln w="12700">
            <a:solidFill>
              <a:srgbClr val="D8E1EE"/>
            </a:solidFill>
            <a:prstDash val="solid"/>
          </a:ln>
        </p:spPr>
        <p:txBody>
          <a:bodyPr/>
          <a:lstStyle/>
          <a:p>
            <a:endParaRPr lang="en-US"/>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1560" y="1463040"/>
            <a:ext cx="6812280" cy="420624"/>
          </a:xfrm>
          <a:prstGeom prst="rect">
            <a:avLst/>
          </a:prstGeom>
        </p:spPr>
      </p:pic>
      <p:sp>
        <p:nvSpPr>
          <p:cNvPr id="8" name="Shape 5"/>
          <p:cNvSpPr/>
          <p:nvPr/>
        </p:nvSpPr>
        <p:spPr>
          <a:xfrm>
            <a:off x="8458200" y="1490472"/>
            <a:ext cx="2468880" cy="329184"/>
          </a:xfrm>
          <a:prstGeom prst="roundRect">
            <a:avLst>
              <a:gd name="adj" fmla="val 22222"/>
            </a:avLst>
          </a:prstGeom>
          <a:solidFill>
            <a:srgbClr val="FFF2D7"/>
          </a:solidFill>
          <a:ln w="12700">
            <a:solidFill>
              <a:srgbClr val="FFF2D7">
                <a:alpha val="0"/>
              </a:srgbClr>
            </a:solidFill>
            <a:prstDash val="solid"/>
          </a:ln>
        </p:spPr>
        <p:txBody>
          <a:bodyPr/>
          <a:lstStyle/>
          <a:p>
            <a:endParaRPr lang="en-US"/>
          </a:p>
        </p:txBody>
      </p:sp>
      <p:sp>
        <p:nvSpPr>
          <p:cNvPr id="9" name="Text 6"/>
          <p:cNvSpPr/>
          <p:nvPr/>
        </p:nvSpPr>
        <p:spPr>
          <a:xfrm>
            <a:off x="8531352" y="1563624"/>
            <a:ext cx="2322576" cy="146304"/>
          </a:xfrm>
          <a:prstGeom prst="rect">
            <a:avLst/>
          </a:prstGeom>
          <a:noFill/>
          <a:ln/>
        </p:spPr>
        <p:txBody>
          <a:bodyPr wrap="square" lIns="0" tIns="0" rIns="0" bIns="0" rtlCol="0" anchor="ctr"/>
          <a:lstStyle/>
          <a:p>
            <a:pPr marL="0" indent="0" algn="ctr">
              <a:buNone/>
            </a:pPr>
            <a:r>
              <a:rPr lang="en-US" sz="1100" b="1" dirty="0">
                <a:solidFill>
                  <a:srgbClr val="F5A623"/>
                </a:solidFill>
              </a:rPr>
              <a:t>Only confirmed calls are included</a:t>
            </a:r>
            <a:endParaRPr lang="en-US" sz="1100" dirty="0"/>
          </a:p>
        </p:txBody>
      </p:sp>
      <p:sp>
        <p:nvSpPr>
          <p:cNvPr id="10" name="Shape 7"/>
          <p:cNvSpPr/>
          <p:nvPr/>
        </p:nvSpPr>
        <p:spPr>
          <a:xfrm>
            <a:off x="2103120" y="3703320"/>
            <a:ext cx="914400" cy="0"/>
          </a:xfrm>
          <a:prstGeom prst="line">
            <a:avLst/>
          </a:prstGeom>
          <a:noFill/>
          <a:ln w="12700">
            <a:solidFill>
              <a:srgbClr val="D8E1EE"/>
            </a:solidFill>
            <a:prstDash val="solid"/>
            <a:headEnd type="none"/>
            <a:tailEnd type="triangle"/>
          </a:ln>
        </p:spPr>
        <p:txBody>
          <a:bodyPr/>
          <a:lstStyle/>
          <a:p>
            <a:endParaRPr lang="en-US"/>
          </a:p>
        </p:txBody>
      </p:sp>
      <p:sp>
        <p:nvSpPr>
          <p:cNvPr id="11" name="Shape 8"/>
          <p:cNvSpPr/>
          <p:nvPr/>
        </p:nvSpPr>
        <p:spPr>
          <a:xfrm>
            <a:off x="4663440" y="3703320"/>
            <a:ext cx="932688" cy="0"/>
          </a:xfrm>
          <a:prstGeom prst="line">
            <a:avLst/>
          </a:prstGeom>
          <a:noFill/>
          <a:ln w="12700">
            <a:solidFill>
              <a:srgbClr val="D8E1EE"/>
            </a:solidFill>
            <a:prstDash val="solid"/>
            <a:headEnd type="none"/>
            <a:tailEnd type="triangle"/>
          </a:ln>
        </p:spPr>
        <p:txBody>
          <a:bodyPr/>
          <a:lstStyle/>
          <a:p>
            <a:endParaRPr lang="en-US"/>
          </a:p>
        </p:txBody>
      </p:sp>
      <p:sp>
        <p:nvSpPr>
          <p:cNvPr id="12" name="Shape 9"/>
          <p:cNvSpPr/>
          <p:nvPr/>
        </p:nvSpPr>
        <p:spPr>
          <a:xfrm>
            <a:off x="7452360" y="3703320"/>
            <a:ext cx="941832" cy="0"/>
          </a:xfrm>
          <a:prstGeom prst="line">
            <a:avLst/>
          </a:prstGeom>
          <a:noFill/>
          <a:ln w="12700">
            <a:solidFill>
              <a:srgbClr val="D8E1EE"/>
            </a:solidFill>
            <a:prstDash val="solid"/>
            <a:headEnd type="none"/>
            <a:tailEnd type="triangle"/>
          </a:ln>
        </p:spPr>
        <p:txBody>
          <a:bodyPr/>
          <a:lstStyle/>
          <a:p>
            <a:endParaRPr lang="en-US"/>
          </a:p>
        </p:txBody>
      </p:sp>
      <p:sp>
        <p:nvSpPr>
          <p:cNvPr id="13" name="Shape 10"/>
          <p:cNvSpPr/>
          <p:nvPr/>
        </p:nvSpPr>
        <p:spPr>
          <a:xfrm>
            <a:off x="868680" y="3127248"/>
            <a:ext cx="1234440" cy="1005840"/>
          </a:xfrm>
          <a:prstGeom prst="roundRect">
            <a:avLst>
              <a:gd name="adj" fmla="val 5455"/>
            </a:avLst>
          </a:prstGeom>
          <a:solidFill>
            <a:srgbClr val="EAF1FF"/>
          </a:solidFill>
          <a:ln w="12700">
            <a:solidFill>
              <a:srgbClr val="2F6BFF"/>
            </a:solidFill>
            <a:prstDash val="solid"/>
          </a:ln>
        </p:spPr>
        <p:txBody>
          <a:bodyPr/>
          <a:lstStyle/>
          <a:p>
            <a:endParaRPr lang="en-US"/>
          </a:p>
        </p:txBody>
      </p:sp>
      <p:sp>
        <p:nvSpPr>
          <p:cNvPr id="14" name="Text 11"/>
          <p:cNvSpPr/>
          <p:nvPr/>
        </p:nvSpPr>
        <p:spPr>
          <a:xfrm>
            <a:off x="978408" y="3255264"/>
            <a:ext cx="1014984" cy="201168"/>
          </a:xfrm>
          <a:prstGeom prst="rect">
            <a:avLst/>
          </a:prstGeom>
          <a:noFill/>
          <a:ln/>
        </p:spPr>
        <p:txBody>
          <a:bodyPr wrap="square" lIns="0" tIns="0" rIns="0" bIns="0" rtlCol="0" anchor="ctr"/>
          <a:lstStyle/>
          <a:p>
            <a:pPr marL="0" indent="0" algn="ctr">
              <a:buNone/>
            </a:pPr>
            <a:r>
              <a:rPr lang="en-US" sz="1600" b="1" dirty="0">
                <a:solidFill>
                  <a:srgbClr val="13233F"/>
                </a:solidFill>
              </a:rPr>
              <a:t>Input row</a:t>
            </a:r>
            <a:endParaRPr lang="en-US" sz="1600" dirty="0"/>
          </a:p>
        </p:txBody>
      </p:sp>
      <p:sp>
        <p:nvSpPr>
          <p:cNvPr id="15" name="Text 12"/>
          <p:cNvSpPr/>
          <p:nvPr/>
        </p:nvSpPr>
        <p:spPr>
          <a:xfrm>
            <a:off x="978408" y="3511296"/>
            <a:ext cx="1014984" cy="530352"/>
          </a:xfrm>
          <a:prstGeom prst="rect">
            <a:avLst/>
          </a:prstGeom>
          <a:noFill/>
          <a:ln/>
        </p:spPr>
        <p:txBody>
          <a:bodyPr wrap="square" lIns="254" tIns="254" rIns="254" bIns="254" rtlCol="0" anchor="ctr"/>
          <a:lstStyle/>
          <a:p>
            <a:pPr marL="0" indent="0" algn="ctr">
              <a:buNone/>
            </a:pPr>
            <a:r>
              <a:rPr lang="en-US" sz="1150" dirty="0">
                <a:solidFill>
                  <a:srgbClr val="1E2A3A"/>
                </a:solidFill>
              </a:rPr>
              <a:t>mc_amt</a:t>
            </a:r>
            <a:endParaRPr lang="en-US" sz="1150" dirty="0"/>
          </a:p>
          <a:p>
            <a:pPr marL="0" indent="0" algn="ctr">
              <a:buNone/>
            </a:pPr>
            <a:r>
              <a:rPr lang="en-US" sz="1150" dirty="0">
                <a:solidFill>
                  <a:srgbClr val="1E2A3A"/>
                </a:solidFill>
              </a:rPr>
              <a:t>collateral_val</a:t>
            </a:r>
            <a:endParaRPr lang="en-US" sz="1150" dirty="0"/>
          </a:p>
          <a:p>
            <a:pPr marL="0" indent="0" algn="ctr">
              <a:buNone/>
            </a:pPr>
            <a:r>
              <a:rPr lang="en-US" sz="1150" dirty="0">
                <a:solidFill>
                  <a:srgbClr val="1E2A3A"/>
                </a:solidFill>
              </a:rPr>
              <a:t>st_cd</a:t>
            </a:r>
            <a:endParaRPr lang="en-US" sz="1150" dirty="0"/>
          </a:p>
        </p:txBody>
      </p:sp>
      <p:sp>
        <p:nvSpPr>
          <p:cNvPr id="16" name="Shape 13"/>
          <p:cNvSpPr/>
          <p:nvPr/>
        </p:nvSpPr>
        <p:spPr>
          <a:xfrm>
            <a:off x="3017520" y="3127248"/>
            <a:ext cx="1645920" cy="1005840"/>
          </a:xfrm>
          <a:prstGeom prst="roundRect">
            <a:avLst>
              <a:gd name="adj" fmla="val 5455"/>
            </a:avLst>
          </a:prstGeom>
          <a:solidFill>
            <a:srgbClr val="FFFFFF"/>
          </a:solidFill>
          <a:ln w="12700">
            <a:solidFill>
              <a:srgbClr val="2F6BFF"/>
            </a:solidFill>
            <a:prstDash val="solid"/>
          </a:ln>
        </p:spPr>
        <p:txBody>
          <a:bodyPr/>
          <a:lstStyle/>
          <a:p>
            <a:endParaRPr lang="en-US"/>
          </a:p>
        </p:txBody>
      </p:sp>
      <p:sp>
        <p:nvSpPr>
          <p:cNvPr id="17" name="Text 14"/>
          <p:cNvSpPr/>
          <p:nvPr/>
        </p:nvSpPr>
        <p:spPr>
          <a:xfrm>
            <a:off x="3127248" y="3255264"/>
            <a:ext cx="1426464" cy="201168"/>
          </a:xfrm>
          <a:prstGeom prst="rect">
            <a:avLst/>
          </a:prstGeom>
          <a:noFill/>
          <a:ln/>
        </p:spPr>
        <p:txBody>
          <a:bodyPr wrap="square" lIns="0" tIns="0" rIns="0" bIns="0" rtlCol="0" anchor="ctr"/>
          <a:lstStyle/>
          <a:p>
            <a:pPr marL="0" indent="0" algn="ctr">
              <a:buNone/>
            </a:pPr>
            <a:r>
              <a:rPr lang="en-US" sz="1600" b="1" dirty="0">
                <a:solidFill>
                  <a:srgbClr val="13233F"/>
                </a:solidFill>
              </a:rPr>
              <a:t>Stage</a:t>
            </a:r>
            <a:endParaRPr lang="en-US" sz="1600" dirty="0"/>
          </a:p>
        </p:txBody>
      </p:sp>
      <p:sp>
        <p:nvSpPr>
          <p:cNvPr id="18" name="Text 15"/>
          <p:cNvSpPr/>
          <p:nvPr/>
        </p:nvSpPr>
        <p:spPr>
          <a:xfrm>
            <a:off x="3127248" y="3511296"/>
            <a:ext cx="1426464" cy="530352"/>
          </a:xfrm>
          <a:prstGeom prst="rect">
            <a:avLst/>
          </a:prstGeom>
          <a:noFill/>
          <a:ln/>
        </p:spPr>
        <p:txBody>
          <a:bodyPr wrap="square" lIns="254" tIns="254" rIns="254" bIns="254" rtlCol="0" anchor="ctr"/>
          <a:lstStyle/>
          <a:p>
            <a:pPr marL="0" indent="0" algn="ctr">
              <a:buNone/>
            </a:pPr>
            <a:r>
              <a:rPr lang="en-US" sz="1150" dirty="0">
                <a:solidFill>
                  <a:srgbClr val="1E2A3A"/>
                </a:solidFill>
              </a:rPr>
              <a:t>cast + alias</a:t>
            </a:r>
            <a:endParaRPr lang="en-US" sz="1150" dirty="0"/>
          </a:p>
          <a:p>
            <a:pPr marL="0" indent="0" algn="ctr">
              <a:buNone/>
            </a:pPr>
            <a:r>
              <a:rPr lang="en-US" sz="1150" dirty="0">
                <a:solidFill>
                  <a:srgbClr val="1E2A3A"/>
                </a:solidFill>
              </a:rPr>
              <a:t>net_val</a:t>
            </a:r>
            <a:endParaRPr lang="en-US" sz="1150" dirty="0"/>
          </a:p>
        </p:txBody>
      </p:sp>
      <p:sp>
        <p:nvSpPr>
          <p:cNvPr id="19" name="Shape 16"/>
          <p:cNvSpPr/>
          <p:nvPr/>
        </p:nvSpPr>
        <p:spPr>
          <a:xfrm>
            <a:off x="5596128" y="3127248"/>
            <a:ext cx="1856232" cy="1005840"/>
          </a:xfrm>
          <a:prstGeom prst="roundRect">
            <a:avLst>
              <a:gd name="adj" fmla="val 5455"/>
            </a:avLst>
          </a:prstGeom>
          <a:solidFill>
            <a:srgbClr val="FFFFFF"/>
          </a:solidFill>
          <a:ln w="12700">
            <a:solidFill>
              <a:srgbClr val="17B9A6"/>
            </a:solidFill>
            <a:prstDash val="solid"/>
          </a:ln>
        </p:spPr>
        <p:txBody>
          <a:bodyPr/>
          <a:lstStyle/>
          <a:p>
            <a:endParaRPr lang="en-US"/>
          </a:p>
        </p:txBody>
      </p:sp>
      <p:sp>
        <p:nvSpPr>
          <p:cNvPr id="20" name="Text 17"/>
          <p:cNvSpPr/>
          <p:nvPr/>
        </p:nvSpPr>
        <p:spPr>
          <a:xfrm>
            <a:off x="5705856" y="3255264"/>
            <a:ext cx="1636776" cy="201168"/>
          </a:xfrm>
          <a:prstGeom prst="rect">
            <a:avLst/>
          </a:prstGeom>
          <a:noFill/>
          <a:ln/>
        </p:spPr>
        <p:txBody>
          <a:bodyPr wrap="square" lIns="0" tIns="0" rIns="0" bIns="0" rtlCol="0" anchor="ctr"/>
          <a:lstStyle/>
          <a:p>
            <a:pPr marL="0" indent="0" algn="ctr">
              <a:buNone/>
            </a:pPr>
            <a:r>
              <a:rPr lang="en-US" sz="1600" b="1" dirty="0">
                <a:solidFill>
                  <a:srgbClr val="13233F"/>
                </a:solidFill>
              </a:rPr>
              <a:t>Metric filter</a:t>
            </a:r>
            <a:endParaRPr lang="en-US" sz="1600" dirty="0"/>
          </a:p>
        </p:txBody>
      </p:sp>
      <p:sp>
        <p:nvSpPr>
          <p:cNvPr id="21" name="Text 18"/>
          <p:cNvSpPr/>
          <p:nvPr/>
        </p:nvSpPr>
        <p:spPr>
          <a:xfrm>
            <a:off x="5705856" y="3511296"/>
            <a:ext cx="1636776" cy="530352"/>
          </a:xfrm>
          <a:prstGeom prst="rect">
            <a:avLst/>
          </a:prstGeom>
          <a:noFill/>
          <a:ln/>
        </p:spPr>
        <p:txBody>
          <a:bodyPr wrap="square" lIns="254" tIns="254" rIns="254" bIns="254" rtlCol="0" anchor="ctr"/>
          <a:lstStyle/>
          <a:p>
            <a:pPr marL="0" indent="0" algn="ctr">
              <a:buNone/>
            </a:pPr>
            <a:r>
              <a:rPr lang="en-US" sz="1150" dirty="0">
                <a:solidFill>
                  <a:srgbClr val="1E2A3A"/>
                </a:solidFill>
              </a:rPr>
              <a:t>status_name</a:t>
            </a:r>
            <a:endParaRPr lang="en-US" sz="1150" dirty="0"/>
          </a:p>
          <a:p>
            <a:pPr marL="0" indent="0" algn="ctr">
              <a:buNone/>
            </a:pPr>
            <a:r>
              <a:rPr lang="en-US" sz="1150" dirty="0">
                <a:solidFill>
                  <a:srgbClr val="1E2A3A"/>
                </a:solidFill>
              </a:rPr>
              <a:t>= CONFIRMED</a:t>
            </a:r>
            <a:endParaRPr lang="en-US" sz="1150" dirty="0"/>
          </a:p>
        </p:txBody>
      </p:sp>
      <p:sp>
        <p:nvSpPr>
          <p:cNvPr id="22" name="Shape 19"/>
          <p:cNvSpPr/>
          <p:nvPr/>
        </p:nvSpPr>
        <p:spPr>
          <a:xfrm>
            <a:off x="8394192" y="3127248"/>
            <a:ext cx="2148840" cy="1005840"/>
          </a:xfrm>
          <a:prstGeom prst="roundRect">
            <a:avLst>
              <a:gd name="adj" fmla="val 5455"/>
            </a:avLst>
          </a:prstGeom>
          <a:solidFill>
            <a:srgbClr val="FFFFFF"/>
          </a:solidFill>
          <a:ln w="12700">
            <a:solidFill>
              <a:srgbClr val="F5A623"/>
            </a:solidFill>
            <a:prstDash val="solid"/>
          </a:ln>
        </p:spPr>
        <p:txBody>
          <a:bodyPr/>
          <a:lstStyle/>
          <a:p>
            <a:endParaRPr lang="en-US"/>
          </a:p>
        </p:txBody>
      </p:sp>
      <p:sp>
        <p:nvSpPr>
          <p:cNvPr id="23" name="Text 20"/>
          <p:cNvSpPr/>
          <p:nvPr/>
        </p:nvSpPr>
        <p:spPr>
          <a:xfrm>
            <a:off x="8503920" y="3255264"/>
            <a:ext cx="1929384" cy="201168"/>
          </a:xfrm>
          <a:prstGeom prst="rect">
            <a:avLst/>
          </a:prstGeom>
          <a:noFill/>
          <a:ln/>
        </p:spPr>
        <p:txBody>
          <a:bodyPr wrap="square" lIns="0" tIns="0" rIns="0" bIns="0" rtlCol="0" anchor="ctr"/>
          <a:lstStyle/>
          <a:p>
            <a:pPr marL="0" indent="0" algn="ctr">
              <a:buNone/>
            </a:pPr>
            <a:r>
              <a:rPr lang="en-US" sz="1600" b="1" dirty="0">
                <a:solidFill>
                  <a:srgbClr val="13233F"/>
                </a:solidFill>
              </a:rPr>
              <a:t>Aggregate result</a:t>
            </a:r>
            <a:endParaRPr lang="en-US" sz="1600" dirty="0"/>
          </a:p>
        </p:txBody>
      </p:sp>
      <p:sp>
        <p:nvSpPr>
          <p:cNvPr id="24" name="Text 21"/>
          <p:cNvSpPr/>
          <p:nvPr/>
        </p:nvSpPr>
        <p:spPr>
          <a:xfrm>
            <a:off x="8503920" y="3511296"/>
            <a:ext cx="1929384" cy="530352"/>
          </a:xfrm>
          <a:prstGeom prst="rect">
            <a:avLst/>
          </a:prstGeom>
          <a:noFill/>
          <a:ln/>
        </p:spPr>
        <p:txBody>
          <a:bodyPr wrap="square" lIns="254" tIns="254" rIns="254" bIns="254" rtlCol="0" anchor="ctr"/>
          <a:lstStyle/>
          <a:p>
            <a:pPr marL="0" indent="0" algn="ctr">
              <a:buNone/>
            </a:pPr>
            <a:r>
              <a:rPr lang="en-US" sz="1150" dirty="0">
                <a:solidFill>
                  <a:srgbClr val="1E2A3A"/>
                </a:solidFill>
              </a:rPr>
              <a:t>sum(net_val)</a:t>
            </a:r>
            <a:endParaRPr lang="en-US" sz="1150" dirty="0"/>
          </a:p>
          <a:p>
            <a:pPr marL="0" indent="0" algn="ctr">
              <a:buNone/>
            </a:pPr>
            <a:r>
              <a:rPr lang="en-US" sz="1150" dirty="0">
                <a:solidFill>
                  <a:srgbClr val="1E2A3A"/>
                </a:solidFill>
              </a:rPr>
              <a:t>by time period</a:t>
            </a:r>
            <a:endParaRPr lang="en-US" sz="1150" dirty="0"/>
          </a:p>
        </p:txBody>
      </p:sp>
      <p:sp>
        <p:nvSpPr>
          <p:cNvPr id="25" name="Shape 22"/>
          <p:cNvSpPr/>
          <p:nvPr/>
        </p:nvSpPr>
        <p:spPr>
          <a:xfrm>
            <a:off x="868680" y="4709160"/>
            <a:ext cx="5074920" cy="1005840"/>
          </a:xfrm>
          <a:prstGeom prst="roundRect">
            <a:avLst>
              <a:gd name="adj" fmla="val 5455"/>
            </a:avLst>
          </a:prstGeom>
          <a:solidFill>
            <a:srgbClr val="FFF8F8"/>
          </a:solidFill>
          <a:ln w="12700">
            <a:solidFill>
              <a:srgbClr val="D8E1EE"/>
            </a:solidFill>
            <a:prstDash val="solid"/>
          </a:ln>
        </p:spPr>
        <p:txBody>
          <a:bodyPr/>
          <a:lstStyle/>
          <a:p>
            <a:endParaRPr lang="en-US"/>
          </a:p>
        </p:txBody>
      </p:sp>
      <p:sp>
        <p:nvSpPr>
          <p:cNvPr id="26" name="Shape 23"/>
          <p:cNvSpPr/>
          <p:nvPr/>
        </p:nvSpPr>
        <p:spPr>
          <a:xfrm>
            <a:off x="868680" y="4709160"/>
            <a:ext cx="109728" cy="1005840"/>
          </a:xfrm>
          <a:prstGeom prst="rect">
            <a:avLst/>
          </a:prstGeom>
          <a:solidFill>
            <a:srgbClr val="E95D5D"/>
          </a:solidFill>
          <a:ln w="12700">
            <a:solidFill>
              <a:srgbClr val="E95D5D">
                <a:alpha val="0"/>
              </a:srgbClr>
            </a:solidFill>
            <a:prstDash val="solid"/>
          </a:ln>
        </p:spPr>
        <p:txBody>
          <a:bodyPr/>
          <a:lstStyle/>
          <a:p>
            <a:endParaRPr lang="en-US"/>
          </a:p>
        </p:txBody>
      </p:sp>
      <p:sp>
        <p:nvSpPr>
          <p:cNvPr id="27" name="Text 24"/>
          <p:cNvSpPr/>
          <p:nvPr/>
        </p:nvSpPr>
        <p:spPr>
          <a:xfrm>
            <a:off x="1069848" y="4873752"/>
            <a:ext cx="4754880" cy="219456"/>
          </a:xfrm>
          <a:prstGeom prst="rect">
            <a:avLst/>
          </a:prstGeom>
          <a:noFill/>
          <a:ln/>
        </p:spPr>
        <p:txBody>
          <a:bodyPr wrap="square" lIns="0" tIns="0" rIns="0" bIns="0" rtlCol="0" anchor="ctr"/>
          <a:lstStyle/>
          <a:p>
            <a:pPr marL="0" indent="0">
              <a:buNone/>
            </a:pPr>
            <a:r>
              <a:rPr lang="en-US" sz="1900" b="1" dirty="0">
                <a:solidFill>
                  <a:srgbClr val="13233F"/>
                </a:solidFill>
              </a:rPr>
              <a:t>What the LLM should never do</a:t>
            </a:r>
            <a:endParaRPr lang="en-US" sz="1900" dirty="0"/>
          </a:p>
        </p:txBody>
      </p:sp>
      <p:sp>
        <p:nvSpPr>
          <p:cNvPr id="28" name="Text 25"/>
          <p:cNvSpPr/>
          <p:nvPr/>
        </p:nvSpPr>
        <p:spPr>
          <a:xfrm>
            <a:off x="1069848" y="5193792"/>
            <a:ext cx="4727448" cy="438912"/>
          </a:xfrm>
          <a:prstGeom prst="rect">
            <a:avLst/>
          </a:prstGeom>
          <a:noFill/>
          <a:ln/>
        </p:spPr>
        <p:txBody>
          <a:bodyPr wrap="square" lIns="0" tIns="0" rIns="0" bIns="0" rtlCol="0" anchor="t"/>
          <a:lstStyle/>
          <a:p>
            <a:pPr marL="0" indent="0">
              <a:buNone/>
            </a:pPr>
            <a:r>
              <a:rPr lang="en-US" sz="1450" dirty="0">
                <a:solidFill>
                  <a:srgbClr val="1E2A3A"/>
                </a:solidFill>
              </a:rPr>
              <a:t>• Invent the formula, guess the status code meaning, or infer a hidden join path.</a:t>
            </a:r>
            <a:endParaRPr lang="en-US" sz="1450" dirty="0"/>
          </a:p>
        </p:txBody>
      </p:sp>
      <p:sp>
        <p:nvSpPr>
          <p:cNvPr id="29" name="Shape 26"/>
          <p:cNvSpPr/>
          <p:nvPr/>
        </p:nvSpPr>
        <p:spPr>
          <a:xfrm>
            <a:off x="6199632" y="4709160"/>
            <a:ext cx="4892040" cy="1005840"/>
          </a:xfrm>
          <a:prstGeom prst="roundRect">
            <a:avLst>
              <a:gd name="adj" fmla="val 5455"/>
            </a:avLst>
          </a:prstGeom>
          <a:solidFill>
            <a:srgbClr val="F7FFF9"/>
          </a:solidFill>
          <a:ln w="12700">
            <a:solidFill>
              <a:srgbClr val="D8E1EE"/>
            </a:solidFill>
            <a:prstDash val="solid"/>
          </a:ln>
        </p:spPr>
        <p:txBody>
          <a:bodyPr/>
          <a:lstStyle/>
          <a:p>
            <a:endParaRPr lang="en-US"/>
          </a:p>
        </p:txBody>
      </p:sp>
      <p:sp>
        <p:nvSpPr>
          <p:cNvPr id="30" name="Shape 27"/>
          <p:cNvSpPr/>
          <p:nvPr/>
        </p:nvSpPr>
        <p:spPr>
          <a:xfrm>
            <a:off x="6199632" y="4709160"/>
            <a:ext cx="109728" cy="1005840"/>
          </a:xfrm>
          <a:prstGeom prst="rect">
            <a:avLst/>
          </a:prstGeom>
          <a:solidFill>
            <a:srgbClr val="23B26D"/>
          </a:solidFill>
          <a:ln w="12700">
            <a:solidFill>
              <a:srgbClr val="23B26D">
                <a:alpha val="0"/>
              </a:srgbClr>
            </a:solidFill>
            <a:prstDash val="solid"/>
          </a:ln>
        </p:spPr>
        <p:txBody>
          <a:bodyPr/>
          <a:lstStyle/>
          <a:p>
            <a:endParaRPr lang="en-US"/>
          </a:p>
        </p:txBody>
      </p:sp>
      <p:sp>
        <p:nvSpPr>
          <p:cNvPr id="31" name="Text 28"/>
          <p:cNvSpPr/>
          <p:nvPr/>
        </p:nvSpPr>
        <p:spPr>
          <a:xfrm>
            <a:off x="6400800" y="4873752"/>
            <a:ext cx="4572000" cy="219456"/>
          </a:xfrm>
          <a:prstGeom prst="rect">
            <a:avLst/>
          </a:prstGeom>
          <a:noFill/>
          <a:ln/>
        </p:spPr>
        <p:txBody>
          <a:bodyPr wrap="square" lIns="0" tIns="0" rIns="0" bIns="0" rtlCol="0" anchor="ctr"/>
          <a:lstStyle/>
          <a:p>
            <a:pPr marL="0" indent="0">
              <a:buNone/>
            </a:pPr>
            <a:r>
              <a:rPr lang="en-US" sz="1900" b="1" dirty="0">
                <a:solidFill>
                  <a:srgbClr val="13233F"/>
                </a:solidFill>
              </a:rPr>
              <a:t>What the LLM should do instead</a:t>
            </a:r>
            <a:endParaRPr lang="en-US" sz="1900" dirty="0"/>
          </a:p>
        </p:txBody>
      </p:sp>
      <p:sp>
        <p:nvSpPr>
          <p:cNvPr id="32" name="Text 29"/>
          <p:cNvSpPr/>
          <p:nvPr/>
        </p:nvSpPr>
        <p:spPr>
          <a:xfrm>
            <a:off x="6400800" y="5193792"/>
            <a:ext cx="4544568" cy="438912"/>
          </a:xfrm>
          <a:prstGeom prst="rect">
            <a:avLst/>
          </a:prstGeom>
          <a:noFill/>
          <a:ln/>
        </p:spPr>
        <p:txBody>
          <a:bodyPr wrap="square" lIns="0" tIns="0" rIns="0" bIns="0" rtlCol="0" anchor="t"/>
          <a:lstStyle/>
          <a:p>
            <a:pPr marL="0" indent="0">
              <a:buNone/>
            </a:pPr>
            <a:r>
              <a:rPr lang="en-US" sz="1450" dirty="0">
                <a:solidFill>
                  <a:srgbClr val="1E2A3A"/>
                </a:solidFill>
              </a:rPr>
              <a:t>• Map the question to the governed metric and explain the result returned by the system.</a:t>
            </a:r>
            <a:endParaRPr lang="en-US" sz="1450" dirty="0"/>
          </a:p>
        </p:txBody>
      </p:sp>
      <p:sp>
        <p:nvSpPr>
          <p:cNvPr id="33" name="Text 30"/>
          <p:cNvSpPr/>
          <p:nvPr/>
        </p:nvSpPr>
        <p:spPr>
          <a:xfrm>
            <a:off x="566928" y="6437376"/>
            <a:ext cx="9875520" cy="164592"/>
          </a:xfrm>
          <a:prstGeom prst="rect">
            <a:avLst/>
          </a:prstGeom>
          <a:noFill/>
          <a:ln/>
        </p:spPr>
        <p:txBody>
          <a:bodyPr wrap="square" lIns="0" tIns="0" rIns="0" bIns="0" rtlCol="0" anchor="ctr"/>
          <a:lstStyle/>
          <a:p>
            <a:pPr marL="0" indent="0">
              <a:buNone/>
            </a:pPr>
            <a:r>
              <a:rPr lang="en-US" sz="950" dirty="0">
                <a:solidFill>
                  <a:srgbClr val="6C7A89"/>
                </a:solidFill>
              </a:rPr>
              <a:t>Revised approach: JSON + DuckDB or direct SQL source</a:t>
            </a:r>
            <a:endParaRPr lang="en-US" sz="950" dirty="0"/>
          </a:p>
        </p:txBody>
      </p:sp>
      <p:sp>
        <p:nvSpPr>
          <p:cNvPr id="34" name="Text 31"/>
          <p:cNvSpPr/>
          <p:nvPr/>
        </p:nvSpPr>
        <p:spPr>
          <a:xfrm>
            <a:off x="11155680" y="6409944"/>
            <a:ext cx="411480" cy="182880"/>
          </a:xfrm>
          <a:prstGeom prst="rect">
            <a:avLst/>
          </a:prstGeom>
          <a:noFill/>
          <a:ln/>
        </p:spPr>
        <p:txBody>
          <a:bodyPr wrap="square" lIns="0" tIns="0" rIns="0" bIns="0" rtlCol="0" anchor="ctr"/>
          <a:lstStyle/>
          <a:p>
            <a:pPr marL="0" indent="0" algn="r">
              <a:buNone/>
            </a:pPr>
            <a:r>
              <a:rPr lang="en-US" sz="1000" b="1" dirty="0">
                <a:solidFill>
                  <a:srgbClr val="6C7A89"/>
                </a:solidFill>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3233F"/>
          </a:solidFill>
          <a:ln w="12700">
            <a:solidFill>
              <a:srgbClr val="13233F">
                <a:alpha val="0"/>
              </a:srgbClr>
            </a:solidFill>
            <a:prstDash val="solid"/>
          </a:ln>
        </p:spPr>
        <p:txBody>
          <a:bodyPr/>
          <a:lstStyle/>
          <a:p>
            <a:endParaRPr lang="en-US"/>
          </a:p>
        </p:txBody>
      </p:sp>
      <p:sp>
        <p:nvSpPr>
          <p:cNvPr id="3" name="Text 1"/>
          <p:cNvSpPr/>
          <p:nvPr/>
        </p:nvSpPr>
        <p:spPr>
          <a:xfrm>
            <a:off x="566928" y="54864"/>
            <a:ext cx="9144000" cy="713232"/>
          </a:xfrm>
          <a:prstGeom prst="rect">
            <a:avLst/>
          </a:prstGeom>
          <a:noFill/>
          <a:ln/>
        </p:spPr>
        <p:txBody>
          <a:bodyPr wrap="square" lIns="0" tIns="0" rIns="0" bIns="0" rtlCol="0" anchor="ctr"/>
          <a:lstStyle/>
          <a:p>
            <a:pPr marL="0" indent="0">
              <a:buNone/>
            </a:pPr>
            <a:r>
              <a:rPr sz="2300" b="1">
                <a:solidFill>
                  <a:srgbClr val="FFFFFF"/>
                </a:solidFill>
              </a:rPr>
              <a:t>How Gemini uses the documentation to answer a business question</a:t>
            </a:r>
            <a:endParaRPr lang="en-US" sz="2600" dirty="0"/>
          </a:p>
        </p:txBody>
      </p:sp>
      <p:sp>
        <p:nvSpPr>
          <p:cNvPr id="4" name="Text 2"/>
          <p:cNvSpPr/>
          <p:nvPr/>
        </p:nvSpPr>
        <p:spPr>
          <a:xfrm>
            <a:off x="9281160" y="182880"/>
            <a:ext cx="2240280" cy="219456"/>
          </a:xfrm>
          <a:prstGeom prst="rect">
            <a:avLst/>
          </a:prstGeom>
          <a:noFill/>
          <a:ln/>
        </p:spPr>
        <p:txBody>
          <a:bodyPr wrap="square" lIns="0" tIns="0" rIns="0" bIns="0" rtlCol="0" anchor="ctr"/>
          <a:lstStyle/>
          <a:p>
            <a:pPr marL="0" indent="0" algn="r">
              <a:buNone/>
            </a:pPr>
            <a:r>
              <a:rPr lang="en-US" sz="1050" dirty="0">
                <a:solidFill>
                  <a:srgbClr val="D7E2FF"/>
                </a:solidFill>
                <a:latin typeface="Aptos" pitchFamily="34" charset="0"/>
                <a:ea typeface="Aptos" pitchFamily="34" charset="-122"/>
                <a:cs typeface="Aptos" pitchFamily="34" charset="-120"/>
              </a:rPr>
              <a:t>Semantic GenAI for BI · Phase 1</a:t>
            </a:r>
            <a:endParaRPr lang="en-US" sz="1050" dirty="0"/>
          </a:p>
        </p:txBody>
      </p:sp>
      <p:sp>
        <p:nvSpPr>
          <p:cNvPr id="5" name="Shape 3"/>
          <p:cNvSpPr/>
          <p:nvPr/>
        </p:nvSpPr>
        <p:spPr>
          <a:xfrm>
            <a:off x="566928" y="6382512"/>
            <a:ext cx="11064240" cy="0"/>
          </a:xfrm>
          <a:prstGeom prst="line">
            <a:avLst/>
          </a:prstGeom>
          <a:noFill/>
          <a:ln w="12700">
            <a:solidFill>
              <a:srgbClr val="D8E1EE"/>
            </a:solidFill>
            <a:prstDash val="solid"/>
          </a:ln>
        </p:spPr>
        <p:txBody>
          <a:bodyPr/>
          <a:lstStyle/>
          <a:p>
            <a:endParaRPr lang="en-US"/>
          </a:p>
        </p:txBody>
      </p:sp>
      <p:sp>
        <p:nvSpPr>
          <p:cNvPr id="6" name="Text 4"/>
          <p:cNvSpPr/>
          <p:nvPr/>
        </p:nvSpPr>
        <p:spPr>
          <a:xfrm>
            <a:off x="777240" y="960120"/>
            <a:ext cx="7680960" cy="502920"/>
          </a:xfrm>
          <a:prstGeom prst="rect">
            <a:avLst/>
          </a:prstGeom>
          <a:noFill/>
          <a:ln/>
        </p:spPr>
        <p:txBody>
          <a:bodyPr wrap="square" lIns="0" tIns="0" rIns="0" bIns="0" rtlCol="0" anchor="ctr"/>
          <a:lstStyle/>
          <a:p>
            <a:pPr marL="0" indent="0">
              <a:buNone/>
            </a:pPr>
            <a:r>
              <a:rPr lang="en-US" sz="2000" b="1" dirty="0">
                <a:solidFill>
                  <a:srgbClr val="13233F"/>
                </a:solidFill>
              </a:rPr>
              <a:t>Example question: “What was the net exposure for confirmed calls last month?”</a:t>
            </a:r>
            <a:endParaRPr lang="en-US" sz="2000" dirty="0"/>
          </a:p>
        </p:txBody>
      </p:sp>
      <p:sp>
        <p:nvSpPr>
          <p:cNvPr id="7" name="Shape 5"/>
          <p:cNvSpPr/>
          <p:nvPr/>
        </p:nvSpPr>
        <p:spPr>
          <a:xfrm>
            <a:off x="868680" y="1920240"/>
            <a:ext cx="1600200" cy="1508760"/>
          </a:xfrm>
          <a:prstGeom prst="roundRect">
            <a:avLst>
              <a:gd name="adj" fmla="val 3636"/>
            </a:avLst>
          </a:prstGeom>
          <a:solidFill>
            <a:srgbClr val="EAF1FF"/>
          </a:solidFill>
          <a:ln w="12700">
            <a:solidFill>
              <a:srgbClr val="2F6BFF"/>
            </a:solidFill>
            <a:prstDash val="solid"/>
          </a:ln>
        </p:spPr>
        <p:txBody>
          <a:bodyPr/>
          <a:lstStyle/>
          <a:p>
            <a:endParaRPr lang="en-US"/>
          </a:p>
        </p:txBody>
      </p:sp>
      <p:sp>
        <p:nvSpPr>
          <p:cNvPr id="8" name="Text 6"/>
          <p:cNvSpPr/>
          <p:nvPr/>
        </p:nvSpPr>
        <p:spPr>
          <a:xfrm>
            <a:off x="978408" y="2048256"/>
            <a:ext cx="1380744" cy="201168"/>
          </a:xfrm>
          <a:prstGeom prst="rect">
            <a:avLst/>
          </a:prstGeom>
          <a:noFill/>
          <a:ln/>
        </p:spPr>
        <p:txBody>
          <a:bodyPr wrap="square" lIns="0" tIns="0" rIns="0" bIns="0" rtlCol="0" anchor="ctr"/>
          <a:lstStyle/>
          <a:p>
            <a:pPr marL="0" indent="0" algn="ctr">
              <a:buNone/>
            </a:pPr>
            <a:r>
              <a:rPr lang="en-US" sz="1600" b="1" dirty="0">
                <a:solidFill>
                  <a:srgbClr val="13233F"/>
                </a:solidFill>
              </a:rPr>
              <a:t>1. Retrieval</a:t>
            </a:r>
            <a:endParaRPr lang="en-US" sz="1600" dirty="0"/>
          </a:p>
        </p:txBody>
      </p:sp>
      <p:sp>
        <p:nvSpPr>
          <p:cNvPr id="9" name="Text 7"/>
          <p:cNvSpPr/>
          <p:nvPr/>
        </p:nvSpPr>
        <p:spPr>
          <a:xfrm>
            <a:off x="978408" y="2304288"/>
            <a:ext cx="1380744" cy="1033272"/>
          </a:xfrm>
          <a:prstGeom prst="rect">
            <a:avLst/>
          </a:prstGeom>
          <a:noFill/>
          <a:ln/>
        </p:spPr>
        <p:txBody>
          <a:bodyPr wrap="square" lIns="254" tIns="254" rIns="254" bIns="254" rtlCol="0" anchor="ctr"/>
          <a:lstStyle/>
          <a:p>
            <a:pPr marL="0" indent="0" algn="ctr">
              <a:buNone/>
            </a:pPr>
            <a:r>
              <a:rPr lang="en-US" sz="1150" dirty="0">
                <a:solidFill>
                  <a:srgbClr val="1E2A3A"/>
                </a:solidFill>
              </a:rPr>
              <a:t>fetch semantic</a:t>
            </a:r>
            <a:endParaRPr lang="en-US" sz="1150" dirty="0"/>
          </a:p>
          <a:p>
            <a:pPr marL="0" indent="0" algn="ctr">
              <a:buNone/>
            </a:pPr>
            <a:r>
              <a:rPr lang="en-US" sz="1150" dirty="0">
                <a:solidFill>
                  <a:srgbClr val="1E2A3A"/>
                </a:solidFill>
              </a:rPr>
              <a:t>model docs</a:t>
            </a:r>
            <a:endParaRPr lang="en-US" sz="1150" dirty="0"/>
          </a:p>
        </p:txBody>
      </p:sp>
      <p:sp>
        <p:nvSpPr>
          <p:cNvPr id="10" name="Shape 8"/>
          <p:cNvSpPr/>
          <p:nvPr/>
        </p:nvSpPr>
        <p:spPr>
          <a:xfrm>
            <a:off x="2761488" y="1920240"/>
            <a:ext cx="1600200" cy="1508760"/>
          </a:xfrm>
          <a:prstGeom prst="roundRect">
            <a:avLst>
              <a:gd name="adj" fmla="val 3636"/>
            </a:avLst>
          </a:prstGeom>
          <a:solidFill>
            <a:srgbClr val="DFF7F3"/>
          </a:solidFill>
          <a:ln w="12700">
            <a:solidFill>
              <a:srgbClr val="2F6BFF"/>
            </a:solidFill>
            <a:prstDash val="solid"/>
          </a:ln>
        </p:spPr>
        <p:txBody>
          <a:bodyPr/>
          <a:lstStyle/>
          <a:p>
            <a:endParaRPr lang="en-US"/>
          </a:p>
        </p:txBody>
      </p:sp>
      <p:sp>
        <p:nvSpPr>
          <p:cNvPr id="11" name="Text 9"/>
          <p:cNvSpPr/>
          <p:nvPr/>
        </p:nvSpPr>
        <p:spPr>
          <a:xfrm>
            <a:off x="2871216" y="2048256"/>
            <a:ext cx="1380744" cy="201168"/>
          </a:xfrm>
          <a:prstGeom prst="rect">
            <a:avLst/>
          </a:prstGeom>
          <a:noFill/>
          <a:ln/>
        </p:spPr>
        <p:txBody>
          <a:bodyPr wrap="square" lIns="0" tIns="0" rIns="0" bIns="0" rtlCol="0" anchor="ctr"/>
          <a:lstStyle/>
          <a:p>
            <a:pPr marL="0" indent="0" algn="ctr">
              <a:buNone/>
            </a:pPr>
            <a:r>
              <a:rPr lang="en-US" sz="1600" b="1" dirty="0">
                <a:solidFill>
                  <a:srgbClr val="13233F"/>
                </a:solidFill>
              </a:rPr>
              <a:t>2. Reasoning</a:t>
            </a:r>
            <a:endParaRPr lang="en-US" sz="1600" dirty="0"/>
          </a:p>
        </p:txBody>
      </p:sp>
      <p:sp>
        <p:nvSpPr>
          <p:cNvPr id="12" name="Text 10"/>
          <p:cNvSpPr/>
          <p:nvPr/>
        </p:nvSpPr>
        <p:spPr>
          <a:xfrm>
            <a:off x="2871216" y="2304288"/>
            <a:ext cx="1380744" cy="1033272"/>
          </a:xfrm>
          <a:prstGeom prst="rect">
            <a:avLst/>
          </a:prstGeom>
          <a:noFill/>
          <a:ln/>
        </p:spPr>
        <p:txBody>
          <a:bodyPr wrap="square" lIns="254" tIns="254" rIns="254" bIns="254" rtlCol="0" anchor="ctr"/>
          <a:lstStyle/>
          <a:p>
            <a:pPr marL="0" indent="0" algn="ctr">
              <a:buNone/>
            </a:pPr>
            <a:r>
              <a:rPr lang="en-US" sz="1150" dirty="0">
                <a:solidFill>
                  <a:srgbClr val="1E2A3A"/>
                </a:solidFill>
              </a:rPr>
              <a:t>select metric</a:t>
            </a:r>
            <a:endParaRPr lang="en-US" sz="1150" dirty="0"/>
          </a:p>
          <a:p>
            <a:pPr marL="0" indent="0" algn="ctr">
              <a:buNone/>
            </a:pPr>
            <a:r>
              <a:rPr lang="en-US" sz="1150" dirty="0">
                <a:solidFill>
                  <a:srgbClr val="1E2A3A"/>
                </a:solidFill>
              </a:rPr>
              <a:t>+ time dimension</a:t>
            </a:r>
            <a:endParaRPr lang="en-US" sz="1150" dirty="0"/>
          </a:p>
        </p:txBody>
      </p:sp>
      <p:sp>
        <p:nvSpPr>
          <p:cNvPr id="13" name="Shape 11"/>
          <p:cNvSpPr/>
          <p:nvPr/>
        </p:nvSpPr>
        <p:spPr>
          <a:xfrm>
            <a:off x="4654296" y="1920240"/>
            <a:ext cx="1600200" cy="1508760"/>
          </a:xfrm>
          <a:prstGeom prst="roundRect">
            <a:avLst>
              <a:gd name="adj" fmla="val 3636"/>
            </a:avLst>
          </a:prstGeom>
          <a:solidFill>
            <a:srgbClr val="FFFFFF"/>
          </a:solidFill>
          <a:ln w="12700">
            <a:solidFill>
              <a:srgbClr val="2F6BFF"/>
            </a:solidFill>
            <a:prstDash val="solid"/>
          </a:ln>
        </p:spPr>
        <p:txBody>
          <a:bodyPr/>
          <a:lstStyle/>
          <a:p>
            <a:endParaRPr lang="en-US"/>
          </a:p>
        </p:txBody>
      </p:sp>
      <p:sp>
        <p:nvSpPr>
          <p:cNvPr id="14" name="Text 12"/>
          <p:cNvSpPr/>
          <p:nvPr/>
        </p:nvSpPr>
        <p:spPr>
          <a:xfrm>
            <a:off x="4764024" y="2048256"/>
            <a:ext cx="1380744" cy="201168"/>
          </a:xfrm>
          <a:prstGeom prst="rect">
            <a:avLst/>
          </a:prstGeom>
          <a:noFill/>
          <a:ln/>
        </p:spPr>
        <p:txBody>
          <a:bodyPr wrap="square" lIns="0" tIns="0" rIns="0" bIns="0" rtlCol="0" anchor="ctr"/>
          <a:lstStyle/>
          <a:p>
            <a:pPr marL="0" indent="0" algn="ctr">
              <a:buNone/>
            </a:pPr>
            <a:r>
              <a:rPr lang="en-US" sz="1600" b="1" dirty="0">
                <a:solidFill>
                  <a:srgbClr val="13233F"/>
                </a:solidFill>
              </a:rPr>
              <a:t>3. Tool call</a:t>
            </a:r>
            <a:endParaRPr lang="en-US" sz="1600" dirty="0"/>
          </a:p>
        </p:txBody>
      </p:sp>
      <p:sp>
        <p:nvSpPr>
          <p:cNvPr id="15" name="Text 13"/>
          <p:cNvSpPr/>
          <p:nvPr/>
        </p:nvSpPr>
        <p:spPr>
          <a:xfrm>
            <a:off x="4764024" y="2304288"/>
            <a:ext cx="1380744" cy="1033272"/>
          </a:xfrm>
          <a:prstGeom prst="rect">
            <a:avLst/>
          </a:prstGeom>
          <a:noFill/>
          <a:ln/>
        </p:spPr>
        <p:txBody>
          <a:bodyPr wrap="square" lIns="254" tIns="254" rIns="254" bIns="254" rtlCol="0" anchor="ctr"/>
          <a:lstStyle/>
          <a:p>
            <a:pPr marL="0" indent="0" algn="ctr">
              <a:buNone/>
            </a:pPr>
            <a:r>
              <a:rPr lang="en-US" sz="1150" dirty="0">
                <a:solidFill>
                  <a:srgbClr val="1E2A3A"/>
                </a:solidFill>
              </a:rPr>
              <a:t>metric: net_margin_exposure</a:t>
            </a:r>
            <a:endParaRPr lang="en-US" sz="1150" dirty="0"/>
          </a:p>
          <a:p>
            <a:pPr marL="0" indent="0" algn="ctr">
              <a:buNone/>
            </a:pPr>
            <a:r>
              <a:rPr lang="en-US" sz="1150" dirty="0">
                <a:solidFill>
                  <a:srgbClr val="1E2A3A"/>
                </a:solidFill>
              </a:rPr>
              <a:t>groupBy: event_at__month</a:t>
            </a:r>
            <a:endParaRPr lang="en-US" sz="1150" dirty="0"/>
          </a:p>
        </p:txBody>
      </p:sp>
      <p:sp>
        <p:nvSpPr>
          <p:cNvPr id="16" name="Shape 14"/>
          <p:cNvSpPr/>
          <p:nvPr/>
        </p:nvSpPr>
        <p:spPr>
          <a:xfrm>
            <a:off x="6547104" y="1920240"/>
            <a:ext cx="1600200" cy="1508760"/>
          </a:xfrm>
          <a:prstGeom prst="roundRect">
            <a:avLst>
              <a:gd name="adj" fmla="val 3636"/>
            </a:avLst>
          </a:prstGeom>
          <a:solidFill>
            <a:srgbClr val="FFFFFF"/>
          </a:solidFill>
          <a:ln w="12700">
            <a:solidFill>
              <a:srgbClr val="F5A623"/>
            </a:solidFill>
            <a:prstDash val="solid"/>
          </a:ln>
        </p:spPr>
        <p:txBody>
          <a:bodyPr/>
          <a:lstStyle/>
          <a:p>
            <a:endParaRPr lang="en-US"/>
          </a:p>
        </p:txBody>
      </p:sp>
      <p:sp>
        <p:nvSpPr>
          <p:cNvPr id="17" name="Text 15"/>
          <p:cNvSpPr/>
          <p:nvPr/>
        </p:nvSpPr>
        <p:spPr>
          <a:xfrm>
            <a:off x="6656832" y="2048256"/>
            <a:ext cx="1380744" cy="201168"/>
          </a:xfrm>
          <a:prstGeom prst="rect">
            <a:avLst/>
          </a:prstGeom>
          <a:noFill/>
          <a:ln/>
        </p:spPr>
        <p:txBody>
          <a:bodyPr wrap="square" lIns="0" tIns="0" rIns="0" bIns="0" rtlCol="0" anchor="ctr"/>
          <a:lstStyle/>
          <a:p>
            <a:pPr marL="0" indent="0" algn="ctr">
              <a:buNone/>
            </a:pPr>
            <a:r>
              <a:rPr lang="en-US" sz="1600" b="1" dirty="0">
                <a:solidFill>
                  <a:srgbClr val="13233F"/>
                </a:solidFill>
              </a:rPr>
              <a:t>4. Execution</a:t>
            </a:r>
            <a:endParaRPr lang="en-US" sz="1600" dirty="0"/>
          </a:p>
        </p:txBody>
      </p:sp>
      <p:sp>
        <p:nvSpPr>
          <p:cNvPr id="18" name="Text 16"/>
          <p:cNvSpPr/>
          <p:nvPr/>
        </p:nvSpPr>
        <p:spPr>
          <a:xfrm>
            <a:off x="6656832" y="2304288"/>
            <a:ext cx="1380744" cy="1033272"/>
          </a:xfrm>
          <a:prstGeom prst="rect">
            <a:avLst/>
          </a:prstGeom>
          <a:noFill/>
          <a:ln/>
        </p:spPr>
        <p:txBody>
          <a:bodyPr wrap="square" lIns="254" tIns="254" rIns="254" bIns="254" rtlCol="0" anchor="ctr"/>
          <a:lstStyle/>
          <a:p>
            <a:pPr marL="0" indent="0" algn="ctr">
              <a:buNone/>
            </a:pPr>
            <a:r>
              <a:rPr lang="en-US" sz="1150" dirty="0">
                <a:solidFill>
                  <a:srgbClr val="1E2A3A"/>
                </a:solidFill>
              </a:rPr>
              <a:t>SQL generated</a:t>
            </a:r>
            <a:endParaRPr lang="en-US" sz="1150" dirty="0"/>
          </a:p>
          <a:p>
            <a:pPr marL="0" indent="0" algn="ctr">
              <a:buNone/>
            </a:pPr>
            <a:r>
              <a:rPr lang="en-US" sz="1150" dirty="0">
                <a:solidFill>
                  <a:srgbClr val="1E2A3A"/>
                </a:solidFill>
              </a:rPr>
              <a:t>and run on source</a:t>
            </a:r>
            <a:endParaRPr lang="en-US" sz="1150" dirty="0"/>
          </a:p>
        </p:txBody>
      </p:sp>
      <p:sp>
        <p:nvSpPr>
          <p:cNvPr id="19" name="Shape 17"/>
          <p:cNvSpPr/>
          <p:nvPr/>
        </p:nvSpPr>
        <p:spPr>
          <a:xfrm>
            <a:off x="8439912" y="1920240"/>
            <a:ext cx="1600200" cy="1508760"/>
          </a:xfrm>
          <a:prstGeom prst="roundRect">
            <a:avLst>
              <a:gd name="adj" fmla="val 3636"/>
            </a:avLst>
          </a:prstGeom>
          <a:solidFill>
            <a:srgbClr val="FFFFFF"/>
          </a:solidFill>
          <a:ln w="12700">
            <a:solidFill>
              <a:srgbClr val="2F6BFF"/>
            </a:solidFill>
            <a:prstDash val="solid"/>
          </a:ln>
        </p:spPr>
        <p:txBody>
          <a:bodyPr/>
          <a:lstStyle/>
          <a:p>
            <a:endParaRPr lang="en-US"/>
          </a:p>
        </p:txBody>
      </p:sp>
      <p:sp>
        <p:nvSpPr>
          <p:cNvPr id="20" name="Text 18"/>
          <p:cNvSpPr/>
          <p:nvPr/>
        </p:nvSpPr>
        <p:spPr>
          <a:xfrm>
            <a:off x="8549640" y="2048256"/>
            <a:ext cx="1380744" cy="201168"/>
          </a:xfrm>
          <a:prstGeom prst="rect">
            <a:avLst/>
          </a:prstGeom>
          <a:noFill/>
          <a:ln/>
        </p:spPr>
        <p:txBody>
          <a:bodyPr wrap="square" lIns="0" tIns="0" rIns="0" bIns="0" rtlCol="0" anchor="ctr"/>
          <a:lstStyle/>
          <a:p>
            <a:pPr marL="0" indent="0" algn="ctr">
              <a:buNone/>
            </a:pPr>
            <a:r>
              <a:rPr lang="en-US" sz="1600" b="1" dirty="0">
                <a:solidFill>
                  <a:srgbClr val="13233F"/>
                </a:solidFill>
              </a:rPr>
              <a:t>5. Response</a:t>
            </a:r>
            <a:endParaRPr lang="en-US" sz="1600" dirty="0"/>
          </a:p>
        </p:txBody>
      </p:sp>
      <p:sp>
        <p:nvSpPr>
          <p:cNvPr id="21" name="Text 19"/>
          <p:cNvSpPr/>
          <p:nvPr/>
        </p:nvSpPr>
        <p:spPr>
          <a:xfrm>
            <a:off x="8549640" y="2304288"/>
            <a:ext cx="1380744" cy="1033272"/>
          </a:xfrm>
          <a:prstGeom prst="rect">
            <a:avLst/>
          </a:prstGeom>
          <a:noFill/>
          <a:ln/>
        </p:spPr>
        <p:txBody>
          <a:bodyPr wrap="square" lIns="254" tIns="254" rIns="254" bIns="254" rtlCol="0" anchor="ctr"/>
          <a:lstStyle/>
          <a:p>
            <a:pPr marL="0" indent="0" algn="ctr">
              <a:buNone/>
            </a:pPr>
            <a:r>
              <a:rPr lang="en-US" sz="1150" dirty="0">
                <a:solidFill>
                  <a:srgbClr val="1E2A3A"/>
                </a:solidFill>
              </a:rPr>
              <a:t>Gemini narrates</a:t>
            </a:r>
            <a:endParaRPr lang="en-US" sz="1150" dirty="0"/>
          </a:p>
          <a:p>
            <a:pPr marL="0" indent="0" algn="ctr">
              <a:buNone/>
            </a:pPr>
            <a:r>
              <a:rPr lang="en-US" sz="1150" dirty="0">
                <a:solidFill>
                  <a:srgbClr val="1E2A3A"/>
                </a:solidFill>
              </a:rPr>
              <a:t>clean result</a:t>
            </a:r>
            <a:endParaRPr lang="en-US" sz="1150" dirty="0"/>
          </a:p>
        </p:txBody>
      </p:sp>
      <p:sp>
        <p:nvSpPr>
          <p:cNvPr id="22" name="Shape 20"/>
          <p:cNvSpPr/>
          <p:nvPr/>
        </p:nvSpPr>
        <p:spPr>
          <a:xfrm>
            <a:off x="2468880" y="2679192"/>
            <a:ext cx="228600" cy="0"/>
          </a:xfrm>
          <a:prstGeom prst="line">
            <a:avLst/>
          </a:prstGeom>
          <a:noFill/>
          <a:ln w="12700">
            <a:solidFill>
              <a:srgbClr val="2F6BFF"/>
            </a:solidFill>
            <a:prstDash val="solid"/>
            <a:headEnd type="none"/>
            <a:tailEnd type="triangle"/>
          </a:ln>
        </p:spPr>
        <p:txBody>
          <a:bodyPr/>
          <a:lstStyle/>
          <a:p>
            <a:endParaRPr lang="en-US"/>
          </a:p>
        </p:txBody>
      </p:sp>
      <p:sp>
        <p:nvSpPr>
          <p:cNvPr id="23" name="Shape 21"/>
          <p:cNvSpPr/>
          <p:nvPr/>
        </p:nvSpPr>
        <p:spPr>
          <a:xfrm>
            <a:off x="4361688" y="2679192"/>
            <a:ext cx="228600" cy="0"/>
          </a:xfrm>
          <a:prstGeom prst="line">
            <a:avLst/>
          </a:prstGeom>
          <a:noFill/>
          <a:ln w="12700">
            <a:solidFill>
              <a:srgbClr val="2F6BFF"/>
            </a:solidFill>
            <a:prstDash val="solid"/>
            <a:headEnd type="none"/>
            <a:tailEnd type="triangle"/>
          </a:ln>
        </p:spPr>
        <p:txBody>
          <a:bodyPr/>
          <a:lstStyle/>
          <a:p>
            <a:endParaRPr lang="en-US"/>
          </a:p>
        </p:txBody>
      </p:sp>
      <p:sp>
        <p:nvSpPr>
          <p:cNvPr id="24" name="Shape 22"/>
          <p:cNvSpPr/>
          <p:nvPr/>
        </p:nvSpPr>
        <p:spPr>
          <a:xfrm>
            <a:off x="6254496" y="2679192"/>
            <a:ext cx="228600" cy="0"/>
          </a:xfrm>
          <a:prstGeom prst="line">
            <a:avLst/>
          </a:prstGeom>
          <a:noFill/>
          <a:ln w="12700">
            <a:solidFill>
              <a:srgbClr val="F5A623"/>
            </a:solidFill>
            <a:prstDash val="solid"/>
            <a:headEnd type="none"/>
            <a:tailEnd type="triangle"/>
          </a:ln>
        </p:spPr>
        <p:txBody>
          <a:bodyPr/>
          <a:lstStyle/>
          <a:p>
            <a:endParaRPr lang="en-US"/>
          </a:p>
        </p:txBody>
      </p:sp>
      <p:sp>
        <p:nvSpPr>
          <p:cNvPr id="25" name="Shape 23"/>
          <p:cNvSpPr/>
          <p:nvPr/>
        </p:nvSpPr>
        <p:spPr>
          <a:xfrm>
            <a:off x="8147304" y="2679192"/>
            <a:ext cx="228600" cy="0"/>
          </a:xfrm>
          <a:prstGeom prst="line">
            <a:avLst/>
          </a:prstGeom>
          <a:noFill/>
          <a:ln w="12700">
            <a:solidFill>
              <a:srgbClr val="2F6BFF"/>
            </a:solidFill>
            <a:prstDash val="solid"/>
            <a:headEnd type="none"/>
            <a:tailEnd type="triangle"/>
          </a:ln>
        </p:spPr>
        <p:txBody>
          <a:bodyPr/>
          <a:lstStyle/>
          <a:p>
            <a:endParaRPr lang="en-US"/>
          </a:p>
        </p:txBody>
      </p:sp>
      <p:sp>
        <p:nvSpPr>
          <p:cNvPr id="26" name="Shape 24"/>
          <p:cNvSpPr/>
          <p:nvPr/>
        </p:nvSpPr>
        <p:spPr>
          <a:xfrm>
            <a:off x="1005840" y="4160520"/>
            <a:ext cx="3383280" cy="1280160"/>
          </a:xfrm>
          <a:prstGeom prst="roundRect">
            <a:avLst>
              <a:gd name="adj" fmla="val 2857"/>
            </a:avLst>
          </a:prstGeom>
          <a:solidFill>
            <a:srgbClr val="F7F9FC"/>
          </a:solidFill>
          <a:ln w="12700">
            <a:solidFill>
              <a:srgbClr val="D8E1EE"/>
            </a:solidFill>
            <a:prstDash val="solid"/>
          </a:ln>
        </p:spPr>
        <p:txBody>
          <a:bodyPr/>
          <a:lstStyle/>
          <a:p>
            <a:endParaRPr lang="en-US"/>
          </a:p>
        </p:txBody>
      </p:sp>
      <p:sp>
        <p:nvSpPr>
          <p:cNvPr id="27" name="Shape 25"/>
          <p:cNvSpPr/>
          <p:nvPr/>
        </p:nvSpPr>
        <p:spPr>
          <a:xfrm>
            <a:off x="1005840" y="4160520"/>
            <a:ext cx="3383280" cy="310896"/>
          </a:xfrm>
          <a:prstGeom prst="rect">
            <a:avLst/>
          </a:prstGeom>
          <a:solidFill>
            <a:srgbClr val="243B63"/>
          </a:solidFill>
          <a:ln w="12700">
            <a:solidFill>
              <a:srgbClr val="243B63">
                <a:alpha val="0"/>
              </a:srgbClr>
            </a:solidFill>
            <a:prstDash val="solid"/>
          </a:ln>
        </p:spPr>
        <p:txBody>
          <a:bodyPr/>
          <a:lstStyle/>
          <a:p>
            <a:endParaRPr lang="en-US"/>
          </a:p>
        </p:txBody>
      </p:sp>
      <p:sp>
        <p:nvSpPr>
          <p:cNvPr id="28" name="Text 26"/>
          <p:cNvSpPr/>
          <p:nvPr/>
        </p:nvSpPr>
        <p:spPr>
          <a:xfrm>
            <a:off x="1143000" y="4233672"/>
            <a:ext cx="3108960" cy="146304"/>
          </a:xfrm>
          <a:prstGeom prst="rect">
            <a:avLst/>
          </a:prstGeom>
          <a:noFill/>
          <a:ln/>
        </p:spPr>
        <p:txBody>
          <a:bodyPr wrap="square" lIns="0" tIns="0" rIns="0" bIns="0" rtlCol="0" anchor="ctr"/>
          <a:lstStyle/>
          <a:p>
            <a:pPr marL="0" indent="0">
              <a:buNone/>
            </a:pPr>
            <a:r>
              <a:rPr lang="en-US" sz="1150" b="1" dirty="0">
                <a:solidFill>
                  <a:srgbClr val="FFFFFF"/>
                </a:solidFill>
              </a:rPr>
              <a:t>Illustrative semantic request</a:t>
            </a:r>
            <a:endParaRPr lang="en-US" sz="1150" dirty="0"/>
          </a:p>
        </p:txBody>
      </p:sp>
      <p:sp>
        <p:nvSpPr>
          <p:cNvPr id="29" name="Text 27"/>
          <p:cNvSpPr/>
          <p:nvPr/>
        </p:nvSpPr>
        <p:spPr>
          <a:xfrm>
            <a:off x="1170432" y="4590288"/>
            <a:ext cx="2852928" cy="713232"/>
          </a:xfrm>
          <a:prstGeom prst="rect">
            <a:avLst/>
          </a:prstGeom>
          <a:noFill/>
          <a:ln/>
        </p:spPr>
        <p:txBody>
          <a:bodyPr wrap="square" lIns="254" tIns="254" rIns="254" bIns="254" rtlCol="0" anchor="t">
            <a:normAutofit/>
          </a:bodyPr>
          <a:lstStyle/>
          <a:p>
            <a:pPr marL="0" indent="0" algn="l">
              <a:spcBef>
                <a:spcPts val="0"/>
              </a:spcBef>
              <a:spcAft>
                <a:spcPts val="0"/>
              </a:spcAft>
              <a:buNone/>
            </a:pPr>
            <a:r>
              <a:rPr sz="1500">
                <a:solidFill>
                  <a:srgbClr val="8292A2"/>
                </a:solidFill>
              </a:rPr>
              <a:t>1 </a:t>
            </a:r>
            <a:r>
              <a:rPr sz="1500" b="1">
                <a:solidFill>
                  <a:srgbClr val="243B63"/>
                </a:solidFill>
              </a:rPr>
              <a:t>Metric: </a:t>
            </a:r>
            <a:r>
              <a:rPr sz="1500">
                <a:solidFill>
                  <a:srgbClr val="243B63"/>
                </a:solidFill>
              </a:rPr>
              <a:t>net_margin_exposure</a:t>
            </a:r>
            <a:endParaRPr lang="en-US" sz="1050" dirty="0"/>
          </a:p>
          <a:p>
            <a:pPr algn="l">
              <a:spcBef>
                <a:spcPts val="0"/>
              </a:spcBef>
              <a:spcAft>
                <a:spcPts val="0"/>
              </a:spcAft>
            </a:pPr>
            <a:r>
              <a:rPr sz="1500">
                <a:solidFill>
                  <a:srgbClr val="8292A2"/>
                </a:solidFill>
              </a:rPr>
              <a:t>2 </a:t>
            </a:r>
            <a:r>
              <a:rPr sz="1500" b="1">
                <a:solidFill>
                  <a:srgbClr val="243B63"/>
                </a:solidFill>
              </a:rPr>
              <a:t>GroupBy: </a:t>
            </a:r>
            <a:r>
              <a:rPr sz="1500">
                <a:solidFill>
                  <a:srgbClr val="243B63"/>
                </a:solidFill>
              </a:rPr>
              <a:t>event_at__month</a:t>
            </a:r>
          </a:p>
          <a:p>
            <a:pPr algn="l">
              <a:spcBef>
                <a:spcPts val="0"/>
              </a:spcBef>
              <a:spcAft>
                <a:spcPts val="0"/>
              </a:spcAft>
            </a:pPr>
            <a:r>
              <a:rPr sz="1500">
                <a:solidFill>
                  <a:srgbClr val="8292A2"/>
                </a:solidFill>
              </a:rPr>
              <a:t>3 </a:t>
            </a:r>
            <a:r>
              <a:rPr sz="1500" b="1">
                <a:solidFill>
                  <a:srgbClr val="243B63"/>
                </a:solidFill>
              </a:rPr>
              <a:t>Filter: </a:t>
            </a:r>
            <a:r>
              <a:rPr sz="1500">
                <a:solidFill>
                  <a:srgbClr val="243B63"/>
                </a:solidFill>
              </a:rPr>
              <a:t>last month</a:t>
            </a:r>
          </a:p>
        </p:txBody>
      </p:sp>
      <p:sp>
        <p:nvSpPr>
          <p:cNvPr id="30" name="Shape 28"/>
          <p:cNvSpPr/>
          <p:nvPr/>
        </p:nvSpPr>
        <p:spPr>
          <a:xfrm>
            <a:off x="4709160" y="4160520"/>
            <a:ext cx="6355080" cy="1280160"/>
          </a:xfrm>
          <a:prstGeom prst="roundRect">
            <a:avLst>
              <a:gd name="adj" fmla="val 4286"/>
            </a:avLst>
          </a:prstGeom>
          <a:solidFill>
            <a:srgbClr val="FBFFFD"/>
          </a:solidFill>
          <a:ln w="12700">
            <a:solidFill>
              <a:srgbClr val="D8E1EE"/>
            </a:solidFill>
            <a:prstDash val="solid"/>
          </a:ln>
        </p:spPr>
        <p:txBody>
          <a:bodyPr/>
          <a:lstStyle/>
          <a:p>
            <a:endParaRPr lang="en-US"/>
          </a:p>
        </p:txBody>
      </p:sp>
      <p:sp>
        <p:nvSpPr>
          <p:cNvPr id="31" name="Shape 29"/>
          <p:cNvSpPr/>
          <p:nvPr/>
        </p:nvSpPr>
        <p:spPr>
          <a:xfrm>
            <a:off x="4709160" y="4160520"/>
            <a:ext cx="109728" cy="1280160"/>
          </a:xfrm>
          <a:prstGeom prst="rect">
            <a:avLst/>
          </a:prstGeom>
          <a:solidFill>
            <a:srgbClr val="17B9A6"/>
          </a:solidFill>
          <a:ln w="12700">
            <a:solidFill>
              <a:srgbClr val="17B9A6">
                <a:alpha val="0"/>
              </a:srgbClr>
            </a:solidFill>
            <a:prstDash val="solid"/>
          </a:ln>
        </p:spPr>
        <p:txBody>
          <a:bodyPr/>
          <a:lstStyle/>
          <a:p>
            <a:endParaRPr lang="en-US"/>
          </a:p>
        </p:txBody>
      </p:sp>
      <p:sp>
        <p:nvSpPr>
          <p:cNvPr id="32" name="Text 30"/>
          <p:cNvSpPr/>
          <p:nvPr/>
        </p:nvSpPr>
        <p:spPr>
          <a:xfrm>
            <a:off x="4910328" y="4325112"/>
            <a:ext cx="6035040" cy="219456"/>
          </a:xfrm>
          <a:prstGeom prst="rect">
            <a:avLst/>
          </a:prstGeom>
          <a:noFill/>
          <a:ln/>
        </p:spPr>
        <p:txBody>
          <a:bodyPr wrap="square" lIns="0" tIns="0" rIns="0" bIns="0" rtlCol="0" anchor="ctr"/>
          <a:lstStyle/>
          <a:p>
            <a:pPr marL="0" indent="0">
              <a:buNone/>
            </a:pPr>
            <a:r>
              <a:rPr lang="en-US" sz="1900" b="1" dirty="0">
                <a:solidFill>
                  <a:srgbClr val="13233F"/>
                </a:solidFill>
              </a:rPr>
              <a:t>Zero-hallucination principle</a:t>
            </a:r>
            <a:endParaRPr lang="en-US" sz="1900" dirty="0"/>
          </a:p>
        </p:txBody>
      </p:sp>
      <p:sp>
        <p:nvSpPr>
          <p:cNvPr id="33" name="Text 31"/>
          <p:cNvSpPr/>
          <p:nvPr/>
        </p:nvSpPr>
        <p:spPr>
          <a:xfrm>
            <a:off x="4910328" y="4645152"/>
            <a:ext cx="6007608" cy="713232"/>
          </a:xfrm>
          <a:prstGeom prst="rect">
            <a:avLst/>
          </a:prstGeom>
          <a:noFill/>
          <a:ln/>
        </p:spPr>
        <p:txBody>
          <a:bodyPr wrap="square" lIns="0" tIns="0" rIns="0" bIns="0" rtlCol="0" anchor="t"/>
          <a:lstStyle/>
          <a:p>
            <a:pPr marL="0" indent="0">
              <a:buNone/>
            </a:pPr>
            <a:r>
              <a:rPr lang="en-US" sz="1450" dirty="0">
                <a:solidFill>
                  <a:srgbClr val="1E2A3A"/>
                </a:solidFill>
              </a:rPr>
              <a:t>• Gemini acts as a reasoning architect that selects governed metrics and filters. The data system, not the model, performs the actual calculation.</a:t>
            </a:r>
            <a:endParaRPr lang="en-US" sz="1450" dirty="0"/>
          </a:p>
        </p:txBody>
      </p:sp>
      <p:sp>
        <p:nvSpPr>
          <p:cNvPr id="34" name="Text 32"/>
          <p:cNvSpPr/>
          <p:nvPr/>
        </p:nvSpPr>
        <p:spPr>
          <a:xfrm>
            <a:off x="566928" y="6437376"/>
            <a:ext cx="9875520" cy="164592"/>
          </a:xfrm>
          <a:prstGeom prst="rect">
            <a:avLst/>
          </a:prstGeom>
          <a:noFill/>
          <a:ln/>
        </p:spPr>
        <p:txBody>
          <a:bodyPr wrap="square" lIns="0" tIns="0" rIns="0" bIns="0" rtlCol="0" anchor="ctr"/>
          <a:lstStyle/>
          <a:p>
            <a:pPr marL="0" indent="0">
              <a:buNone/>
            </a:pPr>
            <a:r>
              <a:rPr lang="en-US" sz="950" dirty="0">
                <a:solidFill>
                  <a:srgbClr val="6C7A89"/>
                </a:solidFill>
              </a:rPr>
              <a:t>Revised approach: JSON + DuckDB or direct SQL source</a:t>
            </a:r>
            <a:endParaRPr lang="en-US" sz="950" dirty="0"/>
          </a:p>
        </p:txBody>
      </p:sp>
      <p:sp>
        <p:nvSpPr>
          <p:cNvPr id="35" name="Text 33"/>
          <p:cNvSpPr/>
          <p:nvPr/>
        </p:nvSpPr>
        <p:spPr>
          <a:xfrm>
            <a:off x="11155680" y="6409944"/>
            <a:ext cx="411480" cy="182880"/>
          </a:xfrm>
          <a:prstGeom prst="rect">
            <a:avLst/>
          </a:prstGeom>
          <a:noFill/>
          <a:ln/>
        </p:spPr>
        <p:txBody>
          <a:bodyPr wrap="square" lIns="0" tIns="0" rIns="0" bIns="0" rtlCol="0" anchor="ctr"/>
          <a:lstStyle/>
          <a:p>
            <a:pPr marL="0" indent="0" algn="r">
              <a:buNone/>
            </a:pPr>
            <a:r>
              <a:rPr lang="en-US" sz="1000" b="1" dirty="0">
                <a:solidFill>
                  <a:srgbClr val="6C7A89"/>
                </a:solidFill>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3233F"/>
          </a:solidFill>
          <a:ln w="12700">
            <a:solidFill>
              <a:srgbClr val="13233F">
                <a:alpha val="0"/>
              </a:srgbClr>
            </a:solidFill>
            <a:prstDash val="solid"/>
          </a:ln>
        </p:spPr>
        <p:txBody>
          <a:bodyPr/>
          <a:lstStyle/>
          <a:p>
            <a:endParaRPr lang="en-US"/>
          </a:p>
        </p:txBody>
      </p:sp>
      <p:sp>
        <p:nvSpPr>
          <p:cNvPr id="3" name="Text 1"/>
          <p:cNvSpPr/>
          <p:nvPr/>
        </p:nvSpPr>
        <p:spPr>
          <a:xfrm>
            <a:off x="566928" y="164592"/>
            <a:ext cx="8046720" cy="237744"/>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Illustrative output patterns for Phase 1 dashboards and AI answers</a:t>
            </a:r>
            <a:endParaRPr lang="en-US" sz="2600" dirty="0"/>
          </a:p>
        </p:txBody>
      </p:sp>
      <p:sp>
        <p:nvSpPr>
          <p:cNvPr id="4" name="Text 2"/>
          <p:cNvSpPr/>
          <p:nvPr/>
        </p:nvSpPr>
        <p:spPr>
          <a:xfrm>
            <a:off x="9281160" y="164592"/>
            <a:ext cx="2240280" cy="219456"/>
          </a:xfrm>
          <a:prstGeom prst="rect">
            <a:avLst/>
          </a:prstGeom>
          <a:noFill/>
          <a:ln/>
        </p:spPr>
        <p:txBody>
          <a:bodyPr wrap="square" lIns="0" tIns="0" rIns="0" bIns="0" rtlCol="0" anchor="ctr"/>
          <a:lstStyle/>
          <a:p>
            <a:pPr marL="0" indent="0" algn="r">
              <a:buNone/>
            </a:pPr>
            <a:r>
              <a:rPr lang="en-US" sz="1050" dirty="0">
                <a:solidFill>
                  <a:srgbClr val="D7E2FF"/>
                </a:solidFill>
                <a:latin typeface="Aptos" pitchFamily="34" charset="0"/>
                <a:ea typeface="Aptos" pitchFamily="34" charset="-122"/>
                <a:cs typeface="Aptos" pitchFamily="34" charset="-120"/>
              </a:rPr>
              <a:t>Semantic GenAI for BI · Phase 1</a:t>
            </a:r>
            <a:endParaRPr lang="en-US" sz="1050" dirty="0"/>
          </a:p>
        </p:txBody>
      </p:sp>
      <p:sp>
        <p:nvSpPr>
          <p:cNvPr id="5" name="Shape 3"/>
          <p:cNvSpPr/>
          <p:nvPr/>
        </p:nvSpPr>
        <p:spPr>
          <a:xfrm>
            <a:off x="566928" y="6382512"/>
            <a:ext cx="11064240" cy="0"/>
          </a:xfrm>
          <a:prstGeom prst="line">
            <a:avLst/>
          </a:prstGeom>
          <a:noFill/>
          <a:ln w="12700">
            <a:solidFill>
              <a:srgbClr val="D8E1EE"/>
            </a:solidFill>
            <a:prstDash val="solid"/>
          </a:ln>
        </p:spPr>
        <p:txBody>
          <a:bodyPr/>
          <a:lstStyle/>
          <a:p>
            <a:endParaRPr lang="en-US"/>
          </a:p>
        </p:txBody>
      </p:sp>
      <p:sp>
        <p:nvSpPr>
          <p:cNvPr id="6" name="Text 4"/>
          <p:cNvSpPr/>
          <p:nvPr/>
        </p:nvSpPr>
        <p:spPr>
          <a:xfrm>
            <a:off x="777240" y="914400"/>
            <a:ext cx="9326880" cy="274320"/>
          </a:xfrm>
          <a:prstGeom prst="rect">
            <a:avLst/>
          </a:prstGeom>
          <a:noFill/>
          <a:ln/>
        </p:spPr>
        <p:txBody>
          <a:bodyPr wrap="square" lIns="0" tIns="0" rIns="0" bIns="0" rtlCol="0" anchor="ctr"/>
          <a:lstStyle/>
          <a:p>
            <a:pPr marL="0" indent="0">
              <a:buNone/>
            </a:pPr>
            <a:r>
              <a:rPr lang="en-US" sz="1750" i="1" dirty="0">
                <a:solidFill>
                  <a:srgbClr val="6C7A89"/>
                </a:solidFill>
              </a:rPr>
              <a:t>Conceptual visuals only — shown here to represent the kinds of governed outputs the semantic layer can produce.</a:t>
            </a:r>
            <a:endParaRPr lang="en-US" sz="1750" dirty="0"/>
          </a:p>
        </p:txBody>
      </p:sp>
      <p:graphicFrame>
        <p:nvGraphicFramePr>
          <p:cNvPr id="7" name="Chart 0"/>
          <p:cNvGraphicFramePr/>
          <p:nvPr/>
        </p:nvGraphicFramePr>
        <p:xfrm>
          <a:off x="804672" y="1463040"/>
          <a:ext cx="54864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1097280" y="5074920"/>
            <a:ext cx="4937760" cy="182880"/>
          </a:xfrm>
          <a:prstGeom prst="rect">
            <a:avLst/>
          </a:prstGeom>
          <a:noFill/>
          <a:ln/>
        </p:spPr>
        <p:txBody>
          <a:bodyPr wrap="square" lIns="0" tIns="0" rIns="0" bIns="0" rtlCol="0" anchor="ctr"/>
          <a:lstStyle/>
          <a:p>
            <a:pPr marL="0" indent="0" algn="ctr">
              <a:buNone/>
            </a:pPr>
            <a:r>
              <a:rPr lang="en-US" sz="1400" dirty="0">
                <a:solidFill>
                  <a:srgbClr val="1E2A3A"/>
                </a:solidFill>
              </a:rPr>
              <a:t>Illustrative monthly net exposure trend</a:t>
            </a:r>
            <a:endParaRPr lang="en-US" sz="1400" dirty="0"/>
          </a:p>
        </p:txBody>
      </p:sp>
      <p:graphicFrame>
        <p:nvGraphicFramePr>
          <p:cNvPr id="9" name="Chart 1"/>
          <p:cNvGraphicFramePr/>
          <p:nvPr/>
        </p:nvGraphicFramePr>
        <p:xfrm>
          <a:off x="6629400" y="1645920"/>
          <a:ext cx="4160520" cy="246888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6"/>
          <p:cNvSpPr/>
          <p:nvPr/>
        </p:nvSpPr>
        <p:spPr>
          <a:xfrm>
            <a:off x="6492240" y="4526280"/>
            <a:ext cx="4572000" cy="1234440"/>
          </a:xfrm>
          <a:prstGeom prst="roundRect">
            <a:avLst>
              <a:gd name="adj" fmla="val 4444"/>
            </a:avLst>
          </a:prstGeom>
          <a:solidFill>
            <a:srgbClr val="FBFDFF"/>
          </a:solidFill>
          <a:ln w="12700">
            <a:solidFill>
              <a:srgbClr val="D8E1EE"/>
            </a:solidFill>
            <a:prstDash val="solid"/>
          </a:ln>
        </p:spPr>
        <p:txBody>
          <a:bodyPr/>
          <a:lstStyle/>
          <a:p>
            <a:endParaRPr lang="en-US"/>
          </a:p>
        </p:txBody>
      </p:sp>
      <p:sp>
        <p:nvSpPr>
          <p:cNvPr id="11" name="Shape 7"/>
          <p:cNvSpPr/>
          <p:nvPr/>
        </p:nvSpPr>
        <p:spPr>
          <a:xfrm>
            <a:off x="6492240" y="4526280"/>
            <a:ext cx="109728" cy="1234440"/>
          </a:xfrm>
          <a:prstGeom prst="rect">
            <a:avLst/>
          </a:prstGeom>
          <a:solidFill>
            <a:srgbClr val="2F6BFF"/>
          </a:solidFill>
          <a:ln w="12700">
            <a:solidFill>
              <a:srgbClr val="2F6BFF">
                <a:alpha val="0"/>
              </a:srgbClr>
            </a:solidFill>
            <a:prstDash val="solid"/>
          </a:ln>
        </p:spPr>
        <p:txBody>
          <a:bodyPr/>
          <a:lstStyle/>
          <a:p>
            <a:endParaRPr lang="en-US"/>
          </a:p>
        </p:txBody>
      </p:sp>
      <p:sp>
        <p:nvSpPr>
          <p:cNvPr id="12" name="Text 8"/>
          <p:cNvSpPr/>
          <p:nvPr/>
        </p:nvSpPr>
        <p:spPr>
          <a:xfrm>
            <a:off x="6693408" y="4690872"/>
            <a:ext cx="4251960" cy="219456"/>
          </a:xfrm>
          <a:prstGeom prst="rect">
            <a:avLst/>
          </a:prstGeom>
          <a:noFill/>
          <a:ln/>
        </p:spPr>
        <p:txBody>
          <a:bodyPr wrap="square" lIns="0" tIns="0" rIns="0" bIns="0" rtlCol="0" anchor="ctr"/>
          <a:lstStyle/>
          <a:p>
            <a:pPr marL="0" indent="0">
              <a:buNone/>
            </a:pPr>
            <a:r>
              <a:rPr lang="en-US" sz="1900" b="1" dirty="0">
                <a:solidFill>
                  <a:srgbClr val="13233F"/>
                </a:solidFill>
              </a:rPr>
              <a:t>How to use these visuals</a:t>
            </a:r>
            <a:endParaRPr lang="en-US" sz="1900" dirty="0"/>
          </a:p>
        </p:txBody>
      </p:sp>
      <p:sp>
        <p:nvSpPr>
          <p:cNvPr id="13" name="Text 9"/>
          <p:cNvSpPr/>
          <p:nvPr/>
        </p:nvSpPr>
        <p:spPr>
          <a:xfrm>
            <a:off x="6693408" y="5010912"/>
            <a:ext cx="4224528" cy="667512"/>
          </a:xfrm>
          <a:prstGeom prst="rect">
            <a:avLst/>
          </a:prstGeom>
          <a:noFill/>
          <a:ln/>
        </p:spPr>
        <p:txBody>
          <a:bodyPr wrap="square" lIns="0" tIns="0" rIns="0" bIns="0" rtlCol="0" anchor="t"/>
          <a:lstStyle/>
          <a:p>
            <a:pPr marL="0" indent="0">
              <a:buNone/>
            </a:pPr>
            <a:r>
              <a:rPr lang="en-US" sz="1450" dirty="0">
                <a:solidFill>
                  <a:srgbClr val="1E2A3A"/>
                </a:solidFill>
              </a:rPr>
              <a:t>• As Tableau widgets, AI answer snippets, or validation plots during Phase 1 testing.</a:t>
            </a:r>
            <a:endParaRPr lang="en-US" sz="1450" dirty="0"/>
          </a:p>
          <a:p>
            <a:pPr marL="0" indent="0">
              <a:buNone/>
            </a:pPr>
            <a:r>
              <a:rPr lang="en-US" sz="1450" dirty="0">
                <a:solidFill>
                  <a:srgbClr val="1E2A3A"/>
                </a:solidFill>
              </a:rPr>
              <a:t>• The real values should always come from the governed execution path.</a:t>
            </a:r>
            <a:endParaRPr lang="en-US" sz="1450" dirty="0"/>
          </a:p>
        </p:txBody>
      </p:sp>
      <p:sp>
        <p:nvSpPr>
          <p:cNvPr id="14" name="Text 10"/>
          <p:cNvSpPr/>
          <p:nvPr/>
        </p:nvSpPr>
        <p:spPr>
          <a:xfrm>
            <a:off x="566928" y="6437376"/>
            <a:ext cx="9875520" cy="164592"/>
          </a:xfrm>
          <a:prstGeom prst="rect">
            <a:avLst/>
          </a:prstGeom>
          <a:noFill/>
          <a:ln/>
        </p:spPr>
        <p:txBody>
          <a:bodyPr wrap="square" lIns="0" tIns="0" rIns="0" bIns="0" rtlCol="0" anchor="ctr"/>
          <a:lstStyle/>
          <a:p>
            <a:pPr marL="0" indent="0">
              <a:buNone/>
            </a:pPr>
            <a:r>
              <a:rPr lang="en-US" sz="950" dirty="0">
                <a:solidFill>
                  <a:srgbClr val="6C7A89"/>
                </a:solidFill>
              </a:rPr>
              <a:t>Revised approach: JSON + DuckDB or direct SQL source</a:t>
            </a:r>
            <a:endParaRPr lang="en-US" sz="950" dirty="0"/>
          </a:p>
        </p:txBody>
      </p:sp>
      <p:sp>
        <p:nvSpPr>
          <p:cNvPr id="15" name="Text 11"/>
          <p:cNvSpPr/>
          <p:nvPr/>
        </p:nvSpPr>
        <p:spPr>
          <a:xfrm>
            <a:off x="11155680" y="6409944"/>
            <a:ext cx="411480" cy="182880"/>
          </a:xfrm>
          <a:prstGeom prst="rect">
            <a:avLst/>
          </a:prstGeom>
          <a:noFill/>
          <a:ln/>
        </p:spPr>
        <p:txBody>
          <a:bodyPr wrap="square" lIns="0" tIns="0" rIns="0" bIns="0" rtlCol="0" anchor="ctr"/>
          <a:lstStyle/>
          <a:p>
            <a:pPr marL="0" indent="0" algn="r">
              <a:buNone/>
            </a:pPr>
            <a:r>
              <a:rPr lang="en-US" sz="1000" b="1" dirty="0">
                <a:solidFill>
                  <a:srgbClr val="6C7A89"/>
                </a:solidFill>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3233F"/>
          </a:solidFill>
          <a:ln w="12700">
            <a:solidFill>
              <a:srgbClr val="13233F">
                <a:alpha val="0"/>
              </a:srgbClr>
            </a:solidFill>
            <a:prstDash val="solid"/>
          </a:ln>
        </p:spPr>
        <p:txBody>
          <a:bodyPr/>
          <a:lstStyle/>
          <a:p>
            <a:endParaRPr lang="en-US"/>
          </a:p>
        </p:txBody>
      </p:sp>
      <p:sp>
        <p:nvSpPr>
          <p:cNvPr id="3" name="Text 1"/>
          <p:cNvSpPr/>
          <p:nvPr/>
        </p:nvSpPr>
        <p:spPr>
          <a:xfrm>
            <a:off x="566928" y="164592"/>
            <a:ext cx="8046720" cy="237744"/>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Phase 1 controls for accuracy, auditability, and maintainability</a:t>
            </a:r>
            <a:endParaRPr lang="en-US" sz="2600" dirty="0"/>
          </a:p>
        </p:txBody>
      </p:sp>
      <p:sp>
        <p:nvSpPr>
          <p:cNvPr id="4" name="Text 2"/>
          <p:cNvSpPr/>
          <p:nvPr/>
        </p:nvSpPr>
        <p:spPr>
          <a:xfrm>
            <a:off x="9281160" y="164592"/>
            <a:ext cx="2240280" cy="219456"/>
          </a:xfrm>
          <a:prstGeom prst="rect">
            <a:avLst/>
          </a:prstGeom>
          <a:noFill/>
          <a:ln/>
        </p:spPr>
        <p:txBody>
          <a:bodyPr wrap="square" lIns="0" tIns="0" rIns="0" bIns="0" rtlCol="0" anchor="ctr"/>
          <a:lstStyle/>
          <a:p>
            <a:pPr marL="0" indent="0" algn="r">
              <a:buNone/>
            </a:pPr>
            <a:r>
              <a:rPr lang="en-US" sz="1050" dirty="0">
                <a:solidFill>
                  <a:srgbClr val="D7E2FF"/>
                </a:solidFill>
                <a:latin typeface="Aptos" pitchFamily="34" charset="0"/>
                <a:ea typeface="Aptos" pitchFamily="34" charset="-122"/>
                <a:cs typeface="Aptos" pitchFamily="34" charset="-120"/>
              </a:rPr>
              <a:t>Semantic GenAI for BI · Phase 1</a:t>
            </a:r>
            <a:endParaRPr lang="en-US" sz="1050" dirty="0"/>
          </a:p>
        </p:txBody>
      </p:sp>
      <p:sp>
        <p:nvSpPr>
          <p:cNvPr id="5" name="Shape 3"/>
          <p:cNvSpPr/>
          <p:nvPr/>
        </p:nvSpPr>
        <p:spPr>
          <a:xfrm>
            <a:off x="566928" y="6382512"/>
            <a:ext cx="11064240" cy="0"/>
          </a:xfrm>
          <a:prstGeom prst="line">
            <a:avLst/>
          </a:prstGeom>
          <a:noFill/>
          <a:ln w="12700">
            <a:solidFill>
              <a:srgbClr val="D8E1EE"/>
            </a:solidFill>
            <a:prstDash val="solid"/>
          </a:ln>
        </p:spPr>
        <p:txBody>
          <a:bodyPr/>
          <a:lstStyle/>
          <a:p>
            <a:endParaRPr lang="en-US"/>
          </a:p>
        </p:txBody>
      </p:sp>
      <p:sp>
        <p:nvSpPr>
          <p:cNvPr id="6" name="Shape 4"/>
          <p:cNvSpPr/>
          <p:nvPr/>
        </p:nvSpPr>
        <p:spPr>
          <a:xfrm>
            <a:off x="713232" y="1627632"/>
            <a:ext cx="2011680" cy="3383280"/>
          </a:xfrm>
          <a:prstGeom prst="roundRect">
            <a:avLst>
              <a:gd name="adj" fmla="val 2273"/>
            </a:avLst>
          </a:prstGeom>
          <a:solidFill>
            <a:srgbClr val="EAF1FF"/>
          </a:solidFill>
          <a:ln w="12700">
            <a:solidFill>
              <a:srgbClr val="D8E1EE"/>
            </a:solidFill>
            <a:prstDash val="solid"/>
          </a:ln>
        </p:spPr>
        <p:txBody>
          <a:bodyPr/>
          <a:lstStyle/>
          <a:p>
            <a:endParaRPr lang="en-US"/>
          </a:p>
        </p:txBody>
      </p:sp>
      <p:sp>
        <p:nvSpPr>
          <p:cNvPr id="7" name="Shape 5"/>
          <p:cNvSpPr/>
          <p:nvPr/>
        </p:nvSpPr>
        <p:spPr>
          <a:xfrm>
            <a:off x="1426464" y="1920240"/>
            <a:ext cx="585216" cy="585216"/>
          </a:xfrm>
          <a:prstGeom prst="ellipse">
            <a:avLst/>
          </a:prstGeom>
          <a:solidFill>
            <a:srgbClr val="FFFFFF"/>
          </a:solidFill>
          <a:ln w="12700">
            <a:solidFill>
              <a:srgbClr val="2F6BFF"/>
            </a:solidFill>
            <a:prstDash val="solid"/>
          </a:ln>
        </p:spPr>
        <p:txBody>
          <a:bodyPr/>
          <a:lstStyle/>
          <a:p>
            <a:endParaRPr lang="en-US"/>
          </a:p>
        </p:txBody>
      </p:sp>
      <p:sp>
        <p:nvSpPr>
          <p:cNvPr id="8" name="Text 6"/>
          <p:cNvSpPr/>
          <p:nvPr/>
        </p:nvSpPr>
        <p:spPr>
          <a:xfrm>
            <a:off x="1426464" y="2075688"/>
            <a:ext cx="585216" cy="109728"/>
          </a:xfrm>
          <a:prstGeom prst="rect">
            <a:avLst/>
          </a:prstGeom>
          <a:noFill/>
          <a:ln/>
        </p:spPr>
        <p:txBody>
          <a:bodyPr wrap="square" lIns="0" tIns="0" rIns="0" bIns="0" rtlCol="0" anchor="ctr"/>
          <a:lstStyle/>
          <a:p>
            <a:pPr marL="0" indent="0" algn="ctr">
              <a:buNone/>
            </a:pPr>
            <a:r>
              <a:rPr lang="en-US" sz="1800" b="1" dirty="0">
                <a:solidFill>
                  <a:srgbClr val="2F6BFF"/>
                </a:solidFill>
              </a:rPr>
              <a:t>1</a:t>
            </a:r>
            <a:endParaRPr lang="en-US" sz="1800" dirty="0"/>
          </a:p>
        </p:txBody>
      </p:sp>
      <p:sp>
        <p:nvSpPr>
          <p:cNvPr id="9" name="Text 7"/>
          <p:cNvSpPr/>
          <p:nvPr/>
        </p:nvSpPr>
        <p:spPr>
          <a:xfrm>
            <a:off x="822960" y="2743200"/>
            <a:ext cx="1792224" cy="365760"/>
          </a:xfrm>
          <a:prstGeom prst="rect">
            <a:avLst/>
          </a:prstGeom>
          <a:noFill/>
          <a:ln/>
        </p:spPr>
        <p:txBody>
          <a:bodyPr wrap="square" lIns="0" tIns="0" rIns="0" bIns="0" rtlCol="0" anchor="ctr"/>
          <a:lstStyle/>
          <a:p>
            <a:pPr marL="0" indent="0" algn="ctr">
              <a:buNone/>
            </a:pPr>
            <a:r>
              <a:rPr lang="en-US" sz="1600" b="1" dirty="0">
                <a:solidFill>
                  <a:srgbClr val="13233F"/>
                </a:solidFill>
              </a:rPr>
              <a:t>Typed staging</a:t>
            </a:r>
            <a:endParaRPr lang="en-US" sz="1600" dirty="0"/>
          </a:p>
        </p:txBody>
      </p:sp>
      <p:sp>
        <p:nvSpPr>
          <p:cNvPr id="10" name="Text 8"/>
          <p:cNvSpPr/>
          <p:nvPr/>
        </p:nvSpPr>
        <p:spPr>
          <a:xfrm>
            <a:off x="841248" y="3273552"/>
            <a:ext cx="1755648" cy="1143000"/>
          </a:xfrm>
          <a:prstGeom prst="rect">
            <a:avLst/>
          </a:prstGeom>
          <a:noFill/>
          <a:ln/>
        </p:spPr>
        <p:txBody>
          <a:bodyPr wrap="square" lIns="381" tIns="381" rIns="381" bIns="381" rtlCol="0" anchor="ctr"/>
          <a:lstStyle/>
          <a:p>
            <a:pPr marL="0" indent="0" algn="ctr">
              <a:buNone/>
            </a:pPr>
            <a:r>
              <a:rPr lang="en-US" sz="1220" dirty="0">
                <a:solidFill>
                  <a:srgbClr val="1E2A3A"/>
                </a:solidFill>
              </a:rPr>
              <a:t>Cast and normalize once before metrics.</a:t>
            </a:r>
            <a:endParaRPr lang="en-US" sz="1220" dirty="0"/>
          </a:p>
        </p:txBody>
      </p:sp>
      <p:sp>
        <p:nvSpPr>
          <p:cNvPr id="11" name="Shape 9"/>
          <p:cNvSpPr/>
          <p:nvPr/>
        </p:nvSpPr>
        <p:spPr>
          <a:xfrm>
            <a:off x="2980944" y="1627632"/>
            <a:ext cx="2011680" cy="3383280"/>
          </a:xfrm>
          <a:prstGeom prst="roundRect">
            <a:avLst>
              <a:gd name="adj" fmla="val 2273"/>
            </a:avLst>
          </a:prstGeom>
          <a:solidFill>
            <a:srgbClr val="DFF7F3"/>
          </a:solidFill>
          <a:ln w="12700">
            <a:solidFill>
              <a:srgbClr val="D8E1EE"/>
            </a:solidFill>
            <a:prstDash val="solid"/>
          </a:ln>
        </p:spPr>
        <p:txBody>
          <a:bodyPr/>
          <a:lstStyle/>
          <a:p>
            <a:endParaRPr lang="en-US"/>
          </a:p>
        </p:txBody>
      </p:sp>
      <p:sp>
        <p:nvSpPr>
          <p:cNvPr id="12" name="Shape 10"/>
          <p:cNvSpPr/>
          <p:nvPr/>
        </p:nvSpPr>
        <p:spPr>
          <a:xfrm>
            <a:off x="3694176" y="1920240"/>
            <a:ext cx="585216" cy="585216"/>
          </a:xfrm>
          <a:prstGeom prst="ellipse">
            <a:avLst/>
          </a:prstGeom>
          <a:solidFill>
            <a:srgbClr val="FFFFFF"/>
          </a:solidFill>
          <a:ln w="12700">
            <a:solidFill>
              <a:srgbClr val="17B9A6"/>
            </a:solidFill>
            <a:prstDash val="solid"/>
          </a:ln>
        </p:spPr>
        <p:txBody>
          <a:bodyPr/>
          <a:lstStyle/>
          <a:p>
            <a:endParaRPr lang="en-US"/>
          </a:p>
        </p:txBody>
      </p:sp>
      <p:sp>
        <p:nvSpPr>
          <p:cNvPr id="13" name="Text 11"/>
          <p:cNvSpPr/>
          <p:nvPr/>
        </p:nvSpPr>
        <p:spPr>
          <a:xfrm>
            <a:off x="3694176" y="2075688"/>
            <a:ext cx="585216" cy="109728"/>
          </a:xfrm>
          <a:prstGeom prst="rect">
            <a:avLst/>
          </a:prstGeom>
          <a:noFill/>
          <a:ln/>
        </p:spPr>
        <p:txBody>
          <a:bodyPr wrap="square" lIns="0" tIns="0" rIns="0" bIns="0" rtlCol="0" anchor="ctr"/>
          <a:lstStyle/>
          <a:p>
            <a:pPr marL="0" indent="0" algn="ctr">
              <a:buNone/>
            </a:pPr>
            <a:r>
              <a:rPr lang="en-US" sz="1800" b="1" dirty="0">
                <a:solidFill>
                  <a:srgbClr val="17B9A6"/>
                </a:solidFill>
              </a:rPr>
              <a:t>2</a:t>
            </a:r>
            <a:endParaRPr lang="en-US" sz="1800" dirty="0"/>
          </a:p>
        </p:txBody>
      </p:sp>
      <p:sp>
        <p:nvSpPr>
          <p:cNvPr id="14" name="Text 12"/>
          <p:cNvSpPr/>
          <p:nvPr/>
        </p:nvSpPr>
        <p:spPr>
          <a:xfrm>
            <a:off x="3090672" y="2743200"/>
            <a:ext cx="1792224" cy="365760"/>
          </a:xfrm>
          <a:prstGeom prst="rect">
            <a:avLst/>
          </a:prstGeom>
          <a:noFill/>
          <a:ln/>
        </p:spPr>
        <p:txBody>
          <a:bodyPr wrap="square" lIns="0" tIns="0" rIns="0" bIns="0" rtlCol="0" anchor="ctr"/>
          <a:lstStyle/>
          <a:p>
            <a:pPr marL="0" indent="0" algn="ctr">
              <a:buNone/>
            </a:pPr>
            <a:r>
              <a:rPr lang="en-US" sz="1600" b="1" dirty="0">
                <a:solidFill>
                  <a:srgbClr val="13233F"/>
                </a:solidFill>
              </a:rPr>
              <a:t>Metric centralization</a:t>
            </a:r>
            <a:endParaRPr lang="en-US" sz="1600" dirty="0"/>
          </a:p>
        </p:txBody>
      </p:sp>
      <p:sp>
        <p:nvSpPr>
          <p:cNvPr id="15" name="Text 13"/>
          <p:cNvSpPr/>
          <p:nvPr/>
        </p:nvSpPr>
        <p:spPr>
          <a:xfrm>
            <a:off x="3108960" y="3273552"/>
            <a:ext cx="1755648" cy="1143000"/>
          </a:xfrm>
          <a:prstGeom prst="rect">
            <a:avLst/>
          </a:prstGeom>
          <a:noFill/>
          <a:ln/>
        </p:spPr>
        <p:txBody>
          <a:bodyPr wrap="square" lIns="381" tIns="381" rIns="381" bIns="381" rtlCol="0" anchor="ctr"/>
          <a:lstStyle/>
          <a:p>
            <a:pPr marL="0" indent="0" algn="ctr">
              <a:buNone/>
            </a:pPr>
            <a:r>
              <a:rPr lang="en-US" sz="1220" dirty="0">
                <a:solidFill>
                  <a:srgbClr val="1E2A3A"/>
                </a:solidFill>
              </a:rPr>
              <a:t>Put formulas in dbt, not in the prompt.</a:t>
            </a:r>
            <a:endParaRPr lang="en-US" sz="1220" dirty="0"/>
          </a:p>
        </p:txBody>
      </p:sp>
      <p:sp>
        <p:nvSpPr>
          <p:cNvPr id="16" name="Shape 14"/>
          <p:cNvSpPr/>
          <p:nvPr/>
        </p:nvSpPr>
        <p:spPr>
          <a:xfrm>
            <a:off x="5248656" y="1627632"/>
            <a:ext cx="2011680" cy="3383280"/>
          </a:xfrm>
          <a:prstGeom prst="roundRect">
            <a:avLst>
              <a:gd name="adj" fmla="val 2273"/>
            </a:avLst>
          </a:prstGeom>
          <a:solidFill>
            <a:srgbClr val="FFF7E6"/>
          </a:solidFill>
          <a:ln w="12700">
            <a:solidFill>
              <a:srgbClr val="D8E1EE"/>
            </a:solidFill>
            <a:prstDash val="solid"/>
          </a:ln>
        </p:spPr>
        <p:txBody>
          <a:bodyPr/>
          <a:lstStyle/>
          <a:p>
            <a:endParaRPr lang="en-US"/>
          </a:p>
        </p:txBody>
      </p:sp>
      <p:sp>
        <p:nvSpPr>
          <p:cNvPr id="17" name="Shape 15"/>
          <p:cNvSpPr/>
          <p:nvPr/>
        </p:nvSpPr>
        <p:spPr>
          <a:xfrm>
            <a:off x="5961888" y="1920240"/>
            <a:ext cx="585216" cy="585216"/>
          </a:xfrm>
          <a:prstGeom prst="ellipse">
            <a:avLst/>
          </a:prstGeom>
          <a:solidFill>
            <a:srgbClr val="FFFFFF"/>
          </a:solidFill>
          <a:ln w="12700">
            <a:solidFill>
              <a:srgbClr val="F5A623"/>
            </a:solidFill>
            <a:prstDash val="solid"/>
          </a:ln>
        </p:spPr>
        <p:txBody>
          <a:bodyPr/>
          <a:lstStyle/>
          <a:p>
            <a:endParaRPr lang="en-US"/>
          </a:p>
        </p:txBody>
      </p:sp>
      <p:sp>
        <p:nvSpPr>
          <p:cNvPr id="18" name="Text 16"/>
          <p:cNvSpPr/>
          <p:nvPr/>
        </p:nvSpPr>
        <p:spPr>
          <a:xfrm>
            <a:off x="5961888" y="2075688"/>
            <a:ext cx="585216" cy="109728"/>
          </a:xfrm>
          <a:prstGeom prst="rect">
            <a:avLst/>
          </a:prstGeom>
          <a:noFill/>
          <a:ln/>
        </p:spPr>
        <p:txBody>
          <a:bodyPr wrap="square" lIns="0" tIns="0" rIns="0" bIns="0" rtlCol="0" anchor="ctr"/>
          <a:lstStyle/>
          <a:p>
            <a:pPr marL="0" indent="0" algn="ctr">
              <a:buNone/>
            </a:pPr>
            <a:r>
              <a:rPr lang="en-US" sz="1800" b="1" dirty="0">
                <a:solidFill>
                  <a:srgbClr val="F5A623"/>
                </a:solidFill>
              </a:rPr>
              <a:t>3</a:t>
            </a:r>
            <a:endParaRPr lang="en-US" sz="1800" dirty="0"/>
          </a:p>
        </p:txBody>
      </p:sp>
      <p:sp>
        <p:nvSpPr>
          <p:cNvPr id="19" name="Text 17"/>
          <p:cNvSpPr/>
          <p:nvPr/>
        </p:nvSpPr>
        <p:spPr>
          <a:xfrm>
            <a:off x="5358384" y="2743200"/>
            <a:ext cx="1792224" cy="365760"/>
          </a:xfrm>
          <a:prstGeom prst="rect">
            <a:avLst/>
          </a:prstGeom>
          <a:noFill/>
          <a:ln/>
        </p:spPr>
        <p:txBody>
          <a:bodyPr wrap="square" lIns="0" tIns="0" rIns="0" bIns="0" rtlCol="0" anchor="ctr"/>
          <a:lstStyle/>
          <a:p>
            <a:pPr marL="0" indent="0" algn="ctr">
              <a:buNone/>
            </a:pPr>
            <a:r>
              <a:rPr lang="en-US" sz="1600" b="1" dirty="0">
                <a:solidFill>
                  <a:srgbClr val="13233F"/>
                </a:solidFill>
              </a:rPr>
              <a:t>Source lineage</a:t>
            </a:r>
            <a:endParaRPr lang="en-US" sz="1600" dirty="0"/>
          </a:p>
        </p:txBody>
      </p:sp>
      <p:sp>
        <p:nvSpPr>
          <p:cNvPr id="20" name="Text 18"/>
          <p:cNvSpPr/>
          <p:nvPr/>
        </p:nvSpPr>
        <p:spPr>
          <a:xfrm>
            <a:off x="5376672" y="3273552"/>
            <a:ext cx="1755648" cy="1143000"/>
          </a:xfrm>
          <a:prstGeom prst="rect">
            <a:avLst/>
          </a:prstGeom>
          <a:noFill/>
          <a:ln/>
        </p:spPr>
        <p:txBody>
          <a:bodyPr wrap="square" lIns="381" tIns="381" rIns="381" bIns="381" rtlCol="0" anchor="ctr"/>
          <a:lstStyle/>
          <a:p>
            <a:pPr marL="0" indent="0" algn="ctr">
              <a:buNone/>
            </a:pPr>
            <a:r>
              <a:rPr lang="en-US" sz="1220" dirty="0">
                <a:solidFill>
                  <a:srgbClr val="1E2A3A"/>
                </a:solidFill>
              </a:rPr>
              <a:t>Every answer maps to a relation and model.</a:t>
            </a:r>
            <a:endParaRPr lang="en-US" sz="1220" dirty="0"/>
          </a:p>
        </p:txBody>
      </p:sp>
      <p:sp>
        <p:nvSpPr>
          <p:cNvPr id="21" name="Shape 19"/>
          <p:cNvSpPr/>
          <p:nvPr/>
        </p:nvSpPr>
        <p:spPr>
          <a:xfrm>
            <a:off x="7516368" y="1627632"/>
            <a:ext cx="2011680" cy="3383280"/>
          </a:xfrm>
          <a:prstGeom prst="roundRect">
            <a:avLst>
              <a:gd name="adj" fmla="val 2273"/>
            </a:avLst>
          </a:prstGeom>
          <a:solidFill>
            <a:srgbClr val="FCEEEF"/>
          </a:solidFill>
          <a:ln w="12700">
            <a:solidFill>
              <a:srgbClr val="D8E1EE"/>
            </a:solidFill>
            <a:prstDash val="solid"/>
          </a:ln>
        </p:spPr>
        <p:txBody>
          <a:bodyPr/>
          <a:lstStyle/>
          <a:p>
            <a:endParaRPr lang="en-US"/>
          </a:p>
        </p:txBody>
      </p:sp>
      <p:sp>
        <p:nvSpPr>
          <p:cNvPr id="22" name="Shape 20"/>
          <p:cNvSpPr/>
          <p:nvPr/>
        </p:nvSpPr>
        <p:spPr>
          <a:xfrm>
            <a:off x="8229600" y="1920240"/>
            <a:ext cx="585216" cy="585216"/>
          </a:xfrm>
          <a:prstGeom prst="ellipse">
            <a:avLst/>
          </a:prstGeom>
          <a:solidFill>
            <a:srgbClr val="FFFFFF"/>
          </a:solidFill>
          <a:ln w="12700">
            <a:solidFill>
              <a:srgbClr val="E95D5D"/>
            </a:solidFill>
            <a:prstDash val="solid"/>
          </a:ln>
        </p:spPr>
        <p:txBody>
          <a:bodyPr/>
          <a:lstStyle/>
          <a:p>
            <a:endParaRPr lang="en-US"/>
          </a:p>
        </p:txBody>
      </p:sp>
      <p:sp>
        <p:nvSpPr>
          <p:cNvPr id="23" name="Text 21"/>
          <p:cNvSpPr/>
          <p:nvPr/>
        </p:nvSpPr>
        <p:spPr>
          <a:xfrm>
            <a:off x="8229600" y="2075688"/>
            <a:ext cx="585216" cy="109728"/>
          </a:xfrm>
          <a:prstGeom prst="rect">
            <a:avLst/>
          </a:prstGeom>
          <a:noFill/>
          <a:ln/>
        </p:spPr>
        <p:txBody>
          <a:bodyPr wrap="square" lIns="0" tIns="0" rIns="0" bIns="0" rtlCol="0" anchor="ctr"/>
          <a:lstStyle/>
          <a:p>
            <a:pPr marL="0" indent="0" algn="ctr">
              <a:buNone/>
            </a:pPr>
            <a:r>
              <a:rPr lang="en-US" sz="1800" b="1" dirty="0">
                <a:solidFill>
                  <a:srgbClr val="E95D5D"/>
                </a:solidFill>
              </a:rPr>
              <a:t>4</a:t>
            </a:r>
            <a:endParaRPr lang="en-US" sz="1800" dirty="0"/>
          </a:p>
        </p:txBody>
      </p:sp>
      <p:sp>
        <p:nvSpPr>
          <p:cNvPr id="24" name="Text 22"/>
          <p:cNvSpPr/>
          <p:nvPr/>
        </p:nvSpPr>
        <p:spPr>
          <a:xfrm>
            <a:off x="7626096" y="2743200"/>
            <a:ext cx="1792224" cy="365760"/>
          </a:xfrm>
          <a:prstGeom prst="rect">
            <a:avLst/>
          </a:prstGeom>
          <a:noFill/>
          <a:ln/>
        </p:spPr>
        <p:txBody>
          <a:bodyPr wrap="square" lIns="0" tIns="0" rIns="0" bIns="0" rtlCol="0" anchor="ctr"/>
          <a:lstStyle/>
          <a:p>
            <a:pPr marL="0" indent="0" algn="ctr">
              <a:buNone/>
            </a:pPr>
            <a:r>
              <a:rPr lang="en-US" sz="1600" b="1" dirty="0">
                <a:solidFill>
                  <a:srgbClr val="13233F"/>
                </a:solidFill>
              </a:rPr>
              <a:t>Threshold rules</a:t>
            </a:r>
            <a:endParaRPr lang="en-US" sz="1600" dirty="0"/>
          </a:p>
        </p:txBody>
      </p:sp>
      <p:sp>
        <p:nvSpPr>
          <p:cNvPr id="25" name="Text 23"/>
          <p:cNvSpPr/>
          <p:nvPr/>
        </p:nvSpPr>
        <p:spPr>
          <a:xfrm>
            <a:off x="7644384" y="3273552"/>
            <a:ext cx="1755648" cy="1143000"/>
          </a:xfrm>
          <a:prstGeom prst="rect">
            <a:avLst/>
          </a:prstGeom>
          <a:noFill/>
          <a:ln/>
        </p:spPr>
        <p:txBody>
          <a:bodyPr wrap="square" lIns="381" tIns="381" rIns="381" bIns="381" rtlCol="0" anchor="ctr"/>
          <a:lstStyle/>
          <a:p>
            <a:pPr marL="0" indent="0" algn="ctr">
              <a:buNone/>
            </a:pPr>
            <a:r>
              <a:rPr lang="en-US" sz="1220" dirty="0">
                <a:solidFill>
                  <a:srgbClr val="1E2A3A"/>
                </a:solidFill>
              </a:rPr>
              <a:t>Encode breach logic explicitly in metrics.</a:t>
            </a:r>
            <a:endParaRPr lang="en-US" sz="1220" dirty="0"/>
          </a:p>
        </p:txBody>
      </p:sp>
      <p:sp>
        <p:nvSpPr>
          <p:cNvPr id="26" name="Shape 24"/>
          <p:cNvSpPr/>
          <p:nvPr/>
        </p:nvSpPr>
        <p:spPr>
          <a:xfrm>
            <a:off x="9784080" y="1627632"/>
            <a:ext cx="2011680" cy="3383280"/>
          </a:xfrm>
          <a:prstGeom prst="roundRect">
            <a:avLst>
              <a:gd name="adj" fmla="val 2273"/>
            </a:avLst>
          </a:prstGeom>
          <a:solidFill>
            <a:srgbClr val="EEF6FF"/>
          </a:solidFill>
          <a:ln w="12700">
            <a:solidFill>
              <a:srgbClr val="D8E1EE"/>
            </a:solidFill>
            <a:prstDash val="solid"/>
          </a:ln>
        </p:spPr>
        <p:txBody>
          <a:bodyPr/>
          <a:lstStyle/>
          <a:p>
            <a:endParaRPr lang="en-US"/>
          </a:p>
        </p:txBody>
      </p:sp>
      <p:sp>
        <p:nvSpPr>
          <p:cNvPr id="27" name="Shape 25"/>
          <p:cNvSpPr/>
          <p:nvPr/>
        </p:nvSpPr>
        <p:spPr>
          <a:xfrm>
            <a:off x="10497312" y="1920240"/>
            <a:ext cx="585216" cy="585216"/>
          </a:xfrm>
          <a:prstGeom prst="ellipse">
            <a:avLst/>
          </a:prstGeom>
          <a:solidFill>
            <a:srgbClr val="FFFFFF"/>
          </a:solidFill>
          <a:ln w="12700">
            <a:solidFill>
              <a:srgbClr val="2F6BFF"/>
            </a:solidFill>
            <a:prstDash val="solid"/>
          </a:ln>
        </p:spPr>
        <p:txBody>
          <a:bodyPr/>
          <a:lstStyle/>
          <a:p>
            <a:endParaRPr lang="en-US"/>
          </a:p>
        </p:txBody>
      </p:sp>
      <p:sp>
        <p:nvSpPr>
          <p:cNvPr id="28" name="Text 26"/>
          <p:cNvSpPr/>
          <p:nvPr/>
        </p:nvSpPr>
        <p:spPr>
          <a:xfrm>
            <a:off x="10497312" y="2075688"/>
            <a:ext cx="585216" cy="109728"/>
          </a:xfrm>
          <a:prstGeom prst="rect">
            <a:avLst/>
          </a:prstGeom>
          <a:noFill/>
          <a:ln/>
        </p:spPr>
        <p:txBody>
          <a:bodyPr wrap="square" lIns="0" tIns="0" rIns="0" bIns="0" rtlCol="0" anchor="ctr"/>
          <a:lstStyle/>
          <a:p>
            <a:pPr marL="0" indent="0" algn="ctr">
              <a:buNone/>
            </a:pPr>
            <a:r>
              <a:rPr lang="en-US" sz="1800" b="1" dirty="0">
                <a:solidFill>
                  <a:srgbClr val="2F6BFF"/>
                </a:solidFill>
              </a:rPr>
              <a:t>5</a:t>
            </a:r>
            <a:endParaRPr lang="en-US" sz="1800" dirty="0"/>
          </a:p>
        </p:txBody>
      </p:sp>
      <p:sp>
        <p:nvSpPr>
          <p:cNvPr id="29" name="Text 27"/>
          <p:cNvSpPr/>
          <p:nvPr/>
        </p:nvSpPr>
        <p:spPr>
          <a:xfrm>
            <a:off x="9893808" y="2743200"/>
            <a:ext cx="1792224" cy="365760"/>
          </a:xfrm>
          <a:prstGeom prst="rect">
            <a:avLst/>
          </a:prstGeom>
          <a:noFill/>
          <a:ln/>
        </p:spPr>
        <p:txBody>
          <a:bodyPr wrap="square" lIns="0" tIns="0" rIns="0" bIns="0" rtlCol="0" anchor="ctr"/>
          <a:lstStyle/>
          <a:p>
            <a:pPr marL="0" indent="0" algn="ctr">
              <a:buNone/>
            </a:pPr>
            <a:r>
              <a:rPr lang="en-US" sz="1600" b="1" dirty="0">
                <a:solidFill>
                  <a:srgbClr val="13233F"/>
                </a:solidFill>
              </a:rPr>
              <a:t>Prompt restraint</a:t>
            </a:r>
            <a:endParaRPr lang="en-US" sz="1600" dirty="0"/>
          </a:p>
        </p:txBody>
      </p:sp>
      <p:sp>
        <p:nvSpPr>
          <p:cNvPr id="30" name="Text 28"/>
          <p:cNvSpPr/>
          <p:nvPr/>
        </p:nvSpPr>
        <p:spPr>
          <a:xfrm>
            <a:off x="9912096" y="3273552"/>
            <a:ext cx="1755648" cy="1143000"/>
          </a:xfrm>
          <a:prstGeom prst="rect">
            <a:avLst/>
          </a:prstGeom>
          <a:noFill/>
          <a:ln/>
        </p:spPr>
        <p:txBody>
          <a:bodyPr wrap="square" lIns="381" tIns="381" rIns="381" bIns="381" rtlCol="0" anchor="ctr"/>
          <a:lstStyle/>
          <a:p>
            <a:pPr marL="0" indent="0" algn="ctr">
              <a:buNone/>
            </a:pPr>
            <a:r>
              <a:rPr lang="en-US" sz="1220" dirty="0">
                <a:solidFill>
                  <a:srgbClr val="1E2A3A"/>
                </a:solidFill>
              </a:rPr>
              <a:t>Gemini selects terms; system performs math.</a:t>
            </a:r>
            <a:endParaRPr lang="en-US" sz="1220" dirty="0"/>
          </a:p>
        </p:txBody>
      </p:sp>
      <p:sp>
        <p:nvSpPr>
          <p:cNvPr id="31" name="Shape 29"/>
          <p:cNvSpPr/>
          <p:nvPr/>
        </p:nvSpPr>
        <p:spPr>
          <a:xfrm>
            <a:off x="2788920" y="5486400"/>
            <a:ext cx="6583680" cy="329184"/>
          </a:xfrm>
          <a:prstGeom prst="roundRect">
            <a:avLst>
              <a:gd name="adj" fmla="val 22222"/>
            </a:avLst>
          </a:prstGeom>
          <a:solidFill>
            <a:srgbClr val="EAF6FF"/>
          </a:solidFill>
          <a:ln w="12700">
            <a:solidFill>
              <a:srgbClr val="EAF6FF">
                <a:alpha val="0"/>
              </a:srgbClr>
            </a:solidFill>
            <a:prstDash val="solid"/>
          </a:ln>
        </p:spPr>
        <p:txBody>
          <a:bodyPr/>
          <a:lstStyle/>
          <a:p>
            <a:endParaRPr lang="en-US"/>
          </a:p>
        </p:txBody>
      </p:sp>
      <p:sp>
        <p:nvSpPr>
          <p:cNvPr id="32" name="Text 30"/>
          <p:cNvSpPr/>
          <p:nvPr/>
        </p:nvSpPr>
        <p:spPr>
          <a:xfrm>
            <a:off x="2862072" y="5559552"/>
            <a:ext cx="6437376" cy="146304"/>
          </a:xfrm>
          <a:prstGeom prst="rect">
            <a:avLst/>
          </a:prstGeom>
          <a:noFill/>
          <a:ln/>
        </p:spPr>
        <p:txBody>
          <a:bodyPr wrap="square" lIns="0" tIns="0" rIns="0" bIns="0" rtlCol="0" anchor="ctr"/>
          <a:lstStyle/>
          <a:p>
            <a:pPr marL="0" indent="0" algn="ctr">
              <a:buNone/>
            </a:pPr>
            <a:r>
              <a:rPr lang="en-US" sz="1100" b="1" dirty="0">
                <a:solidFill>
                  <a:srgbClr val="2F6BFF"/>
                </a:solidFill>
              </a:rPr>
              <a:t>Outcome: deterministic calculations with explainable AI narration</a:t>
            </a:r>
            <a:endParaRPr lang="en-US" sz="1100" dirty="0"/>
          </a:p>
        </p:txBody>
      </p:sp>
      <p:sp>
        <p:nvSpPr>
          <p:cNvPr id="33" name="Text 31"/>
          <p:cNvSpPr/>
          <p:nvPr/>
        </p:nvSpPr>
        <p:spPr>
          <a:xfrm>
            <a:off x="566928" y="6437376"/>
            <a:ext cx="9875520" cy="164592"/>
          </a:xfrm>
          <a:prstGeom prst="rect">
            <a:avLst/>
          </a:prstGeom>
          <a:noFill/>
          <a:ln/>
        </p:spPr>
        <p:txBody>
          <a:bodyPr wrap="square" lIns="0" tIns="0" rIns="0" bIns="0" rtlCol="0" anchor="ctr"/>
          <a:lstStyle/>
          <a:p>
            <a:pPr marL="0" indent="0">
              <a:buNone/>
            </a:pPr>
            <a:r>
              <a:rPr lang="en-US" sz="950" dirty="0">
                <a:solidFill>
                  <a:srgbClr val="6C7A89"/>
                </a:solidFill>
              </a:rPr>
              <a:t>Revised approach: JSON + DuckDB or direct SQL source</a:t>
            </a:r>
            <a:endParaRPr lang="en-US" sz="950" dirty="0"/>
          </a:p>
        </p:txBody>
      </p:sp>
      <p:sp>
        <p:nvSpPr>
          <p:cNvPr id="34" name="Text 32"/>
          <p:cNvSpPr/>
          <p:nvPr/>
        </p:nvSpPr>
        <p:spPr>
          <a:xfrm>
            <a:off x="11155680" y="6409944"/>
            <a:ext cx="411480" cy="182880"/>
          </a:xfrm>
          <a:prstGeom prst="rect">
            <a:avLst/>
          </a:prstGeom>
          <a:noFill/>
          <a:ln/>
        </p:spPr>
        <p:txBody>
          <a:bodyPr wrap="square" lIns="0" tIns="0" rIns="0" bIns="0" rtlCol="0" anchor="ctr"/>
          <a:lstStyle/>
          <a:p>
            <a:pPr marL="0" indent="0" algn="r">
              <a:buNone/>
            </a:pPr>
            <a:r>
              <a:rPr lang="en-US" sz="1000" b="1" dirty="0">
                <a:solidFill>
                  <a:srgbClr val="6C7A89"/>
                </a:solidFill>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3233F"/>
          </a:solidFill>
          <a:ln w="12700">
            <a:solidFill>
              <a:srgbClr val="13233F">
                <a:alpha val="0"/>
              </a:srgbClr>
            </a:solidFill>
            <a:prstDash val="solid"/>
          </a:ln>
        </p:spPr>
        <p:txBody>
          <a:bodyPr/>
          <a:lstStyle/>
          <a:p>
            <a:endParaRPr lang="en-US"/>
          </a:p>
        </p:txBody>
      </p:sp>
      <p:sp>
        <p:nvSpPr>
          <p:cNvPr id="3" name="Text 1"/>
          <p:cNvSpPr/>
          <p:nvPr/>
        </p:nvSpPr>
        <p:spPr>
          <a:xfrm>
            <a:off x="566928" y="164592"/>
            <a:ext cx="8046720" cy="237744"/>
          </a:xfrm>
          <a:prstGeom prst="rect">
            <a:avLst/>
          </a:prstGeom>
          <a:noFill/>
          <a:ln/>
        </p:spPr>
        <p:txBody>
          <a:bodyPr wrap="square" lIns="0" tIns="0" rIns="0" bIns="0" rtlCol="0" anchor="ctr"/>
          <a:lstStyle/>
          <a:p>
            <a:pPr marL="0" indent="0">
              <a:buNone/>
            </a:pPr>
            <a:r>
              <a:rPr lang="en-US" sz="2600" b="1" dirty="0">
                <a:solidFill>
                  <a:srgbClr val="FFFFFF"/>
                </a:solidFill>
                <a:latin typeface="Aptos Display" pitchFamily="34" charset="0"/>
                <a:ea typeface="Aptos Display" pitchFamily="34" charset="-122"/>
                <a:cs typeface="Aptos Display" pitchFamily="34" charset="-120"/>
              </a:rPr>
              <a:t>Phase 1 deliverables and next steps</a:t>
            </a:r>
            <a:endParaRPr lang="en-US" sz="2600" dirty="0"/>
          </a:p>
        </p:txBody>
      </p:sp>
      <p:sp>
        <p:nvSpPr>
          <p:cNvPr id="4" name="Text 2"/>
          <p:cNvSpPr/>
          <p:nvPr/>
        </p:nvSpPr>
        <p:spPr>
          <a:xfrm>
            <a:off x="9281160" y="164592"/>
            <a:ext cx="2240280" cy="219456"/>
          </a:xfrm>
          <a:prstGeom prst="rect">
            <a:avLst/>
          </a:prstGeom>
          <a:noFill/>
          <a:ln/>
        </p:spPr>
        <p:txBody>
          <a:bodyPr wrap="square" lIns="0" tIns="0" rIns="0" bIns="0" rtlCol="0" anchor="ctr"/>
          <a:lstStyle/>
          <a:p>
            <a:pPr marL="0" indent="0" algn="r">
              <a:buNone/>
            </a:pPr>
            <a:r>
              <a:rPr lang="en-US" sz="1050" dirty="0">
                <a:solidFill>
                  <a:srgbClr val="D7E2FF"/>
                </a:solidFill>
                <a:latin typeface="Aptos" pitchFamily="34" charset="0"/>
                <a:ea typeface="Aptos" pitchFamily="34" charset="-122"/>
                <a:cs typeface="Aptos" pitchFamily="34" charset="-120"/>
              </a:rPr>
              <a:t>Semantic GenAI for BI · Phase 1 revised close</a:t>
            </a:r>
            <a:endParaRPr lang="en-US" sz="1050" dirty="0"/>
          </a:p>
        </p:txBody>
      </p:sp>
      <p:sp>
        <p:nvSpPr>
          <p:cNvPr id="5" name="Shape 3"/>
          <p:cNvSpPr/>
          <p:nvPr/>
        </p:nvSpPr>
        <p:spPr>
          <a:xfrm>
            <a:off x="566928" y="6382512"/>
            <a:ext cx="11064240" cy="0"/>
          </a:xfrm>
          <a:prstGeom prst="line">
            <a:avLst/>
          </a:prstGeom>
          <a:noFill/>
          <a:ln w="12700">
            <a:solidFill>
              <a:srgbClr val="D8E1EE"/>
            </a:solidFill>
            <a:prstDash val="solid"/>
          </a:ln>
        </p:spPr>
        <p:txBody>
          <a:bodyPr/>
          <a:lstStyle/>
          <a:p>
            <a:endParaRPr lang="en-US"/>
          </a:p>
        </p:txBody>
      </p:sp>
      <p:sp>
        <p:nvSpPr>
          <p:cNvPr id="6" name="Shape 4"/>
          <p:cNvSpPr/>
          <p:nvPr/>
        </p:nvSpPr>
        <p:spPr>
          <a:xfrm>
            <a:off x="777240" y="1115568"/>
            <a:ext cx="3429000" cy="4343400"/>
          </a:xfrm>
          <a:prstGeom prst="roundRect">
            <a:avLst>
              <a:gd name="adj" fmla="val 1600"/>
            </a:avLst>
          </a:prstGeom>
          <a:solidFill>
            <a:srgbClr val="FBFDFF"/>
          </a:solidFill>
          <a:ln w="12700">
            <a:solidFill>
              <a:srgbClr val="D8E1EE"/>
            </a:solidFill>
            <a:prstDash val="solid"/>
          </a:ln>
        </p:spPr>
        <p:txBody>
          <a:bodyPr/>
          <a:lstStyle/>
          <a:p>
            <a:endParaRPr lang="en-US"/>
          </a:p>
        </p:txBody>
      </p:sp>
      <p:sp>
        <p:nvSpPr>
          <p:cNvPr id="7" name="Shape 5"/>
          <p:cNvSpPr/>
          <p:nvPr/>
        </p:nvSpPr>
        <p:spPr>
          <a:xfrm>
            <a:off x="777240" y="1115568"/>
            <a:ext cx="109728" cy="4343400"/>
          </a:xfrm>
          <a:prstGeom prst="rect">
            <a:avLst/>
          </a:prstGeom>
          <a:solidFill>
            <a:srgbClr val="2F6BFF"/>
          </a:solidFill>
          <a:ln w="12700">
            <a:solidFill>
              <a:srgbClr val="2F6BFF">
                <a:alpha val="0"/>
              </a:srgbClr>
            </a:solidFill>
            <a:prstDash val="solid"/>
          </a:ln>
        </p:spPr>
        <p:txBody>
          <a:bodyPr/>
          <a:lstStyle/>
          <a:p>
            <a:endParaRPr lang="en-US"/>
          </a:p>
        </p:txBody>
      </p:sp>
      <p:sp>
        <p:nvSpPr>
          <p:cNvPr id="8" name="Text 6"/>
          <p:cNvSpPr/>
          <p:nvPr/>
        </p:nvSpPr>
        <p:spPr>
          <a:xfrm>
            <a:off x="978408" y="1280160"/>
            <a:ext cx="3108960" cy="219456"/>
          </a:xfrm>
          <a:prstGeom prst="rect">
            <a:avLst/>
          </a:prstGeom>
          <a:noFill/>
          <a:ln/>
        </p:spPr>
        <p:txBody>
          <a:bodyPr wrap="square" lIns="0" tIns="0" rIns="0" bIns="0" rtlCol="0" anchor="ctr"/>
          <a:lstStyle/>
          <a:p>
            <a:pPr marL="0" indent="0">
              <a:buNone/>
            </a:pPr>
            <a:r>
              <a:rPr lang="en-US" sz="1900" b="1" dirty="0">
                <a:solidFill>
                  <a:srgbClr val="13233F"/>
                </a:solidFill>
              </a:rPr>
              <a:t>Technical deliverables</a:t>
            </a:r>
            <a:endParaRPr lang="en-US" sz="1900" dirty="0"/>
          </a:p>
        </p:txBody>
      </p:sp>
      <p:sp>
        <p:nvSpPr>
          <p:cNvPr id="9" name="Text 7"/>
          <p:cNvSpPr/>
          <p:nvPr/>
        </p:nvSpPr>
        <p:spPr>
          <a:xfrm>
            <a:off x="978408" y="1600200"/>
            <a:ext cx="3081528" cy="3776472"/>
          </a:xfrm>
          <a:prstGeom prst="rect">
            <a:avLst/>
          </a:prstGeom>
          <a:noFill/>
          <a:ln/>
        </p:spPr>
        <p:txBody>
          <a:bodyPr wrap="square" lIns="0" tIns="0" rIns="0" bIns="0" rtlCol="0" anchor="t"/>
          <a:lstStyle/>
          <a:p>
            <a:pPr marL="0" indent="0">
              <a:buNone/>
            </a:pPr>
            <a:r>
              <a:rPr lang="en-US" sz="1450" dirty="0">
                <a:solidFill>
                  <a:srgbClr val="1E2A3A"/>
                </a:solidFill>
              </a:rPr>
              <a:t>• sources.yml for JSON and/or direct SQL source registration</a:t>
            </a:r>
            <a:endParaRPr lang="en-US" sz="1450" dirty="0"/>
          </a:p>
          <a:p>
            <a:pPr marL="0" indent="0">
              <a:buNone/>
            </a:pPr>
            <a:r>
              <a:rPr lang="en-US" sz="1450" dirty="0">
                <a:solidFill>
                  <a:srgbClr val="1E2A3A"/>
                </a:solidFill>
              </a:rPr>
              <a:t>• stg_margin_calls.sql with casting, aliasing, status mapping, and net_val creation</a:t>
            </a:r>
            <a:endParaRPr lang="en-US" sz="1450" dirty="0"/>
          </a:p>
          <a:p>
            <a:pPr marL="0" indent="0">
              <a:buNone/>
            </a:pPr>
            <a:r>
              <a:rPr lang="en-US" sz="1450" dirty="0">
                <a:solidFill>
                  <a:srgbClr val="1E2A3A"/>
                </a:solidFill>
              </a:rPr>
              <a:t>• semantic_models.yml with entities, dimensions, and KPI metrics</a:t>
            </a:r>
            <a:endParaRPr lang="en-US" sz="1450" dirty="0"/>
          </a:p>
          <a:p>
            <a:pPr marL="0" indent="0">
              <a:buNone/>
            </a:pPr>
            <a:r>
              <a:rPr lang="en-US" sz="1450" dirty="0">
                <a:solidFill>
                  <a:srgbClr val="1E2A3A"/>
                </a:solidFill>
              </a:rPr>
              <a:t>• sample validation queries and illustrative output views</a:t>
            </a:r>
            <a:endParaRPr lang="en-US" sz="1450" dirty="0"/>
          </a:p>
        </p:txBody>
      </p:sp>
      <p:sp>
        <p:nvSpPr>
          <p:cNvPr id="10" name="Shape 8"/>
          <p:cNvSpPr/>
          <p:nvPr/>
        </p:nvSpPr>
        <p:spPr>
          <a:xfrm>
            <a:off x="4407408" y="1115568"/>
            <a:ext cx="3429000" cy="4343400"/>
          </a:xfrm>
          <a:prstGeom prst="roundRect">
            <a:avLst>
              <a:gd name="adj" fmla="val 1600"/>
            </a:avLst>
          </a:prstGeom>
          <a:solidFill>
            <a:srgbClr val="FBFFFD"/>
          </a:solidFill>
          <a:ln w="12700">
            <a:solidFill>
              <a:srgbClr val="D8E1EE"/>
            </a:solidFill>
            <a:prstDash val="solid"/>
          </a:ln>
        </p:spPr>
        <p:txBody>
          <a:bodyPr/>
          <a:lstStyle/>
          <a:p>
            <a:endParaRPr lang="en-US"/>
          </a:p>
        </p:txBody>
      </p:sp>
      <p:sp>
        <p:nvSpPr>
          <p:cNvPr id="11" name="Shape 9"/>
          <p:cNvSpPr/>
          <p:nvPr/>
        </p:nvSpPr>
        <p:spPr>
          <a:xfrm>
            <a:off x="4407408" y="1115568"/>
            <a:ext cx="109728" cy="4343400"/>
          </a:xfrm>
          <a:prstGeom prst="rect">
            <a:avLst/>
          </a:prstGeom>
          <a:solidFill>
            <a:srgbClr val="17B9A6"/>
          </a:solidFill>
          <a:ln w="12700">
            <a:solidFill>
              <a:srgbClr val="17B9A6">
                <a:alpha val="0"/>
              </a:srgbClr>
            </a:solidFill>
            <a:prstDash val="solid"/>
          </a:ln>
        </p:spPr>
        <p:txBody>
          <a:bodyPr/>
          <a:lstStyle/>
          <a:p>
            <a:endParaRPr lang="en-US"/>
          </a:p>
        </p:txBody>
      </p:sp>
      <p:sp>
        <p:nvSpPr>
          <p:cNvPr id="12" name="Text 10"/>
          <p:cNvSpPr/>
          <p:nvPr/>
        </p:nvSpPr>
        <p:spPr>
          <a:xfrm>
            <a:off x="4608576" y="1280160"/>
            <a:ext cx="3108960" cy="219456"/>
          </a:xfrm>
          <a:prstGeom prst="rect">
            <a:avLst/>
          </a:prstGeom>
          <a:noFill/>
          <a:ln/>
        </p:spPr>
        <p:txBody>
          <a:bodyPr wrap="square" lIns="0" tIns="0" rIns="0" bIns="0" rtlCol="0" anchor="ctr"/>
          <a:lstStyle/>
          <a:p>
            <a:pPr marL="0" indent="0">
              <a:buNone/>
            </a:pPr>
            <a:r>
              <a:rPr lang="en-US" sz="1900" b="1" dirty="0">
                <a:solidFill>
                  <a:srgbClr val="13233F"/>
                </a:solidFill>
              </a:rPr>
              <a:t>Decisions to lock now</a:t>
            </a:r>
            <a:endParaRPr lang="en-US" sz="1900" dirty="0"/>
          </a:p>
        </p:txBody>
      </p:sp>
      <p:sp>
        <p:nvSpPr>
          <p:cNvPr id="13" name="Text 11"/>
          <p:cNvSpPr/>
          <p:nvPr/>
        </p:nvSpPr>
        <p:spPr>
          <a:xfrm>
            <a:off x="4608576" y="1600200"/>
            <a:ext cx="3081528" cy="3776472"/>
          </a:xfrm>
          <a:prstGeom prst="rect">
            <a:avLst/>
          </a:prstGeom>
          <a:noFill/>
          <a:ln/>
        </p:spPr>
        <p:txBody>
          <a:bodyPr wrap="square" lIns="0" tIns="0" rIns="0" bIns="0" rtlCol="0" anchor="t"/>
          <a:lstStyle/>
          <a:p>
            <a:pPr marL="0" indent="0">
              <a:buNone/>
            </a:pPr>
            <a:r>
              <a:rPr lang="en-US" sz="1450" dirty="0">
                <a:solidFill>
                  <a:srgbClr val="1E2A3A"/>
                </a:solidFill>
              </a:rPr>
              <a:t>• Will the first source be JSON files or a consolidated SQL relation?</a:t>
            </a:r>
            <a:endParaRPr lang="en-US" sz="1450" dirty="0"/>
          </a:p>
          <a:p>
            <a:pPr marL="0" indent="0">
              <a:buNone/>
            </a:pPr>
            <a:r>
              <a:rPr lang="en-US" sz="1450" dirty="0">
                <a:solidFill>
                  <a:srgbClr val="1E2A3A"/>
                </a:solidFill>
              </a:rPr>
              <a:t>• What are the first 3 production KPIs beyond net exposure and high-risk breaches?</a:t>
            </a:r>
            <a:endParaRPr lang="en-US" sz="1450" dirty="0"/>
          </a:p>
          <a:p>
            <a:pPr marL="0" indent="0">
              <a:buNone/>
            </a:pPr>
            <a:r>
              <a:rPr lang="en-US" sz="1450" dirty="0">
                <a:solidFill>
                  <a:srgbClr val="1E2A3A"/>
                </a:solidFill>
              </a:rPr>
              <a:t>• Which team owns the curated source and dbt tests?</a:t>
            </a:r>
            <a:endParaRPr lang="en-US" sz="1450" dirty="0"/>
          </a:p>
        </p:txBody>
      </p:sp>
      <p:sp>
        <p:nvSpPr>
          <p:cNvPr id="14" name="Shape 12"/>
          <p:cNvSpPr/>
          <p:nvPr/>
        </p:nvSpPr>
        <p:spPr>
          <a:xfrm>
            <a:off x="8046720" y="1115568"/>
            <a:ext cx="3383280" cy="4343400"/>
          </a:xfrm>
          <a:prstGeom prst="roundRect">
            <a:avLst>
              <a:gd name="adj" fmla="val 1622"/>
            </a:avLst>
          </a:prstGeom>
          <a:solidFill>
            <a:srgbClr val="FFFDF7"/>
          </a:solidFill>
          <a:ln w="12700">
            <a:solidFill>
              <a:srgbClr val="D8E1EE"/>
            </a:solidFill>
            <a:prstDash val="solid"/>
          </a:ln>
        </p:spPr>
        <p:txBody>
          <a:bodyPr/>
          <a:lstStyle/>
          <a:p>
            <a:endParaRPr lang="en-US"/>
          </a:p>
        </p:txBody>
      </p:sp>
      <p:sp>
        <p:nvSpPr>
          <p:cNvPr id="15" name="Shape 13"/>
          <p:cNvSpPr/>
          <p:nvPr/>
        </p:nvSpPr>
        <p:spPr>
          <a:xfrm>
            <a:off x="8046720" y="1115568"/>
            <a:ext cx="109728" cy="4343400"/>
          </a:xfrm>
          <a:prstGeom prst="rect">
            <a:avLst/>
          </a:prstGeom>
          <a:solidFill>
            <a:srgbClr val="F5A623"/>
          </a:solidFill>
          <a:ln w="12700">
            <a:solidFill>
              <a:srgbClr val="F5A623">
                <a:alpha val="0"/>
              </a:srgbClr>
            </a:solidFill>
            <a:prstDash val="solid"/>
          </a:ln>
        </p:spPr>
        <p:txBody>
          <a:bodyPr/>
          <a:lstStyle/>
          <a:p>
            <a:endParaRPr lang="en-US"/>
          </a:p>
        </p:txBody>
      </p:sp>
      <p:sp>
        <p:nvSpPr>
          <p:cNvPr id="16" name="Text 14"/>
          <p:cNvSpPr/>
          <p:nvPr/>
        </p:nvSpPr>
        <p:spPr>
          <a:xfrm>
            <a:off x="8247888" y="1280160"/>
            <a:ext cx="3063240" cy="219456"/>
          </a:xfrm>
          <a:prstGeom prst="rect">
            <a:avLst/>
          </a:prstGeom>
          <a:noFill/>
          <a:ln/>
        </p:spPr>
        <p:txBody>
          <a:bodyPr wrap="square" lIns="0" tIns="0" rIns="0" bIns="0" rtlCol="0" anchor="ctr"/>
          <a:lstStyle/>
          <a:p>
            <a:pPr marL="0" indent="0">
              <a:buNone/>
            </a:pPr>
            <a:r>
              <a:rPr lang="en-US" sz="1900" b="1" dirty="0">
                <a:solidFill>
                  <a:srgbClr val="13233F"/>
                </a:solidFill>
              </a:rPr>
              <a:t>Success criteria</a:t>
            </a:r>
            <a:endParaRPr lang="en-US" sz="1900" dirty="0"/>
          </a:p>
        </p:txBody>
      </p:sp>
      <p:sp>
        <p:nvSpPr>
          <p:cNvPr id="17" name="Text 15"/>
          <p:cNvSpPr/>
          <p:nvPr/>
        </p:nvSpPr>
        <p:spPr>
          <a:xfrm>
            <a:off x="8247888" y="1600200"/>
            <a:ext cx="3035808" cy="3776472"/>
          </a:xfrm>
          <a:prstGeom prst="rect">
            <a:avLst/>
          </a:prstGeom>
          <a:noFill/>
          <a:ln/>
        </p:spPr>
        <p:txBody>
          <a:bodyPr wrap="square" lIns="0" tIns="0" rIns="0" bIns="0" rtlCol="0" anchor="t"/>
          <a:lstStyle/>
          <a:p>
            <a:pPr marL="0" indent="0">
              <a:buNone/>
            </a:pPr>
            <a:r>
              <a:rPr lang="en-US" sz="1450" dirty="0">
                <a:solidFill>
                  <a:srgbClr val="1E2A3A"/>
                </a:solidFill>
              </a:rPr>
              <a:t>• Gemini consistently selects the right metric from semantic docs.</a:t>
            </a:r>
            <a:endParaRPr lang="en-US" sz="1450" dirty="0"/>
          </a:p>
          <a:p>
            <a:pPr marL="0" indent="0">
              <a:buNone/>
            </a:pPr>
            <a:r>
              <a:rPr lang="en-US" sz="1450" dirty="0">
                <a:solidFill>
                  <a:srgbClr val="1E2A3A"/>
                </a:solidFill>
              </a:rPr>
              <a:t>• Returned numbers match SQL validation runs.</a:t>
            </a:r>
            <a:endParaRPr lang="en-US" sz="1450" dirty="0"/>
          </a:p>
          <a:p>
            <a:pPr marL="0" indent="0">
              <a:buNone/>
            </a:pPr>
            <a:r>
              <a:rPr lang="en-US" sz="1450" dirty="0">
                <a:solidFill>
                  <a:srgbClr val="1E2A3A"/>
                </a:solidFill>
              </a:rPr>
              <a:t>• Every answer is traceable to a model, relation, and filter set.</a:t>
            </a:r>
            <a:endParaRPr lang="en-US" sz="1450" dirty="0"/>
          </a:p>
          <a:p>
            <a:pPr marL="0" indent="0">
              <a:buNone/>
            </a:pPr>
            <a:r>
              <a:rPr lang="en-US" sz="1450" dirty="0">
                <a:solidFill>
                  <a:srgbClr val="1E2A3A"/>
                </a:solidFill>
              </a:rPr>
              <a:t>• The same KPI logic can be reused in BI dashboards.</a:t>
            </a:r>
            <a:endParaRPr lang="en-US" sz="1450" dirty="0"/>
          </a:p>
        </p:txBody>
      </p:sp>
      <p:sp>
        <p:nvSpPr>
          <p:cNvPr id="18" name="Text 16"/>
          <p:cNvSpPr/>
          <p:nvPr/>
        </p:nvSpPr>
        <p:spPr>
          <a:xfrm>
            <a:off x="868680" y="5669280"/>
            <a:ext cx="10515600" cy="329184"/>
          </a:xfrm>
          <a:prstGeom prst="rect">
            <a:avLst/>
          </a:prstGeom>
          <a:noFill/>
          <a:ln/>
        </p:spPr>
        <p:txBody>
          <a:bodyPr wrap="square" lIns="0" tIns="0" rIns="0" bIns="0" rtlCol="0" anchor="ctr"/>
          <a:lstStyle/>
          <a:p>
            <a:pPr marL="0" indent="0" algn="ctr">
              <a:buNone/>
            </a:pPr>
            <a:r>
              <a:rPr lang="en-US" sz="1700" b="1" dirty="0">
                <a:solidFill>
                  <a:srgbClr val="13233F"/>
                </a:solidFill>
              </a:rPr>
              <a:t>Recommended next move: decide the initial source lane, then finalize the first three KPI definitions and validation cases.</a:t>
            </a:r>
            <a:endParaRPr lang="en-US" sz="1700" dirty="0"/>
          </a:p>
        </p:txBody>
      </p:sp>
      <p:sp>
        <p:nvSpPr>
          <p:cNvPr id="19" name="Text 17"/>
          <p:cNvSpPr/>
          <p:nvPr/>
        </p:nvSpPr>
        <p:spPr>
          <a:xfrm>
            <a:off x="566928" y="6437376"/>
            <a:ext cx="9875520" cy="164592"/>
          </a:xfrm>
          <a:prstGeom prst="rect">
            <a:avLst/>
          </a:prstGeom>
          <a:noFill/>
          <a:ln/>
        </p:spPr>
        <p:txBody>
          <a:bodyPr wrap="square" lIns="0" tIns="0" rIns="0" bIns="0" rtlCol="0" anchor="ctr"/>
          <a:lstStyle/>
          <a:p>
            <a:pPr marL="0" indent="0">
              <a:buNone/>
            </a:pPr>
            <a:r>
              <a:rPr lang="en-US" sz="950" dirty="0">
                <a:solidFill>
                  <a:srgbClr val="6C7A89"/>
                </a:solidFill>
              </a:rPr>
              <a:t>Revised approach: JSON + DuckDB or direct SQL source</a:t>
            </a:r>
            <a:endParaRPr lang="en-US" sz="950" dirty="0"/>
          </a:p>
        </p:txBody>
      </p:sp>
      <p:sp>
        <p:nvSpPr>
          <p:cNvPr id="20" name="Text 18"/>
          <p:cNvSpPr/>
          <p:nvPr/>
        </p:nvSpPr>
        <p:spPr>
          <a:xfrm>
            <a:off x="11155680" y="6409944"/>
            <a:ext cx="411480" cy="182880"/>
          </a:xfrm>
          <a:prstGeom prst="rect">
            <a:avLst/>
          </a:prstGeom>
          <a:noFill/>
          <a:ln/>
        </p:spPr>
        <p:txBody>
          <a:bodyPr wrap="square" lIns="0" tIns="0" rIns="0" bIns="0" rtlCol="0" anchor="ctr"/>
          <a:lstStyle/>
          <a:p>
            <a:pPr marL="0" indent="0" algn="r">
              <a:buNone/>
            </a:pPr>
            <a:r>
              <a:rPr lang="en-US" sz="1000" b="1" dirty="0">
                <a:solidFill>
                  <a:srgbClr val="6C7A89"/>
                </a:solidFill>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8046720" cy="384048"/>
          </a:xfrm>
          <a:prstGeom prst="rect">
            <a:avLst/>
          </a:prstGeom>
          <a:noFill/>
          <a:ln/>
        </p:spPr>
        <p:txBody>
          <a:bodyPr wrap="square" lIns="0" tIns="0" rIns="0" bIns="0" rtlCol="0" anchor="ctr"/>
          <a:lstStyle/>
          <a:p>
            <a:pPr marL="0" indent="0">
              <a:buNone/>
            </a:pPr>
            <a:r>
              <a:rPr lang="en-US" sz="2600" b="1" dirty="0">
                <a:solidFill>
                  <a:srgbClr val="102A43"/>
                </a:solidFill>
                <a:latin typeface="Aptos Display" pitchFamily="34" charset="0"/>
                <a:ea typeface="Aptos Display" pitchFamily="34" charset="-122"/>
                <a:cs typeface="Aptos Display" pitchFamily="34" charset="-120"/>
              </a:rPr>
              <a:t>Schema-Refiner paper: useful idea, but not our core architecture</a:t>
            </a:r>
            <a:endParaRPr lang="en-US" sz="2600" dirty="0"/>
          </a:p>
        </p:txBody>
      </p:sp>
      <p:sp>
        <p:nvSpPr>
          <p:cNvPr id="3" name="Text 1"/>
          <p:cNvSpPr/>
          <p:nvPr/>
        </p:nvSpPr>
        <p:spPr>
          <a:xfrm>
            <a:off x="521208" y="808735"/>
            <a:ext cx="10698480" cy="256032"/>
          </a:xfrm>
          <a:prstGeom prst="rect">
            <a:avLst/>
          </a:prstGeom>
          <a:noFill/>
          <a:ln/>
        </p:spPr>
        <p:txBody>
          <a:bodyPr wrap="square" lIns="0" tIns="0" rIns="0" bIns="0" rtlCol="0" anchor="ctr"/>
          <a:lstStyle/>
          <a:p>
            <a:pPr marL="0" indent="0">
              <a:buNone/>
            </a:pPr>
            <a:r>
              <a:rPr lang="en-US" sz="1150" dirty="0">
                <a:solidFill>
                  <a:srgbClr val="4A5568"/>
                </a:solidFill>
                <a:latin typeface="Aptos" pitchFamily="34" charset="0"/>
                <a:ea typeface="Aptos" pitchFamily="34" charset="-122"/>
                <a:cs typeface="Aptos" pitchFamily="34" charset="-120"/>
              </a:rPr>
              <a:t>Manager takeaway: the paper helps clean ambiguous schemas for Text-to-SQL, while our dbt approach already governs metrics, dimensions, and reusable business semantics.</a:t>
            </a:r>
            <a:endParaRPr lang="en-US" sz="1150" dirty="0"/>
          </a:p>
        </p:txBody>
      </p:sp>
      <p:sp>
        <p:nvSpPr>
          <p:cNvPr id="4" name="Shape 2"/>
          <p:cNvSpPr/>
          <p:nvPr/>
        </p:nvSpPr>
        <p:spPr>
          <a:xfrm>
            <a:off x="502920" y="987552"/>
            <a:ext cx="11155680" cy="0"/>
          </a:xfrm>
          <a:prstGeom prst="line">
            <a:avLst/>
          </a:prstGeom>
          <a:noFill/>
          <a:ln w="12700">
            <a:solidFill>
              <a:srgbClr val="D9E2EC"/>
            </a:solidFill>
            <a:prstDash val="solid"/>
          </a:ln>
        </p:spPr>
        <p:txBody>
          <a:bodyPr/>
          <a:lstStyle/>
          <a:p>
            <a:r>
              <a:rPr lang="en-US" dirty="0"/>
              <a:t>https://</a:t>
            </a:r>
            <a:r>
              <a:rPr lang="en-US" dirty="0" err="1"/>
              <a:t>openreview.net</a:t>
            </a:r>
            <a:r>
              <a:rPr lang="en-US" dirty="0"/>
              <a:t>/</a:t>
            </a:r>
            <a:r>
              <a:rPr lang="en-US" dirty="0" err="1"/>
              <a:t>pdf?id</a:t>
            </a:r>
            <a:r>
              <a:rPr lang="en-US" dirty="0"/>
              <a:t>=</a:t>
            </a:r>
            <a:r>
              <a:rPr lang="en-US" dirty="0" err="1"/>
              <a:t>CVYUcrHKCE</a:t>
            </a:r>
            <a:endParaRPr lang="en-US" dirty="0"/>
          </a:p>
        </p:txBody>
      </p:sp>
      <p:sp>
        <p:nvSpPr>
          <p:cNvPr id="5" name="Shape 3"/>
          <p:cNvSpPr/>
          <p:nvPr/>
        </p:nvSpPr>
        <p:spPr>
          <a:xfrm>
            <a:off x="502920" y="1207008"/>
            <a:ext cx="4617720" cy="4983480"/>
          </a:xfrm>
          <a:prstGeom prst="roundRect">
            <a:avLst>
              <a:gd name="adj" fmla="val 1584"/>
            </a:avLst>
          </a:prstGeom>
          <a:solidFill>
            <a:srgbClr val="F7FAFC"/>
          </a:solidFill>
          <a:ln w="12700">
            <a:solidFill>
              <a:srgbClr val="D9E2EC"/>
            </a:solidFill>
            <a:prstDash val="solid"/>
          </a:ln>
        </p:spPr>
        <p:txBody>
          <a:bodyPr/>
          <a:lstStyle/>
          <a:p>
            <a:endParaRPr lang="en-US"/>
          </a:p>
        </p:txBody>
      </p:sp>
      <p:sp>
        <p:nvSpPr>
          <p:cNvPr id="6" name="Shape 4"/>
          <p:cNvSpPr/>
          <p:nvPr/>
        </p:nvSpPr>
        <p:spPr>
          <a:xfrm>
            <a:off x="749808" y="1417320"/>
            <a:ext cx="1600200" cy="310896"/>
          </a:xfrm>
          <a:prstGeom prst="roundRect">
            <a:avLst>
              <a:gd name="adj" fmla="val 23529"/>
            </a:avLst>
          </a:prstGeom>
          <a:solidFill>
            <a:srgbClr val="1F5FBF"/>
          </a:solidFill>
          <a:ln w="12700">
            <a:solidFill>
              <a:srgbClr val="1F5FBF"/>
            </a:solidFill>
            <a:prstDash val="solid"/>
          </a:ln>
        </p:spPr>
        <p:txBody>
          <a:bodyPr/>
          <a:lstStyle/>
          <a:p>
            <a:endParaRPr lang="en-US"/>
          </a:p>
        </p:txBody>
      </p:sp>
      <p:sp>
        <p:nvSpPr>
          <p:cNvPr id="7" name="Text 5"/>
          <p:cNvSpPr/>
          <p:nvPr/>
        </p:nvSpPr>
        <p:spPr>
          <a:xfrm>
            <a:off x="822960" y="1453896"/>
            <a:ext cx="1453896" cy="201168"/>
          </a:xfrm>
          <a:prstGeom prst="rect">
            <a:avLst/>
          </a:prstGeom>
          <a:noFill/>
          <a:ln/>
        </p:spPr>
        <p:txBody>
          <a:bodyPr wrap="square" lIns="0" tIns="0" rIns="0" bIns="0" rtlCol="0" anchor="ctr"/>
          <a:lstStyle/>
          <a:p>
            <a:pPr marL="0" indent="0" algn="ctr">
              <a:buNone/>
            </a:pPr>
            <a:r>
              <a:rPr lang="en-US" sz="1100" b="1" dirty="0">
                <a:solidFill>
                  <a:srgbClr val="FFFFFF"/>
                </a:solidFill>
              </a:rPr>
              <a:t>What the paper does</a:t>
            </a:r>
            <a:endParaRPr lang="en-US" sz="1100" dirty="0"/>
          </a:p>
        </p:txBody>
      </p:sp>
      <p:sp>
        <p:nvSpPr>
          <p:cNvPr id="8" name="Text 6"/>
          <p:cNvSpPr/>
          <p:nvPr/>
        </p:nvSpPr>
        <p:spPr>
          <a:xfrm>
            <a:off x="749808" y="1847088"/>
            <a:ext cx="3840480" cy="310896"/>
          </a:xfrm>
          <a:prstGeom prst="rect">
            <a:avLst/>
          </a:prstGeom>
          <a:noFill/>
          <a:ln/>
        </p:spPr>
        <p:txBody>
          <a:bodyPr wrap="square" lIns="0" tIns="0" rIns="0" bIns="0" rtlCol="0" anchor="ctr"/>
          <a:lstStyle/>
          <a:p>
            <a:pPr marL="0" indent="0">
              <a:buNone/>
            </a:pPr>
            <a:r>
              <a:rPr lang="en-US" sz="1800" b="1" dirty="0">
                <a:solidFill>
                  <a:srgbClr val="102A43"/>
                </a:solidFill>
              </a:rPr>
              <a:t>Schema-Refiner in one sentence</a:t>
            </a:r>
            <a:endParaRPr lang="en-US" sz="1800" dirty="0"/>
          </a:p>
        </p:txBody>
      </p:sp>
      <p:sp>
        <p:nvSpPr>
          <p:cNvPr id="9" name="Text 7"/>
          <p:cNvSpPr/>
          <p:nvPr/>
        </p:nvSpPr>
        <p:spPr>
          <a:xfrm>
            <a:off x="713232" y="2240280"/>
            <a:ext cx="4069080" cy="2331720"/>
          </a:xfrm>
          <a:prstGeom prst="rect">
            <a:avLst/>
          </a:prstGeom>
          <a:noFill/>
          <a:ln/>
        </p:spPr>
        <p:txBody>
          <a:bodyPr wrap="square" lIns="25400" tIns="25400" rIns="25400" bIns="25400" rtlCol="0" anchor="t">
            <a:normAutofit fontScale="85000" lnSpcReduction="20000"/>
          </a:bodyPr>
          <a:lstStyle/>
          <a:p>
            <a:pPr marL="177800" indent="-177800">
              <a:buSzPct val="100000"/>
              <a:buChar char="•"/>
            </a:pPr>
            <a:r>
              <a:rPr lang="en-US" sz="1500" dirty="0">
                <a:solidFill>
                  <a:srgbClr val="1A202C"/>
                </a:solidFill>
                <a:latin typeface="Aptos" pitchFamily="34" charset="0"/>
                <a:ea typeface="Aptos" pitchFamily="34" charset="-122"/>
                <a:cs typeface="Aptos" pitchFamily="34" charset="-120"/>
              </a:rPr>
              <a:t>Targets Text-to-SQL errors caused by ambiguous schema names such as homonyms, synonyms, and cryptic abbreviations.
</a:t>
            </a:r>
            <a:endParaRPr lang="en-US" sz="1500" dirty="0"/>
          </a:p>
          <a:p>
            <a:pPr marL="177800" indent="-177800">
              <a:buSzPct val="100000"/>
              <a:buChar char="•"/>
            </a:pPr>
            <a:r>
              <a:rPr lang="en-US" sz="1500" dirty="0">
                <a:solidFill>
                  <a:srgbClr val="1A202C"/>
                </a:solidFill>
                <a:latin typeface="Aptos" pitchFamily="34" charset="0"/>
                <a:ea typeface="Aptos" pitchFamily="34" charset="-122"/>
                <a:cs typeface="Aptos" pitchFamily="34" charset="-120"/>
              </a:rPr>
              <a:t>Builds a schema knowledge graph, lets an LLM infer clearer meanings, and emits CREATE VIEW aliases over the original database.
</a:t>
            </a:r>
            <a:endParaRPr lang="en-US" sz="1500" dirty="0"/>
          </a:p>
          <a:p>
            <a:pPr marL="177800" indent="-177800">
              <a:buSzPct val="100000"/>
              <a:buChar char="•"/>
            </a:pPr>
            <a:r>
              <a:rPr lang="en-US" sz="1500" dirty="0">
                <a:solidFill>
                  <a:srgbClr val="1A202C"/>
                </a:solidFill>
                <a:latin typeface="Aptos" pitchFamily="34" charset="0"/>
                <a:ea typeface="Aptos" pitchFamily="34" charset="-122"/>
                <a:cs typeface="Aptos" pitchFamily="34" charset="-120"/>
              </a:rPr>
              <a:t>Keeps the underlying database unchanged and rewrites generated queries back to the original schema.
</a:t>
            </a:r>
            <a:endParaRPr lang="en-US" sz="1500" dirty="0"/>
          </a:p>
          <a:p>
            <a:pPr marL="177800" indent="-177800">
              <a:buSzPct val="100000"/>
              <a:buChar char="•"/>
            </a:pPr>
            <a:r>
              <a:rPr lang="en-US" sz="1500" dirty="0">
                <a:solidFill>
                  <a:srgbClr val="1A202C"/>
                </a:solidFill>
                <a:latin typeface="Aptos" pitchFamily="34" charset="0"/>
                <a:ea typeface="Aptos" pitchFamily="34" charset="-122"/>
                <a:cs typeface="Aptos" pitchFamily="34" charset="-120"/>
              </a:rPr>
              <a:t>Best viewed as an upstream schema-cleanup technique, not a full BI semantic governance layer.</a:t>
            </a:r>
            <a:endParaRPr lang="en-US" sz="1500" dirty="0"/>
          </a:p>
        </p:txBody>
      </p:sp>
      <p:sp>
        <p:nvSpPr>
          <p:cNvPr id="10" name="Shape 8"/>
          <p:cNvSpPr/>
          <p:nvPr/>
        </p:nvSpPr>
        <p:spPr>
          <a:xfrm>
            <a:off x="731520" y="4846320"/>
            <a:ext cx="4160520" cy="960120"/>
          </a:xfrm>
          <a:prstGeom prst="roundRect">
            <a:avLst>
              <a:gd name="adj" fmla="val 5714"/>
            </a:avLst>
          </a:prstGeom>
          <a:solidFill>
            <a:srgbClr val="FFF7E6"/>
          </a:solidFill>
          <a:ln w="12700">
            <a:solidFill>
              <a:srgbClr val="D69E2E"/>
            </a:solidFill>
            <a:prstDash val="solid"/>
          </a:ln>
        </p:spPr>
        <p:txBody>
          <a:bodyPr/>
          <a:lstStyle/>
          <a:p>
            <a:endParaRPr lang="en-US"/>
          </a:p>
        </p:txBody>
      </p:sp>
      <p:sp>
        <p:nvSpPr>
          <p:cNvPr id="11" name="Text 9"/>
          <p:cNvSpPr/>
          <p:nvPr/>
        </p:nvSpPr>
        <p:spPr>
          <a:xfrm>
            <a:off x="914400" y="5047488"/>
            <a:ext cx="1097280" cy="201168"/>
          </a:xfrm>
          <a:prstGeom prst="rect">
            <a:avLst/>
          </a:prstGeom>
          <a:noFill/>
          <a:ln/>
        </p:spPr>
        <p:txBody>
          <a:bodyPr wrap="square" lIns="0" tIns="0" rIns="0" bIns="0" rtlCol="0" anchor="ctr"/>
          <a:lstStyle/>
          <a:p>
            <a:pPr marL="0" indent="0">
              <a:buNone/>
            </a:pPr>
            <a:r>
              <a:rPr lang="en-US" sz="1400" b="1" dirty="0">
                <a:solidFill>
                  <a:srgbClr val="1A202C"/>
                </a:solidFill>
              </a:rPr>
              <a:t>Bottom line</a:t>
            </a:r>
            <a:endParaRPr lang="en-US" sz="1400" dirty="0"/>
          </a:p>
        </p:txBody>
      </p:sp>
      <p:sp>
        <p:nvSpPr>
          <p:cNvPr id="12" name="Text 10"/>
          <p:cNvSpPr/>
          <p:nvPr/>
        </p:nvSpPr>
        <p:spPr>
          <a:xfrm>
            <a:off x="914400" y="5276088"/>
            <a:ext cx="3867912" cy="521208"/>
          </a:xfrm>
          <a:prstGeom prst="rect">
            <a:avLst/>
          </a:prstGeom>
          <a:noFill/>
          <a:ln/>
        </p:spPr>
        <p:txBody>
          <a:bodyPr wrap="square" lIns="0" tIns="0" rIns="0" bIns="0" rtlCol="0" anchor="ctr"/>
          <a:lstStyle/>
          <a:p>
            <a:pPr marL="0" indent="0">
              <a:buNone/>
            </a:pPr>
            <a:r>
              <a:rPr lang="en-US" sz="1200" dirty="0">
                <a:solidFill>
                  <a:srgbClr val="1A202C"/>
                </a:solidFill>
              </a:rPr>
              <a:t>It solves name ambiguity for SQL generation. It does not define governed metrics like “net exposure” or “breach count.”</a:t>
            </a:r>
            <a:endParaRPr lang="en-US" sz="1200" dirty="0"/>
          </a:p>
        </p:txBody>
      </p:sp>
      <p:sp>
        <p:nvSpPr>
          <p:cNvPr id="13" name="Shape 11"/>
          <p:cNvSpPr/>
          <p:nvPr/>
        </p:nvSpPr>
        <p:spPr>
          <a:xfrm>
            <a:off x="5349240" y="1207008"/>
            <a:ext cx="6309360" cy="4983480"/>
          </a:xfrm>
          <a:prstGeom prst="roundRect">
            <a:avLst>
              <a:gd name="adj" fmla="val 1468"/>
            </a:avLst>
          </a:prstGeom>
          <a:solidFill>
            <a:srgbClr val="FFFFFF"/>
          </a:solidFill>
          <a:ln w="12700">
            <a:solidFill>
              <a:srgbClr val="D9E2EC"/>
            </a:solidFill>
            <a:prstDash val="solid"/>
          </a:ln>
        </p:spPr>
        <p:txBody>
          <a:bodyPr/>
          <a:lstStyle/>
          <a:p>
            <a:endParaRPr lang="en-US"/>
          </a:p>
        </p:txBody>
      </p:sp>
      <p:sp>
        <p:nvSpPr>
          <p:cNvPr id="14" name="Shape 12"/>
          <p:cNvSpPr/>
          <p:nvPr/>
        </p:nvSpPr>
        <p:spPr>
          <a:xfrm>
            <a:off x="5596128" y="1417320"/>
            <a:ext cx="1783080" cy="310896"/>
          </a:xfrm>
          <a:prstGeom prst="roundRect">
            <a:avLst>
              <a:gd name="adj" fmla="val 23529"/>
            </a:avLst>
          </a:prstGeom>
          <a:solidFill>
            <a:srgbClr val="2F855A"/>
          </a:solidFill>
          <a:ln w="12700">
            <a:solidFill>
              <a:srgbClr val="2F855A"/>
            </a:solidFill>
            <a:prstDash val="solid"/>
          </a:ln>
        </p:spPr>
        <p:txBody>
          <a:bodyPr/>
          <a:lstStyle/>
          <a:p>
            <a:endParaRPr lang="en-US"/>
          </a:p>
        </p:txBody>
      </p:sp>
      <p:sp>
        <p:nvSpPr>
          <p:cNvPr id="15" name="Text 13"/>
          <p:cNvSpPr/>
          <p:nvPr/>
        </p:nvSpPr>
        <p:spPr>
          <a:xfrm>
            <a:off x="5669280" y="1453896"/>
            <a:ext cx="1636776" cy="201168"/>
          </a:xfrm>
          <a:prstGeom prst="rect">
            <a:avLst/>
          </a:prstGeom>
          <a:noFill/>
          <a:ln/>
        </p:spPr>
        <p:txBody>
          <a:bodyPr wrap="square" lIns="0" tIns="0" rIns="0" bIns="0" rtlCol="0" anchor="ctr"/>
          <a:lstStyle/>
          <a:p>
            <a:pPr marL="0" indent="0" algn="ctr">
              <a:buNone/>
            </a:pPr>
            <a:r>
              <a:rPr lang="en-US" sz="1100" b="1" dirty="0">
                <a:solidFill>
                  <a:srgbClr val="FFFFFF"/>
                </a:solidFill>
              </a:rPr>
              <a:t>Evidence from the paper</a:t>
            </a:r>
            <a:endParaRPr lang="en-US" sz="1100" dirty="0"/>
          </a:p>
        </p:txBody>
      </p:sp>
      <p:sp>
        <p:nvSpPr>
          <p:cNvPr id="16" name="Text 14"/>
          <p:cNvSpPr/>
          <p:nvPr/>
        </p:nvSpPr>
        <p:spPr>
          <a:xfrm>
            <a:off x="5596128" y="1847088"/>
            <a:ext cx="2560320" cy="274320"/>
          </a:xfrm>
          <a:prstGeom prst="rect">
            <a:avLst/>
          </a:prstGeom>
          <a:noFill/>
          <a:ln/>
        </p:spPr>
        <p:txBody>
          <a:bodyPr wrap="square" lIns="0" tIns="0" rIns="0" bIns="0" rtlCol="0" anchor="ctr"/>
          <a:lstStyle/>
          <a:p>
            <a:pPr marL="0" indent="0">
              <a:buNone/>
            </a:pPr>
            <a:r>
              <a:rPr lang="en-US" sz="1800" b="1" dirty="0">
                <a:solidFill>
                  <a:srgbClr val="102A43"/>
                </a:solidFill>
              </a:rPr>
              <a:t>Test-set execution accuracy (%)</a:t>
            </a:r>
            <a:endParaRPr lang="en-US" sz="1800" dirty="0"/>
          </a:p>
        </p:txBody>
      </p:sp>
      <p:sp>
        <p:nvSpPr>
          <p:cNvPr id="17" name="Text 15"/>
          <p:cNvSpPr/>
          <p:nvPr/>
        </p:nvSpPr>
        <p:spPr>
          <a:xfrm>
            <a:off x="5596128" y="2225548"/>
            <a:ext cx="5303520" cy="347472"/>
          </a:xfrm>
          <a:prstGeom prst="rect">
            <a:avLst/>
          </a:prstGeom>
          <a:noFill/>
          <a:ln/>
        </p:spPr>
        <p:txBody>
          <a:bodyPr wrap="square" lIns="0" tIns="0" rIns="0" bIns="0" rtlCol="0" anchor="ctr"/>
          <a:lstStyle/>
          <a:p>
            <a:pPr marL="0" indent="0">
              <a:buNone/>
            </a:pPr>
            <a:r>
              <a:rPr lang="en-US" sz="1250" dirty="0">
                <a:solidFill>
                  <a:srgbClr val="4A5568"/>
                </a:solidFill>
              </a:rPr>
              <a:t>Ambiguous schema names hurt Text-to-SQL sharply; refinement recovers some of the loss but not all of it.</a:t>
            </a:r>
            <a:endParaRPr lang="en-US" sz="1250" dirty="0"/>
          </a:p>
        </p:txBody>
      </p:sp>
      <p:graphicFrame>
        <p:nvGraphicFramePr>
          <p:cNvPr id="18" name="Chart 0"/>
          <p:cNvGraphicFramePr/>
          <p:nvPr/>
        </p:nvGraphicFramePr>
        <p:xfrm>
          <a:off x="5577840" y="2487168"/>
          <a:ext cx="5623560"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19" name="Shape 16"/>
          <p:cNvSpPr/>
          <p:nvPr/>
        </p:nvSpPr>
        <p:spPr>
          <a:xfrm>
            <a:off x="5715000" y="5102352"/>
            <a:ext cx="5577840" cy="566928"/>
          </a:xfrm>
          <a:prstGeom prst="roundRect">
            <a:avLst>
              <a:gd name="adj" fmla="val 8065"/>
            </a:avLst>
          </a:prstGeom>
          <a:solidFill>
            <a:srgbClr val="EAF7F0"/>
          </a:solidFill>
          <a:ln w="12700">
            <a:solidFill>
              <a:srgbClr val="2F855A"/>
            </a:solidFill>
            <a:prstDash val="solid"/>
          </a:ln>
        </p:spPr>
        <p:txBody>
          <a:bodyPr/>
          <a:lstStyle/>
          <a:p>
            <a:endParaRPr lang="en-US"/>
          </a:p>
        </p:txBody>
      </p:sp>
      <p:sp>
        <p:nvSpPr>
          <p:cNvPr id="20" name="Text 17"/>
          <p:cNvSpPr/>
          <p:nvPr/>
        </p:nvSpPr>
        <p:spPr>
          <a:xfrm>
            <a:off x="5870448" y="5266944"/>
            <a:ext cx="5257800" cy="201168"/>
          </a:xfrm>
          <a:prstGeom prst="rect">
            <a:avLst/>
          </a:prstGeom>
          <a:noFill/>
          <a:ln/>
        </p:spPr>
        <p:txBody>
          <a:bodyPr wrap="square" lIns="0" tIns="0" rIns="0" bIns="0" rtlCol="0" anchor="ctr"/>
          <a:lstStyle/>
          <a:p>
            <a:pPr marL="0" indent="0">
              <a:buNone/>
            </a:pPr>
            <a:r>
              <a:rPr lang="en-US" sz="1250" b="1" dirty="0">
                <a:solidFill>
                  <a:srgbClr val="1A202C"/>
                </a:solidFill>
              </a:rPr>
              <a:t>Interpretation: meaningful for messy schemas, but still a support layer around SQL generation rather than a governed metric layer.</a:t>
            </a:r>
            <a:endParaRPr lang="en-US" sz="1250" dirty="0"/>
          </a:p>
        </p:txBody>
      </p:sp>
      <p:sp>
        <p:nvSpPr>
          <p:cNvPr id="21" name="Text 9">
            <a:extLst>
              <a:ext uri="{FF2B5EF4-FFF2-40B4-BE49-F238E27FC236}">
                <a16:creationId xmlns:a16="http://schemas.microsoft.com/office/drawing/2014/main" id="{5AA752CE-6764-995B-BB5F-1CE2851A2D1C}"/>
              </a:ext>
            </a:extLst>
          </p:cNvPr>
          <p:cNvSpPr/>
          <p:nvPr/>
        </p:nvSpPr>
        <p:spPr>
          <a:xfrm>
            <a:off x="899160" y="4901184"/>
            <a:ext cx="1097280" cy="201168"/>
          </a:xfrm>
          <a:prstGeom prst="rect">
            <a:avLst/>
          </a:prstGeom>
          <a:noFill/>
          <a:ln/>
        </p:spPr>
        <p:txBody>
          <a:bodyPr wrap="square" lIns="0" tIns="0" rIns="0" bIns="0" rtlCol="0" anchor="ctr"/>
          <a:lstStyle/>
          <a:p>
            <a:pPr marL="0" indent="0">
              <a:buNone/>
            </a:pPr>
            <a:r>
              <a:rPr lang="en-US" sz="1400" b="1" dirty="0">
                <a:solidFill>
                  <a:srgbClr val="1A202C"/>
                </a:solidFill>
              </a:rPr>
              <a:t>Bottom line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56032"/>
            <a:ext cx="8046720" cy="384048"/>
          </a:xfrm>
          <a:prstGeom prst="rect">
            <a:avLst/>
          </a:prstGeom>
          <a:noFill/>
          <a:ln/>
        </p:spPr>
        <p:txBody>
          <a:bodyPr wrap="square" lIns="0" tIns="0" rIns="0" bIns="0" rtlCol="0" anchor="ctr"/>
          <a:lstStyle/>
          <a:p>
            <a:pPr marL="0" indent="0">
              <a:buNone/>
            </a:pPr>
            <a:r>
              <a:rPr lang="en-US" sz="2600" b="1" dirty="0">
                <a:solidFill>
                  <a:srgbClr val="102A43"/>
                </a:solidFill>
                <a:latin typeface="Aptos Display" pitchFamily="34" charset="0"/>
                <a:ea typeface="Aptos Display" pitchFamily="34" charset="-122"/>
                <a:cs typeface="Aptos Display" pitchFamily="34" charset="-120"/>
              </a:rPr>
              <a:t>Why this paper is adjacent to our design — not a replacement for dbt</a:t>
            </a:r>
            <a:endParaRPr lang="en-US" sz="2600" dirty="0"/>
          </a:p>
        </p:txBody>
      </p:sp>
      <p:sp>
        <p:nvSpPr>
          <p:cNvPr id="3" name="Text 1"/>
          <p:cNvSpPr/>
          <p:nvPr/>
        </p:nvSpPr>
        <p:spPr>
          <a:xfrm>
            <a:off x="513080" y="740664"/>
            <a:ext cx="10698480" cy="256032"/>
          </a:xfrm>
          <a:prstGeom prst="rect">
            <a:avLst/>
          </a:prstGeom>
          <a:noFill/>
          <a:ln/>
        </p:spPr>
        <p:txBody>
          <a:bodyPr wrap="square" lIns="0" tIns="0" rIns="0" bIns="0" rtlCol="0" anchor="ctr"/>
          <a:lstStyle/>
          <a:p>
            <a:pPr marL="0" indent="0">
              <a:buNone/>
            </a:pPr>
            <a:r>
              <a:rPr lang="en-US" sz="1150" dirty="0">
                <a:solidFill>
                  <a:srgbClr val="4A5568"/>
                </a:solidFill>
                <a:latin typeface="Aptos" pitchFamily="34" charset="0"/>
                <a:ea typeface="Aptos" pitchFamily="34" charset="-122"/>
                <a:cs typeface="Aptos" pitchFamily="34" charset="-120"/>
              </a:rPr>
              <a:t>Our architecture already pushes business meaning into dbt models and semantic definitions; the paper mainly helps when the raw source schema itself is messy.</a:t>
            </a:r>
            <a:endParaRPr lang="en-US" sz="1150" dirty="0"/>
          </a:p>
        </p:txBody>
      </p:sp>
      <p:sp>
        <p:nvSpPr>
          <p:cNvPr id="4" name="Shape 2"/>
          <p:cNvSpPr/>
          <p:nvPr/>
        </p:nvSpPr>
        <p:spPr>
          <a:xfrm>
            <a:off x="502920" y="987552"/>
            <a:ext cx="11155680" cy="0"/>
          </a:xfrm>
          <a:prstGeom prst="line">
            <a:avLst/>
          </a:prstGeom>
          <a:noFill/>
          <a:ln w="12700">
            <a:solidFill>
              <a:srgbClr val="D9E2EC"/>
            </a:solidFill>
            <a:prstDash val="solid"/>
          </a:ln>
        </p:spPr>
        <p:txBody>
          <a:bodyPr/>
          <a:lstStyle/>
          <a:p>
            <a:endParaRPr lang="en-US"/>
          </a:p>
        </p:txBody>
      </p:sp>
      <p:sp>
        <p:nvSpPr>
          <p:cNvPr id="5" name="Shape 3"/>
          <p:cNvSpPr/>
          <p:nvPr/>
        </p:nvSpPr>
        <p:spPr>
          <a:xfrm>
            <a:off x="502920" y="1207008"/>
            <a:ext cx="5394960" cy="4526280"/>
          </a:xfrm>
          <a:prstGeom prst="roundRect">
            <a:avLst>
              <a:gd name="adj" fmla="val 1616"/>
            </a:avLst>
          </a:prstGeom>
          <a:solidFill>
            <a:srgbClr val="EAF2FF"/>
          </a:solidFill>
          <a:ln w="12700">
            <a:solidFill>
              <a:srgbClr val="D9E2EC"/>
            </a:solidFill>
            <a:prstDash val="solid"/>
          </a:ln>
        </p:spPr>
        <p:txBody>
          <a:bodyPr/>
          <a:lstStyle/>
          <a:p>
            <a:endParaRPr lang="en-US"/>
          </a:p>
        </p:txBody>
      </p:sp>
      <p:sp>
        <p:nvSpPr>
          <p:cNvPr id="6" name="Shape 4"/>
          <p:cNvSpPr/>
          <p:nvPr/>
        </p:nvSpPr>
        <p:spPr>
          <a:xfrm>
            <a:off x="6263640" y="1207008"/>
            <a:ext cx="5394960" cy="4526280"/>
          </a:xfrm>
          <a:prstGeom prst="roundRect">
            <a:avLst>
              <a:gd name="adj" fmla="val 1616"/>
            </a:avLst>
          </a:prstGeom>
          <a:solidFill>
            <a:srgbClr val="EAF7F0"/>
          </a:solidFill>
          <a:ln w="12700">
            <a:solidFill>
              <a:srgbClr val="D9E2EC"/>
            </a:solidFill>
            <a:prstDash val="solid"/>
          </a:ln>
        </p:spPr>
        <p:txBody>
          <a:bodyPr/>
          <a:lstStyle/>
          <a:p>
            <a:endParaRPr lang="en-US"/>
          </a:p>
        </p:txBody>
      </p:sp>
      <p:sp>
        <p:nvSpPr>
          <p:cNvPr id="7" name="Shape 5"/>
          <p:cNvSpPr/>
          <p:nvPr/>
        </p:nvSpPr>
        <p:spPr>
          <a:xfrm>
            <a:off x="777240" y="1417320"/>
            <a:ext cx="1143000" cy="310896"/>
          </a:xfrm>
          <a:prstGeom prst="roundRect">
            <a:avLst>
              <a:gd name="adj" fmla="val 23529"/>
            </a:avLst>
          </a:prstGeom>
          <a:solidFill>
            <a:srgbClr val="1F5FBF"/>
          </a:solidFill>
          <a:ln w="12700">
            <a:solidFill>
              <a:srgbClr val="1F5FBF"/>
            </a:solidFill>
            <a:prstDash val="solid"/>
          </a:ln>
        </p:spPr>
        <p:txBody>
          <a:bodyPr/>
          <a:lstStyle/>
          <a:p>
            <a:endParaRPr lang="en-US"/>
          </a:p>
        </p:txBody>
      </p:sp>
      <p:sp>
        <p:nvSpPr>
          <p:cNvPr id="8" name="Text 6"/>
          <p:cNvSpPr/>
          <p:nvPr/>
        </p:nvSpPr>
        <p:spPr>
          <a:xfrm>
            <a:off x="850392" y="1453896"/>
            <a:ext cx="996696" cy="201168"/>
          </a:xfrm>
          <a:prstGeom prst="rect">
            <a:avLst/>
          </a:prstGeom>
          <a:noFill/>
          <a:ln/>
        </p:spPr>
        <p:txBody>
          <a:bodyPr wrap="square" lIns="0" tIns="0" rIns="0" bIns="0" rtlCol="0" anchor="ctr"/>
          <a:lstStyle/>
          <a:p>
            <a:pPr marL="0" indent="0" algn="ctr">
              <a:buNone/>
            </a:pPr>
            <a:r>
              <a:rPr lang="en-US" sz="1100" b="1" dirty="0">
                <a:solidFill>
                  <a:srgbClr val="FFFFFF"/>
                </a:solidFill>
              </a:rPr>
              <a:t>Paper scope</a:t>
            </a:r>
            <a:endParaRPr lang="en-US" sz="1100" dirty="0"/>
          </a:p>
        </p:txBody>
      </p:sp>
      <p:sp>
        <p:nvSpPr>
          <p:cNvPr id="9" name="Text 7"/>
          <p:cNvSpPr/>
          <p:nvPr/>
        </p:nvSpPr>
        <p:spPr>
          <a:xfrm>
            <a:off x="777240" y="1828800"/>
            <a:ext cx="3347720" cy="292608"/>
          </a:xfrm>
          <a:prstGeom prst="rect">
            <a:avLst/>
          </a:prstGeom>
          <a:noFill/>
          <a:ln/>
        </p:spPr>
        <p:txBody>
          <a:bodyPr wrap="square" lIns="0" tIns="0" rIns="0" bIns="0" rtlCol="0" anchor="ctr"/>
          <a:lstStyle/>
          <a:p>
            <a:pPr marL="0" indent="0">
              <a:buNone/>
            </a:pPr>
            <a:r>
              <a:rPr lang="en-US" sz="2000" b="1" dirty="0">
                <a:solidFill>
                  <a:srgbClr val="102A43"/>
                </a:solidFill>
              </a:rPr>
              <a:t>Schema-Refiner focuses on</a:t>
            </a:r>
            <a:endParaRPr lang="en-US" sz="2000" dirty="0"/>
          </a:p>
        </p:txBody>
      </p:sp>
      <p:sp>
        <p:nvSpPr>
          <p:cNvPr id="10" name="Text 8"/>
          <p:cNvSpPr/>
          <p:nvPr/>
        </p:nvSpPr>
        <p:spPr>
          <a:xfrm>
            <a:off x="777240" y="2212848"/>
            <a:ext cx="4480560" cy="1828800"/>
          </a:xfrm>
          <a:prstGeom prst="rect">
            <a:avLst/>
          </a:prstGeom>
          <a:noFill/>
          <a:ln/>
        </p:spPr>
        <p:txBody>
          <a:bodyPr wrap="square" lIns="25400" tIns="25400" rIns="25400" bIns="25400" rtlCol="0" anchor="t">
            <a:normAutofit lnSpcReduction="10000"/>
          </a:bodyPr>
          <a:lstStyle/>
          <a:p>
            <a:pPr marL="177800" indent="-177800">
              <a:buSzPct val="100000"/>
              <a:buChar char="•"/>
            </a:pPr>
            <a:r>
              <a:rPr lang="en-US" sz="1500" dirty="0">
                <a:solidFill>
                  <a:srgbClr val="1A202C"/>
                </a:solidFill>
                <a:latin typeface="Aptos" pitchFamily="34" charset="0"/>
                <a:ea typeface="Aptos" pitchFamily="34" charset="-122"/>
                <a:cs typeface="Aptos" pitchFamily="34" charset="-120"/>
              </a:rPr>
              <a:t>Renaming / clarifying ambiguous table and column names.</a:t>
            </a:r>
            <a:endParaRPr lang="en-US" sz="1500" dirty="0"/>
          </a:p>
          <a:p>
            <a:pPr marL="177800" indent="-177800">
              <a:buSzPct val="100000"/>
              <a:buChar char="•"/>
            </a:pPr>
            <a:r>
              <a:rPr lang="en-US" sz="1500" dirty="0">
                <a:solidFill>
                  <a:srgbClr val="1A202C"/>
                </a:solidFill>
                <a:latin typeface="Aptos" pitchFamily="34" charset="0"/>
                <a:ea typeface="Aptos" pitchFamily="34" charset="-122"/>
                <a:cs typeface="Aptos" pitchFamily="34" charset="-120"/>
              </a:rPr>
              <a:t>Improving schema linking for downstream Text-to-SQL models.</a:t>
            </a:r>
            <a:endParaRPr lang="en-US" sz="1500" dirty="0"/>
          </a:p>
          <a:p>
            <a:pPr marL="177800" indent="-177800">
              <a:buSzPct val="100000"/>
              <a:buChar char="•"/>
            </a:pPr>
            <a:r>
              <a:rPr lang="en-US" sz="1500" dirty="0">
                <a:solidFill>
                  <a:srgbClr val="1A202C"/>
                </a:solidFill>
                <a:latin typeface="Aptos" pitchFamily="34" charset="0"/>
                <a:ea typeface="Aptos" pitchFamily="34" charset="-122"/>
                <a:cs typeface="Aptos" pitchFamily="34" charset="-120"/>
              </a:rPr>
              <a:t>Producing view aliases so the LLM sees cleaner SQL-facing semantics.</a:t>
            </a:r>
            <a:endParaRPr lang="en-US" sz="1500" dirty="0"/>
          </a:p>
          <a:p>
            <a:pPr marL="177800" indent="-177800">
              <a:buSzPct val="100000"/>
              <a:buChar char="•"/>
            </a:pPr>
            <a:r>
              <a:rPr lang="en-US" sz="1500" dirty="0">
                <a:solidFill>
                  <a:srgbClr val="1A202C"/>
                </a:solidFill>
                <a:latin typeface="Aptos" pitchFamily="34" charset="0"/>
                <a:ea typeface="Aptos" pitchFamily="34" charset="-122"/>
                <a:cs typeface="Aptos" pitchFamily="34" charset="-120"/>
              </a:rPr>
              <a:t>Recovering accuracy lost due to bad schema names.</a:t>
            </a:r>
            <a:endParaRPr lang="en-US" sz="1500" dirty="0"/>
          </a:p>
        </p:txBody>
      </p:sp>
      <p:sp>
        <p:nvSpPr>
          <p:cNvPr id="11" name="Text 9"/>
          <p:cNvSpPr/>
          <p:nvPr/>
        </p:nvSpPr>
        <p:spPr>
          <a:xfrm>
            <a:off x="777240" y="4343400"/>
            <a:ext cx="1828800" cy="201168"/>
          </a:xfrm>
          <a:prstGeom prst="rect">
            <a:avLst/>
          </a:prstGeom>
          <a:noFill/>
          <a:ln/>
        </p:spPr>
        <p:txBody>
          <a:bodyPr wrap="square" lIns="0" tIns="0" rIns="0" bIns="0" rtlCol="0" anchor="ctr"/>
          <a:lstStyle/>
          <a:p>
            <a:pPr marL="0" indent="0">
              <a:buNone/>
            </a:pPr>
            <a:r>
              <a:rPr lang="en-US" sz="1400" b="1" dirty="0">
                <a:solidFill>
                  <a:srgbClr val="C53030"/>
                </a:solidFill>
              </a:rPr>
              <a:t>Gap for our use case</a:t>
            </a:r>
            <a:endParaRPr lang="en-US" sz="1400" dirty="0"/>
          </a:p>
        </p:txBody>
      </p:sp>
      <p:sp>
        <p:nvSpPr>
          <p:cNvPr id="12" name="Text 10"/>
          <p:cNvSpPr/>
          <p:nvPr/>
        </p:nvSpPr>
        <p:spPr>
          <a:xfrm>
            <a:off x="777240" y="4572000"/>
            <a:ext cx="4480560" cy="457200"/>
          </a:xfrm>
          <a:prstGeom prst="rect">
            <a:avLst/>
          </a:prstGeom>
          <a:noFill/>
          <a:ln/>
        </p:spPr>
        <p:txBody>
          <a:bodyPr wrap="square" lIns="0" tIns="0" rIns="0" bIns="0" rtlCol="0" anchor="ctr"/>
          <a:lstStyle/>
          <a:p>
            <a:pPr marL="0" indent="0">
              <a:buNone/>
            </a:pPr>
            <a:r>
              <a:rPr lang="en-US" sz="1350" dirty="0">
                <a:solidFill>
                  <a:srgbClr val="1A202C"/>
                </a:solidFill>
              </a:rPr>
              <a:t>It does not define governed KPIs, audited formulas, time grains, or cross-tool metric consistency.</a:t>
            </a:r>
            <a:endParaRPr lang="en-US" sz="1350" dirty="0"/>
          </a:p>
        </p:txBody>
      </p:sp>
      <p:sp>
        <p:nvSpPr>
          <p:cNvPr id="13" name="Shape 11"/>
          <p:cNvSpPr/>
          <p:nvPr/>
        </p:nvSpPr>
        <p:spPr>
          <a:xfrm>
            <a:off x="6537960" y="1417320"/>
            <a:ext cx="1051560" cy="310896"/>
          </a:xfrm>
          <a:prstGeom prst="roundRect">
            <a:avLst>
              <a:gd name="adj" fmla="val 23529"/>
            </a:avLst>
          </a:prstGeom>
          <a:solidFill>
            <a:srgbClr val="2F855A"/>
          </a:solidFill>
          <a:ln w="12700">
            <a:solidFill>
              <a:srgbClr val="2F855A"/>
            </a:solidFill>
            <a:prstDash val="solid"/>
          </a:ln>
        </p:spPr>
        <p:txBody>
          <a:bodyPr/>
          <a:lstStyle/>
          <a:p>
            <a:endParaRPr lang="en-US"/>
          </a:p>
        </p:txBody>
      </p:sp>
      <p:sp>
        <p:nvSpPr>
          <p:cNvPr id="14" name="Text 12"/>
          <p:cNvSpPr/>
          <p:nvPr/>
        </p:nvSpPr>
        <p:spPr>
          <a:xfrm>
            <a:off x="6611112" y="1453896"/>
            <a:ext cx="905256" cy="201168"/>
          </a:xfrm>
          <a:prstGeom prst="rect">
            <a:avLst/>
          </a:prstGeom>
          <a:noFill/>
          <a:ln/>
        </p:spPr>
        <p:txBody>
          <a:bodyPr wrap="square" lIns="0" tIns="0" rIns="0" bIns="0" rtlCol="0" anchor="ctr"/>
          <a:lstStyle/>
          <a:p>
            <a:pPr marL="0" indent="0" algn="ctr">
              <a:buNone/>
            </a:pPr>
            <a:r>
              <a:rPr lang="en-US" sz="1100" b="1" dirty="0">
                <a:solidFill>
                  <a:srgbClr val="FFFFFF"/>
                </a:solidFill>
              </a:rPr>
              <a:t>Our scope</a:t>
            </a:r>
            <a:endParaRPr lang="en-US" sz="1100" dirty="0"/>
          </a:p>
        </p:txBody>
      </p:sp>
      <p:sp>
        <p:nvSpPr>
          <p:cNvPr id="15" name="Text 13"/>
          <p:cNvSpPr/>
          <p:nvPr/>
        </p:nvSpPr>
        <p:spPr>
          <a:xfrm>
            <a:off x="6537960" y="1828800"/>
            <a:ext cx="4221480" cy="283464"/>
          </a:xfrm>
          <a:prstGeom prst="rect">
            <a:avLst/>
          </a:prstGeom>
          <a:noFill/>
          <a:ln/>
        </p:spPr>
        <p:txBody>
          <a:bodyPr wrap="square" lIns="0" tIns="0" rIns="0" bIns="0" rtlCol="0" anchor="ctr"/>
          <a:lstStyle/>
          <a:p>
            <a:pPr marL="0" indent="0">
              <a:buNone/>
            </a:pPr>
            <a:r>
              <a:rPr lang="en-US" sz="2000" b="1" dirty="0">
                <a:solidFill>
                  <a:srgbClr val="102A43"/>
                </a:solidFill>
              </a:rPr>
              <a:t>Our dbt-based architecture provides</a:t>
            </a:r>
            <a:endParaRPr lang="en-US" sz="2000" dirty="0"/>
          </a:p>
        </p:txBody>
      </p:sp>
      <p:sp>
        <p:nvSpPr>
          <p:cNvPr id="16" name="Text 14"/>
          <p:cNvSpPr/>
          <p:nvPr/>
        </p:nvSpPr>
        <p:spPr>
          <a:xfrm>
            <a:off x="6537960" y="2212848"/>
            <a:ext cx="4526280" cy="1901952"/>
          </a:xfrm>
          <a:prstGeom prst="rect">
            <a:avLst/>
          </a:prstGeom>
          <a:noFill/>
          <a:ln/>
        </p:spPr>
        <p:txBody>
          <a:bodyPr wrap="square" lIns="25400" tIns="25400" rIns="25400" bIns="25400" rtlCol="0" anchor="t">
            <a:normAutofit/>
          </a:bodyPr>
          <a:lstStyle/>
          <a:p>
            <a:pPr marL="177800" indent="-177800">
              <a:buSzPct val="100000"/>
              <a:buChar char="•"/>
            </a:pPr>
            <a:r>
              <a:rPr lang="en-US" sz="1500" dirty="0">
                <a:solidFill>
                  <a:srgbClr val="1A202C"/>
                </a:solidFill>
                <a:latin typeface="Aptos" pitchFamily="34" charset="0"/>
                <a:ea typeface="Aptos" pitchFamily="34" charset="-122"/>
                <a:cs typeface="Aptos" pitchFamily="34" charset="-120"/>
              </a:rPr>
              <a:t>Human-readable staging aliases such as margin_amount_usd, status_name, and </a:t>
            </a:r>
            <a:r>
              <a:rPr lang="en-US" sz="1500" dirty="0" err="1">
                <a:solidFill>
                  <a:srgbClr val="1A202C"/>
                </a:solidFill>
                <a:latin typeface="Aptos" pitchFamily="34" charset="0"/>
                <a:ea typeface="Aptos" pitchFamily="34" charset="-122"/>
                <a:cs typeface="Aptos" pitchFamily="34" charset="-120"/>
              </a:rPr>
              <a:t>event_at</a:t>
            </a:r>
            <a:r>
              <a:rPr lang="en-US" sz="1500" dirty="0">
                <a:solidFill>
                  <a:srgbClr val="1A202C"/>
                </a:solidFill>
                <a:latin typeface="Aptos" pitchFamily="34" charset="0"/>
                <a:ea typeface="Aptos" pitchFamily="34" charset="-122"/>
                <a:cs typeface="Aptos" pitchFamily="34" charset="-120"/>
              </a:rPr>
              <a:t>.</a:t>
            </a:r>
            <a:endParaRPr lang="en-US" sz="1500" dirty="0"/>
          </a:p>
          <a:p>
            <a:pPr marL="177800" indent="-177800">
              <a:buSzPct val="100000"/>
              <a:buChar char="•"/>
            </a:pPr>
            <a:r>
              <a:rPr lang="en-US" sz="1500" dirty="0">
                <a:solidFill>
                  <a:srgbClr val="1A202C"/>
                </a:solidFill>
                <a:latin typeface="Aptos" pitchFamily="34" charset="0"/>
                <a:ea typeface="Aptos" pitchFamily="34" charset="-122"/>
                <a:cs typeface="Aptos" pitchFamily="34" charset="-120"/>
              </a:rPr>
              <a:t>Governed semantic models with entities, dimensions, measures, and metrics.</a:t>
            </a:r>
            <a:endParaRPr lang="en-US" sz="1500" dirty="0"/>
          </a:p>
          <a:p>
            <a:pPr marL="177800" indent="-177800">
              <a:buSzPct val="100000"/>
              <a:buChar char="•"/>
            </a:pPr>
            <a:r>
              <a:rPr lang="en-US" sz="1500" dirty="0">
                <a:solidFill>
                  <a:srgbClr val="1A202C"/>
                </a:solidFill>
                <a:latin typeface="Aptos" pitchFamily="34" charset="0"/>
                <a:ea typeface="Aptos" pitchFamily="34" charset="-122"/>
                <a:cs typeface="Aptos" pitchFamily="34" charset="-120"/>
              </a:rPr>
              <a:t>Central metric definitions and dynamic SQL generation through the dbt Semantic Layer.</a:t>
            </a:r>
            <a:endParaRPr lang="en-US" sz="1500" dirty="0"/>
          </a:p>
          <a:p>
            <a:pPr marL="177800" indent="-177800">
              <a:buSzPct val="100000"/>
              <a:buChar char="•"/>
            </a:pPr>
            <a:r>
              <a:rPr lang="en-US" sz="1500" dirty="0">
                <a:solidFill>
                  <a:srgbClr val="1A202C"/>
                </a:solidFill>
                <a:latin typeface="Aptos" pitchFamily="34" charset="0"/>
                <a:ea typeface="Aptos" pitchFamily="34" charset="-122"/>
                <a:cs typeface="Aptos" pitchFamily="34" charset="-120"/>
              </a:rPr>
              <a:t>Reusable business logic for BI and GenAI on the same trusted definitions.</a:t>
            </a:r>
            <a:endParaRPr lang="en-US" sz="1500" dirty="0"/>
          </a:p>
        </p:txBody>
      </p:sp>
      <p:sp>
        <p:nvSpPr>
          <p:cNvPr id="17" name="Text 15"/>
          <p:cNvSpPr/>
          <p:nvPr/>
        </p:nvSpPr>
        <p:spPr>
          <a:xfrm>
            <a:off x="6537960" y="4343400"/>
            <a:ext cx="2377440" cy="201168"/>
          </a:xfrm>
          <a:prstGeom prst="rect">
            <a:avLst/>
          </a:prstGeom>
          <a:noFill/>
          <a:ln/>
        </p:spPr>
        <p:txBody>
          <a:bodyPr wrap="square" lIns="0" tIns="0" rIns="0" bIns="0" rtlCol="0" anchor="ctr"/>
          <a:lstStyle/>
          <a:p>
            <a:pPr marL="0" indent="0">
              <a:buNone/>
            </a:pPr>
            <a:r>
              <a:rPr lang="en-US" sz="1400" b="1" dirty="0">
                <a:solidFill>
                  <a:srgbClr val="2F855A"/>
                </a:solidFill>
              </a:rPr>
              <a:t>Where the paper can still help</a:t>
            </a:r>
            <a:endParaRPr lang="en-US" sz="1400" dirty="0"/>
          </a:p>
        </p:txBody>
      </p:sp>
      <p:sp>
        <p:nvSpPr>
          <p:cNvPr id="18" name="Text 16"/>
          <p:cNvSpPr/>
          <p:nvPr/>
        </p:nvSpPr>
        <p:spPr>
          <a:xfrm>
            <a:off x="6537960" y="4709160"/>
            <a:ext cx="4480560" cy="475488"/>
          </a:xfrm>
          <a:prstGeom prst="rect">
            <a:avLst/>
          </a:prstGeom>
          <a:noFill/>
          <a:ln/>
        </p:spPr>
        <p:txBody>
          <a:bodyPr wrap="square" lIns="0" tIns="0" rIns="0" bIns="0" rtlCol="0" anchor="ctr"/>
          <a:lstStyle/>
          <a:p>
            <a:pPr marL="0" indent="0">
              <a:buNone/>
            </a:pPr>
            <a:r>
              <a:rPr lang="en-US" sz="1350" dirty="0">
                <a:solidFill>
                  <a:srgbClr val="1A202C"/>
                </a:solidFill>
              </a:rPr>
              <a:t>Optional source-onboarding assistant: detect cryptic raw names like mc_amt or st_cd and suggest clearer aliases before they enter dbt.</a:t>
            </a:r>
            <a:endParaRPr lang="en-US" sz="1350" dirty="0"/>
          </a:p>
        </p:txBody>
      </p:sp>
      <p:sp>
        <p:nvSpPr>
          <p:cNvPr id="19" name="Shape 17"/>
          <p:cNvSpPr/>
          <p:nvPr/>
        </p:nvSpPr>
        <p:spPr>
          <a:xfrm>
            <a:off x="731520" y="5897880"/>
            <a:ext cx="10927080" cy="621792"/>
          </a:xfrm>
          <a:prstGeom prst="roundRect">
            <a:avLst>
              <a:gd name="adj" fmla="val 8824"/>
            </a:avLst>
          </a:prstGeom>
          <a:solidFill>
            <a:srgbClr val="FFF8E1"/>
          </a:solidFill>
          <a:ln w="15875">
            <a:solidFill>
              <a:srgbClr val="D69E2E"/>
            </a:solidFill>
            <a:prstDash val="solid"/>
          </a:ln>
          <a:effectLst>
            <a:outerShdw blurRad="16510" dist="12700" dir="2700000" algn="bl" rotWithShape="0">
              <a:srgbClr val="000000">
                <a:alpha val="12000"/>
              </a:srgbClr>
            </a:outerShdw>
          </a:effectLst>
        </p:spPr>
        <p:txBody>
          <a:bodyPr/>
          <a:lstStyle/>
          <a:p>
            <a:endParaRPr lang="en-US"/>
          </a:p>
        </p:txBody>
      </p:sp>
      <p:sp>
        <p:nvSpPr>
          <p:cNvPr id="20" name="Text 18"/>
          <p:cNvSpPr/>
          <p:nvPr/>
        </p:nvSpPr>
        <p:spPr>
          <a:xfrm>
            <a:off x="960120" y="6099048"/>
            <a:ext cx="10469880" cy="228600"/>
          </a:xfrm>
          <a:prstGeom prst="rect">
            <a:avLst/>
          </a:prstGeom>
          <a:noFill/>
          <a:ln/>
        </p:spPr>
        <p:txBody>
          <a:bodyPr wrap="square" lIns="0" tIns="0" rIns="0" bIns="0" rtlCol="0" anchor="ctr"/>
          <a:lstStyle/>
          <a:p>
            <a:pPr marL="0" indent="0">
              <a:buNone/>
            </a:pPr>
            <a:r>
              <a:rPr lang="en-US" sz="1400" b="1" dirty="0">
                <a:solidFill>
                  <a:srgbClr val="1A202C"/>
                </a:solidFill>
              </a:rPr>
              <a:t>Recommendation: reference this paper as supporting evidence for schema cleanup, but keep our core architecture anchored on dbt semantic governance. Use it only if raw source schemas are too ambiguous for efficient onboarding.</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6949440" cy="502920"/>
          </a:xfrm>
          <a:prstGeom prst="rect">
            <a:avLst/>
          </a:prstGeom>
          <a:noFill/>
          <a:ln/>
        </p:spPr>
        <p:txBody>
          <a:bodyPr wrap="square" lIns="0" tIns="0" rIns="0" bIns="0" rtlCol="0" anchor="ctr"/>
          <a:lstStyle/>
          <a:p>
            <a:pPr marL="0" indent="0">
              <a:buNone/>
            </a:pPr>
            <a:r>
              <a:rPr lang="en-US" sz="2600" b="1" dirty="0">
                <a:solidFill>
                  <a:srgbClr val="F8FAFC"/>
                </a:solidFill>
                <a:latin typeface="Aptos Display" pitchFamily="34" charset="0"/>
                <a:ea typeface="Aptos Display" pitchFamily="34" charset="-122"/>
                <a:cs typeface="Aptos Display" pitchFamily="34" charset="-120"/>
              </a:rPr>
              <a:t>Paper summary: Querying Databases with Function Calling</a:t>
            </a:r>
            <a:endParaRPr lang="en-US" sz="2600" dirty="0"/>
          </a:p>
        </p:txBody>
      </p:sp>
      <p:sp>
        <p:nvSpPr>
          <p:cNvPr id="3" name="Text 1"/>
          <p:cNvSpPr/>
          <p:nvPr/>
        </p:nvSpPr>
        <p:spPr>
          <a:xfrm>
            <a:off x="521208" y="896112"/>
            <a:ext cx="6583680" cy="256032"/>
          </a:xfrm>
          <a:prstGeom prst="rect">
            <a:avLst/>
          </a:prstGeom>
          <a:noFill/>
          <a:ln/>
        </p:spPr>
        <p:txBody>
          <a:bodyPr wrap="square" lIns="0" tIns="0" rIns="0" bIns="0" rtlCol="0" anchor="ctr"/>
          <a:lstStyle/>
          <a:p>
            <a:pPr marL="0" indent="0">
              <a:buNone/>
            </a:pPr>
            <a:r>
              <a:rPr lang="en-US" sz="1100" dirty="0">
                <a:solidFill>
                  <a:srgbClr val="94A3B8"/>
                </a:solidFill>
                <a:latin typeface="Aptos" pitchFamily="34" charset="0"/>
                <a:ea typeface="Aptos" pitchFamily="34" charset="-122"/>
                <a:cs typeface="Aptos" pitchFamily="34" charset="-120"/>
              </a:rPr>
              <a:t>Why it matters — and why it does not replace dbt semantics</a:t>
            </a:r>
            <a:endParaRPr lang="en-US" sz="1100" dirty="0"/>
          </a:p>
        </p:txBody>
      </p:sp>
      <p:sp>
        <p:nvSpPr>
          <p:cNvPr id="4" name="Text 2"/>
          <p:cNvSpPr/>
          <p:nvPr/>
        </p:nvSpPr>
        <p:spPr>
          <a:xfrm>
            <a:off x="804672" y="1600200"/>
            <a:ext cx="3108960" cy="256032"/>
          </a:xfrm>
          <a:prstGeom prst="rect">
            <a:avLst/>
          </a:prstGeom>
          <a:noFill/>
          <a:ln/>
        </p:spPr>
        <p:txBody>
          <a:bodyPr wrap="square" lIns="0" tIns="0" rIns="0" bIns="0" rtlCol="0" anchor="ctr"/>
          <a:lstStyle/>
          <a:p>
            <a:pPr marL="0" indent="0">
              <a:buNone/>
            </a:pPr>
            <a:r>
              <a:rPr lang="en-US" sz="1800" b="1" dirty="0">
                <a:solidFill>
                  <a:srgbClr val="49C6E5"/>
                </a:solidFill>
              </a:rPr>
              <a:t>What the paper proposes</a:t>
            </a:r>
            <a:endParaRPr lang="en-US" sz="1800" dirty="0"/>
          </a:p>
        </p:txBody>
      </p:sp>
      <p:sp>
        <p:nvSpPr>
          <p:cNvPr id="5" name="Shape 3"/>
          <p:cNvSpPr/>
          <p:nvPr/>
        </p:nvSpPr>
        <p:spPr>
          <a:xfrm>
            <a:off x="822960" y="2039112"/>
            <a:ext cx="100584" cy="100584"/>
          </a:xfrm>
          <a:prstGeom prst="ellipse">
            <a:avLst/>
          </a:prstGeom>
          <a:solidFill>
            <a:srgbClr val="49C6E5"/>
          </a:solidFill>
          <a:ln w="12700">
            <a:solidFill>
              <a:srgbClr val="49C6E5"/>
            </a:solidFill>
            <a:prstDash val="solid"/>
          </a:ln>
        </p:spPr>
        <p:txBody>
          <a:bodyPr/>
          <a:lstStyle/>
          <a:p>
            <a:endParaRPr lang="en-US"/>
          </a:p>
        </p:txBody>
      </p:sp>
      <p:sp>
        <p:nvSpPr>
          <p:cNvPr id="6" name="Text 4"/>
          <p:cNvSpPr/>
          <p:nvPr/>
        </p:nvSpPr>
        <p:spPr>
          <a:xfrm>
            <a:off x="1005840" y="1965960"/>
            <a:ext cx="4206240" cy="502920"/>
          </a:xfrm>
          <a:prstGeom prst="rect">
            <a:avLst/>
          </a:prstGeom>
          <a:noFill/>
          <a:ln/>
        </p:spPr>
        <p:txBody>
          <a:bodyPr wrap="square" lIns="0" tIns="0" rIns="0" bIns="0" rtlCol="0" anchor="ctr"/>
          <a:lstStyle/>
          <a:p>
            <a:pPr marL="0" indent="0">
              <a:buNone/>
            </a:pPr>
            <a:r>
              <a:rPr lang="en-US" sz="1600" dirty="0">
                <a:solidFill>
                  <a:srgbClr val="F8FAFC"/>
                </a:solidFill>
              </a:rPr>
              <a:t>Use structured function calls instead of raw SQL text generation.</a:t>
            </a:r>
            <a:endParaRPr lang="en-US" sz="1600" dirty="0"/>
          </a:p>
        </p:txBody>
      </p:sp>
      <p:sp>
        <p:nvSpPr>
          <p:cNvPr id="7" name="Shape 5"/>
          <p:cNvSpPr/>
          <p:nvPr/>
        </p:nvSpPr>
        <p:spPr>
          <a:xfrm>
            <a:off x="822960" y="2679192"/>
            <a:ext cx="100584" cy="100584"/>
          </a:xfrm>
          <a:prstGeom prst="ellipse">
            <a:avLst/>
          </a:prstGeom>
          <a:solidFill>
            <a:srgbClr val="49C6E5"/>
          </a:solidFill>
          <a:ln w="12700">
            <a:solidFill>
              <a:srgbClr val="49C6E5"/>
            </a:solidFill>
            <a:prstDash val="solid"/>
          </a:ln>
        </p:spPr>
        <p:txBody>
          <a:bodyPr/>
          <a:lstStyle/>
          <a:p>
            <a:endParaRPr lang="en-US"/>
          </a:p>
        </p:txBody>
      </p:sp>
      <p:sp>
        <p:nvSpPr>
          <p:cNvPr id="8" name="Text 6"/>
          <p:cNvSpPr/>
          <p:nvPr/>
        </p:nvSpPr>
        <p:spPr>
          <a:xfrm>
            <a:off x="1005840" y="2606040"/>
            <a:ext cx="4206240" cy="502920"/>
          </a:xfrm>
          <a:prstGeom prst="rect">
            <a:avLst/>
          </a:prstGeom>
          <a:noFill/>
          <a:ln/>
        </p:spPr>
        <p:txBody>
          <a:bodyPr wrap="square" lIns="0" tIns="0" rIns="0" bIns="0" rtlCol="0" anchor="ctr"/>
          <a:lstStyle/>
          <a:p>
            <a:pPr marL="0" indent="0">
              <a:buNone/>
            </a:pPr>
            <a:r>
              <a:rPr lang="en-US" sz="1600" dirty="0">
                <a:solidFill>
                  <a:srgbClr val="F8FAFC"/>
                </a:solidFill>
              </a:rPr>
              <a:t>One query tool can unify search, filters, aggregation, group-by, and collection routing.</a:t>
            </a:r>
            <a:endParaRPr lang="en-US" sz="1600" dirty="0"/>
          </a:p>
        </p:txBody>
      </p:sp>
      <p:sp>
        <p:nvSpPr>
          <p:cNvPr id="9" name="Shape 7"/>
          <p:cNvSpPr/>
          <p:nvPr/>
        </p:nvSpPr>
        <p:spPr>
          <a:xfrm>
            <a:off x="822960" y="3319272"/>
            <a:ext cx="100584" cy="100584"/>
          </a:xfrm>
          <a:prstGeom prst="ellipse">
            <a:avLst/>
          </a:prstGeom>
          <a:solidFill>
            <a:srgbClr val="49C6E5"/>
          </a:solidFill>
          <a:ln w="12700">
            <a:solidFill>
              <a:srgbClr val="49C6E5"/>
            </a:solidFill>
            <a:prstDash val="solid"/>
          </a:ln>
        </p:spPr>
        <p:txBody>
          <a:bodyPr/>
          <a:lstStyle/>
          <a:p>
            <a:endParaRPr lang="en-US"/>
          </a:p>
        </p:txBody>
      </p:sp>
      <p:sp>
        <p:nvSpPr>
          <p:cNvPr id="10" name="Text 8"/>
          <p:cNvSpPr/>
          <p:nvPr/>
        </p:nvSpPr>
        <p:spPr>
          <a:xfrm>
            <a:off x="1005840" y="3246120"/>
            <a:ext cx="4206240" cy="502920"/>
          </a:xfrm>
          <a:prstGeom prst="rect">
            <a:avLst/>
          </a:prstGeom>
          <a:noFill/>
          <a:ln/>
        </p:spPr>
        <p:txBody>
          <a:bodyPr wrap="square" lIns="0" tIns="0" rIns="0" bIns="0" rtlCol="0" anchor="ctr"/>
          <a:lstStyle/>
          <a:p>
            <a:pPr marL="0" indent="0">
              <a:buNone/>
            </a:pPr>
            <a:r>
              <a:rPr lang="en-US" sz="1600" dirty="0">
                <a:solidFill>
                  <a:srgbClr val="F8FAFC"/>
                </a:solidFill>
              </a:rPr>
              <a:t>This makes the LLM an orchestrator of database operations rather than a free-form SQL writer.</a:t>
            </a:r>
            <a:endParaRPr lang="en-US" sz="1600" dirty="0"/>
          </a:p>
        </p:txBody>
      </p:sp>
      <p:sp>
        <p:nvSpPr>
          <p:cNvPr id="11" name="Text 9"/>
          <p:cNvSpPr/>
          <p:nvPr/>
        </p:nvSpPr>
        <p:spPr>
          <a:xfrm>
            <a:off x="804672" y="4069080"/>
            <a:ext cx="3108960" cy="256032"/>
          </a:xfrm>
          <a:prstGeom prst="rect">
            <a:avLst/>
          </a:prstGeom>
          <a:noFill/>
          <a:ln/>
        </p:spPr>
        <p:txBody>
          <a:bodyPr wrap="square" lIns="0" tIns="0" rIns="0" bIns="0" rtlCol="0" anchor="ctr"/>
          <a:lstStyle/>
          <a:p>
            <a:pPr marL="0" indent="0">
              <a:buNone/>
            </a:pPr>
            <a:r>
              <a:rPr lang="en-US" sz="1800" b="1" dirty="0">
                <a:solidFill>
                  <a:srgbClr val="49C6E5"/>
                </a:solidFill>
              </a:rPr>
              <a:t>What the results show</a:t>
            </a:r>
            <a:endParaRPr lang="en-US" sz="1800" dirty="0"/>
          </a:p>
        </p:txBody>
      </p:sp>
      <p:sp>
        <p:nvSpPr>
          <p:cNvPr id="12" name="Shape 10"/>
          <p:cNvSpPr/>
          <p:nvPr/>
        </p:nvSpPr>
        <p:spPr>
          <a:xfrm>
            <a:off x="822960" y="4489704"/>
            <a:ext cx="100584" cy="100584"/>
          </a:xfrm>
          <a:prstGeom prst="ellipse">
            <a:avLst/>
          </a:prstGeom>
          <a:solidFill>
            <a:srgbClr val="22C55E"/>
          </a:solidFill>
          <a:ln w="12700">
            <a:solidFill>
              <a:srgbClr val="22C55E"/>
            </a:solidFill>
            <a:prstDash val="solid"/>
          </a:ln>
        </p:spPr>
        <p:txBody>
          <a:bodyPr/>
          <a:lstStyle/>
          <a:p>
            <a:endParaRPr lang="en-US"/>
          </a:p>
        </p:txBody>
      </p:sp>
      <p:sp>
        <p:nvSpPr>
          <p:cNvPr id="13" name="Text 11"/>
          <p:cNvSpPr/>
          <p:nvPr/>
        </p:nvSpPr>
        <p:spPr>
          <a:xfrm>
            <a:off x="1005840" y="4416552"/>
            <a:ext cx="4206240" cy="502920"/>
          </a:xfrm>
          <a:prstGeom prst="rect">
            <a:avLst/>
          </a:prstGeom>
          <a:noFill/>
          <a:ln/>
        </p:spPr>
        <p:txBody>
          <a:bodyPr wrap="square" lIns="0" tIns="0" rIns="0" bIns="0" rtlCol="0" anchor="ctr"/>
          <a:lstStyle/>
          <a:p>
            <a:pPr marL="0" indent="0">
              <a:buNone/>
            </a:pPr>
            <a:r>
              <a:rPr lang="en-US" sz="1600" dirty="0">
                <a:solidFill>
                  <a:srgbClr val="F8FAFC"/>
                </a:solidFill>
              </a:rPr>
              <a:t>Strong closed models perform well on the paper’s synthetic benchmark.</a:t>
            </a:r>
            <a:endParaRPr lang="en-US" sz="1600" dirty="0"/>
          </a:p>
        </p:txBody>
      </p:sp>
      <p:sp>
        <p:nvSpPr>
          <p:cNvPr id="14" name="Shape 12"/>
          <p:cNvSpPr/>
          <p:nvPr/>
        </p:nvSpPr>
        <p:spPr>
          <a:xfrm>
            <a:off x="822960" y="5129784"/>
            <a:ext cx="100584" cy="100584"/>
          </a:xfrm>
          <a:prstGeom prst="ellipse">
            <a:avLst/>
          </a:prstGeom>
          <a:solidFill>
            <a:srgbClr val="22C55E"/>
          </a:solidFill>
          <a:ln w="12700">
            <a:solidFill>
              <a:srgbClr val="22C55E"/>
            </a:solidFill>
            <a:prstDash val="solid"/>
          </a:ln>
        </p:spPr>
        <p:txBody>
          <a:bodyPr/>
          <a:lstStyle/>
          <a:p>
            <a:endParaRPr lang="en-US"/>
          </a:p>
        </p:txBody>
      </p:sp>
      <p:sp>
        <p:nvSpPr>
          <p:cNvPr id="15" name="Text 13"/>
          <p:cNvSpPr/>
          <p:nvPr/>
        </p:nvSpPr>
        <p:spPr>
          <a:xfrm>
            <a:off x="1005840" y="5056632"/>
            <a:ext cx="4206240" cy="502920"/>
          </a:xfrm>
          <a:prstGeom prst="rect">
            <a:avLst/>
          </a:prstGeom>
          <a:noFill/>
          <a:ln/>
        </p:spPr>
        <p:txBody>
          <a:bodyPr wrap="square" lIns="0" tIns="0" rIns="0" bIns="0" rtlCol="0" anchor="ctr"/>
          <a:lstStyle/>
          <a:p>
            <a:pPr marL="0" indent="0">
              <a:buNone/>
            </a:pPr>
            <a:r>
              <a:rPr lang="en-US" sz="1600" dirty="0">
                <a:solidFill>
                  <a:srgbClr val="F8FAFC"/>
                </a:solidFill>
              </a:rPr>
              <a:t>The bigger value for us is the interface design and the evaluation method — not replacing semantic modeling.</a:t>
            </a:r>
            <a:endParaRPr lang="en-US" sz="1600" dirty="0"/>
          </a:p>
        </p:txBody>
      </p:sp>
      <p:sp>
        <p:nvSpPr>
          <p:cNvPr id="16" name="Shape 14"/>
          <p:cNvSpPr/>
          <p:nvPr/>
        </p:nvSpPr>
        <p:spPr>
          <a:xfrm>
            <a:off x="822960" y="5769864"/>
            <a:ext cx="100584" cy="100584"/>
          </a:xfrm>
          <a:prstGeom prst="ellipse">
            <a:avLst/>
          </a:prstGeom>
          <a:solidFill>
            <a:srgbClr val="22C55E"/>
          </a:solidFill>
          <a:ln w="12700">
            <a:solidFill>
              <a:srgbClr val="22C55E"/>
            </a:solidFill>
            <a:prstDash val="solid"/>
          </a:ln>
        </p:spPr>
        <p:txBody>
          <a:bodyPr/>
          <a:lstStyle/>
          <a:p>
            <a:endParaRPr lang="en-US"/>
          </a:p>
        </p:txBody>
      </p:sp>
      <p:sp>
        <p:nvSpPr>
          <p:cNvPr id="17" name="Text 15"/>
          <p:cNvSpPr/>
          <p:nvPr/>
        </p:nvSpPr>
        <p:spPr>
          <a:xfrm>
            <a:off x="1005840" y="5696712"/>
            <a:ext cx="4206240" cy="502920"/>
          </a:xfrm>
          <a:prstGeom prst="rect">
            <a:avLst/>
          </a:prstGeom>
          <a:noFill/>
          <a:ln/>
        </p:spPr>
        <p:txBody>
          <a:bodyPr wrap="square" lIns="0" tIns="0" rIns="0" bIns="0" rtlCol="0" anchor="ctr"/>
          <a:lstStyle/>
          <a:p>
            <a:pPr marL="0" indent="0">
              <a:buNone/>
            </a:pPr>
            <a:r>
              <a:rPr lang="en-US" sz="1600" dirty="0">
                <a:solidFill>
                  <a:srgbClr val="F8FAFC"/>
                </a:solidFill>
              </a:rPr>
              <a:t>The benchmark is useful, but it is not a financial KPI correctness benchmark.</a:t>
            </a:r>
            <a:endParaRPr lang="en-US" sz="1600" dirty="0"/>
          </a:p>
        </p:txBody>
      </p:sp>
      <p:sp>
        <p:nvSpPr>
          <p:cNvPr id="18" name="Shape 16"/>
          <p:cNvSpPr/>
          <p:nvPr/>
        </p:nvSpPr>
        <p:spPr>
          <a:xfrm>
            <a:off x="5897880" y="1325880"/>
            <a:ext cx="5760720" cy="4800600"/>
          </a:xfrm>
          <a:prstGeom prst="roundRect">
            <a:avLst>
              <a:gd name="adj" fmla="val 2286"/>
            </a:avLst>
          </a:prstGeom>
          <a:solidFill>
            <a:srgbClr val="0F172A"/>
          </a:solidFill>
          <a:ln w="12700">
            <a:solidFill>
              <a:srgbClr val="334155"/>
            </a:solidFill>
            <a:prstDash val="solid"/>
          </a:ln>
        </p:spPr>
        <p:txBody>
          <a:bodyPr/>
          <a:lstStyle/>
          <a:p>
            <a:endParaRPr lang="en-US"/>
          </a:p>
        </p:txBody>
      </p:sp>
      <p:sp>
        <p:nvSpPr>
          <p:cNvPr id="19" name="Text 17"/>
          <p:cNvSpPr/>
          <p:nvPr/>
        </p:nvSpPr>
        <p:spPr>
          <a:xfrm>
            <a:off x="6217920" y="1591056"/>
            <a:ext cx="3200400" cy="256032"/>
          </a:xfrm>
          <a:prstGeom prst="rect">
            <a:avLst/>
          </a:prstGeom>
          <a:noFill/>
          <a:ln/>
        </p:spPr>
        <p:txBody>
          <a:bodyPr wrap="square" lIns="0" tIns="0" rIns="0" bIns="0" rtlCol="0" anchor="ctr"/>
          <a:lstStyle/>
          <a:p>
            <a:pPr marL="0" indent="0">
              <a:buNone/>
            </a:pPr>
            <a:r>
              <a:rPr lang="en-US" sz="1800" b="1" dirty="0">
                <a:solidFill>
                  <a:srgbClr val="F8FAFC"/>
                </a:solidFill>
              </a:rPr>
              <a:t>Exact Match on DBGorilla</a:t>
            </a:r>
            <a:endParaRPr lang="en-US" sz="1800" dirty="0"/>
          </a:p>
        </p:txBody>
      </p:sp>
      <p:sp>
        <p:nvSpPr>
          <p:cNvPr id="20" name="Text 18"/>
          <p:cNvSpPr/>
          <p:nvPr/>
        </p:nvSpPr>
        <p:spPr>
          <a:xfrm>
            <a:off x="6236208" y="1874520"/>
            <a:ext cx="3566160" cy="201168"/>
          </a:xfrm>
          <a:prstGeom prst="rect">
            <a:avLst/>
          </a:prstGeom>
          <a:noFill/>
          <a:ln/>
        </p:spPr>
        <p:txBody>
          <a:bodyPr wrap="square" lIns="0" tIns="0" rIns="0" bIns="0" rtlCol="0" anchor="ctr"/>
          <a:lstStyle/>
          <a:p>
            <a:pPr marL="0" indent="0">
              <a:buNone/>
            </a:pPr>
            <a:r>
              <a:rPr lang="en-US" sz="1100" dirty="0">
                <a:solidFill>
                  <a:srgbClr val="94A3B8"/>
                </a:solidFill>
              </a:rPr>
              <a:t>The paper reports the following top-model results:</a:t>
            </a:r>
            <a:endParaRPr lang="en-US" sz="1100" dirty="0"/>
          </a:p>
        </p:txBody>
      </p:sp>
      <p:graphicFrame>
        <p:nvGraphicFramePr>
          <p:cNvPr id="21" name="Chart 0"/>
          <p:cNvGraphicFramePr/>
          <p:nvPr/>
        </p:nvGraphicFramePr>
        <p:xfrm>
          <a:off x="6263640" y="2148840"/>
          <a:ext cx="493776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22" name="Shape 19"/>
          <p:cNvSpPr/>
          <p:nvPr/>
        </p:nvSpPr>
        <p:spPr>
          <a:xfrm>
            <a:off x="6245352" y="4736592"/>
            <a:ext cx="4956048" cy="960120"/>
          </a:xfrm>
          <a:prstGeom prst="roundRect">
            <a:avLst>
              <a:gd name="adj" fmla="val 8571"/>
            </a:avLst>
          </a:prstGeom>
          <a:solidFill>
            <a:srgbClr val="0E2233"/>
          </a:solidFill>
          <a:ln w="12700">
            <a:solidFill>
              <a:srgbClr val="174B61"/>
            </a:solidFill>
            <a:prstDash val="solid"/>
          </a:ln>
        </p:spPr>
        <p:txBody>
          <a:bodyPr/>
          <a:lstStyle/>
          <a:p>
            <a:endParaRPr lang="en-US"/>
          </a:p>
        </p:txBody>
      </p:sp>
      <p:sp>
        <p:nvSpPr>
          <p:cNvPr id="23" name="Text 20"/>
          <p:cNvSpPr/>
          <p:nvPr/>
        </p:nvSpPr>
        <p:spPr>
          <a:xfrm>
            <a:off x="6473952" y="4956048"/>
            <a:ext cx="1828800" cy="182880"/>
          </a:xfrm>
          <a:prstGeom prst="rect">
            <a:avLst/>
          </a:prstGeom>
          <a:noFill/>
          <a:ln/>
        </p:spPr>
        <p:txBody>
          <a:bodyPr wrap="square" lIns="0" tIns="0" rIns="0" bIns="0" rtlCol="0" anchor="ctr"/>
          <a:lstStyle/>
          <a:p>
            <a:pPr marL="0" indent="0">
              <a:buNone/>
            </a:pPr>
            <a:r>
              <a:rPr lang="en-US" sz="1300" b="1" dirty="0">
                <a:solidFill>
                  <a:srgbClr val="A5F3FC"/>
                </a:solidFill>
              </a:rPr>
              <a:t>Bottom line for us</a:t>
            </a:r>
            <a:endParaRPr lang="en-US" sz="1300" dirty="0"/>
          </a:p>
        </p:txBody>
      </p:sp>
      <p:sp>
        <p:nvSpPr>
          <p:cNvPr id="24" name="Text 21"/>
          <p:cNvSpPr/>
          <p:nvPr/>
        </p:nvSpPr>
        <p:spPr>
          <a:xfrm>
            <a:off x="6473952" y="5166360"/>
            <a:ext cx="4641088" cy="530352"/>
          </a:xfrm>
          <a:prstGeom prst="rect">
            <a:avLst/>
          </a:prstGeom>
          <a:noFill/>
          <a:ln/>
        </p:spPr>
        <p:txBody>
          <a:bodyPr wrap="square" lIns="0" tIns="0" rIns="0" bIns="0" rtlCol="0" anchor="ctr"/>
          <a:lstStyle/>
          <a:p>
            <a:pPr marL="0" indent="0">
              <a:buNone/>
            </a:pPr>
            <a:r>
              <a:rPr lang="en-US" sz="1500" dirty="0">
                <a:solidFill>
                  <a:srgbClr val="F8FAFC"/>
                </a:solidFill>
              </a:rPr>
              <a:t>Keep dbt as the semantic source of truth. Borrow this paper for the tool interface and its evaluation discipline.</a:t>
            </a:r>
            <a:endParaRPr lang="en-US" sz="1500" dirty="0"/>
          </a:p>
        </p:txBody>
      </p:sp>
      <p:sp>
        <p:nvSpPr>
          <p:cNvPr id="26" name="TextBox 25">
            <a:extLst>
              <a:ext uri="{FF2B5EF4-FFF2-40B4-BE49-F238E27FC236}">
                <a16:creationId xmlns:a16="http://schemas.microsoft.com/office/drawing/2014/main" id="{08B0C501-034E-021C-0000-5956C2AD086F}"/>
              </a:ext>
            </a:extLst>
          </p:cNvPr>
          <p:cNvSpPr txBox="1"/>
          <p:nvPr/>
        </p:nvSpPr>
        <p:spPr>
          <a:xfrm>
            <a:off x="873252" y="1018770"/>
            <a:ext cx="6106160" cy="369332"/>
          </a:xfrm>
          <a:prstGeom prst="rect">
            <a:avLst/>
          </a:prstGeom>
          <a:noFill/>
        </p:spPr>
        <p:txBody>
          <a:bodyPr wrap="square">
            <a:spAutoFit/>
          </a:bodyPr>
          <a:lstStyle/>
          <a:p>
            <a:r>
              <a:rPr lang="en-US" dirty="0">
                <a:highlight>
                  <a:srgbClr val="00FF00"/>
                </a:highlight>
              </a:rPr>
              <a:t>https://</a:t>
            </a:r>
            <a:r>
              <a:rPr lang="en-US" dirty="0" err="1">
                <a:highlight>
                  <a:srgbClr val="00FF00"/>
                </a:highlight>
              </a:rPr>
              <a:t>openreview.net</a:t>
            </a:r>
            <a:r>
              <a:rPr lang="en-US" dirty="0">
                <a:highlight>
                  <a:srgbClr val="00FF00"/>
                </a:highlight>
              </a:rPr>
              <a:t>/</a:t>
            </a:r>
            <a:r>
              <a:rPr lang="en-US" dirty="0" err="1">
                <a:highlight>
                  <a:srgbClr val="00FF00"/>
                </a:highlight>
              </a:rPr>
              <a:t>forum?id</a:t>
            </a:r>
            <a:r>
              <a:rPr lang="en-US" dirty="0">
                <a:highlight>
                  <a:srgbClr val="00FF00"/>
                </a:highlight>
              </a:rPr>
              <a:t>=</a:t>
            </a:r>
            <a:r>
              <a:rPr lang="en-US" dirty="0" err="1">
                <a:highlight>
                  <a:srgbClr val="00FF00"/>
                </a:highlight>
              </a:rPr>
              <a:t>CVYUcrHKCE</a:t>
            </a:r>
            <a:endParaRPr lang="en-US" dirty="0">
              <a:highlight>
                <a:srgbClr val="00FF00"/>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84048"/>
            <a:ext cx="6949440" cy="502920"/>
          </a:xfrm>
          <a:prstGeom prst="rect">
            <a:avLst/>
          </a:prstGeom>
          <a:noFill/>
          <a:ln/>
        </p:spPr>
        <p:txBody>
          <a:bodyPr wrap="square" lIns="0" tIns="0" rIns="0" bIns="0" rtlCol="0" anchor="ctr"/>
          <a:lstStyle/>
          <a:p>
            <a:pPr marL="0" indent="0">
              <a:buNone/>
            </a:pPr>
            <a:r>
              <a:rPr lang="en-US" sz="2600" b="1" dirty="0">
                <a:solidFill>
                  <a:srgbClr val="F8FAFC"/>
                </a:solidFill>
                <a:latin typeface="Aptos Display" pitchFamily="34" charset="0"/>
                <a:ea typeface="Aptos Display" pitchFamily="34" charset="-122"/>
                <a:cs typeface="Aptos Display" pitchFamily="34" charset="-120"/>
              </a:rPr>
              <a:t>Recommended path: thin semantics first, then tool calling + evals</a:t>
            </a:r>
            <a:endParaRPr lang="en-US" sz="2600" dirty="0"/>
          </a:p>
        </p:txBody>
      </p:sp>
      <p:sp>
        <p:nvSpPr>
          <p:cNvPr id="3" name="Text 1"/>
          <p:cNvSpPr/>
          <p:nvPr/>
        </p:nvSpPr>
        <p:spPr>
          <a:xfrm>
            <a:off x="521208" y="896112"/>
            <a:ext cx="6583680" cy="256032"/>
          </a:xfrm>
          <a:prstGeom prst="rect">
            <a:avLst/>
          </a:prstGeom>
          <a:noFill/>
          <a:ln/>
        </p:spPr>
        <p:txBody>
          <a:bodyPr wrap="square" lIns="0" tIns="0" rIns="0" bIns="0" rtlCol="0" anchor="ctr"/>
          <a:lstStyle/>
          <a:p>
            <a:pPr marL="0" indent="0">
              <a:buNone/>
            </a:pPr>
            <a:r>
              <a:rPr lang="en-US" sz="1100" dirty="0">
                <a:solidFill>
                  <a:srgbClr val="94A3B8"/>
                </a:solidFill>
                <a:latin typeface="Aptos" pitchFamily="34" charset="0"/>
                <a:ea typeface="Aptos" pitchFamily="34" charset="-122"/>
                <a:cs typeface="Aptos" pitchFamily="34" charset="-120"/>
              </a:rPr>
              <a:t>Manager recommendation for Phase 1 and the immediate next steps</a:t>
            </a:r>
            <a:endParaRPr lang="en-US" sz="1100" dirty="0"/>
          </a:p>
        </p:txBody>
      </p:sp>
      <p:sp>
        <p:nvSpPr>
          <p:cNvPr id="4" name="Shape 2"/>
          <p:cNvSpPr/>
          <p:nvPr/>
        </p:nvSpPr>
        <p:spPr>
          <a:xfrm>
            <a:off x="530352" y="1325880"/>
            <a:ext cx="6629400" cy="4983480"/>
          </a:xfrm>
          <a:prstGeom prst="roundRect">
            <a:avLst>
              <a:gd name="adj" fmla="val 2202"/>
            </a:avLst>
          </a:prstGeom>
          <a:solidFill>
            <a:srgbClr val="111827"/>
          </a:solidFill>
          <a:ln w="12700">
            <a:solidFill>
              <a:srgbClr val="334155"/>
            </a:solidFill>
            <a:prstDash val="solid"/>
          </a:ln>
        </p:spPr>
        <p:txBody>
          <a:bodyPr/>
          <a:lstStyle/>
          <a:p>
            <a:endParaRPr lang="en-US"/>
          </a:p>
        </p:txBody>
      </p:sp>
      <p:sp>
        <p:nvSpPr>
          <p:cNvPr id="5" name="Text 3"/>
          <p:cNvSpPr/>
          <p:nvPr/>
        </p:nvSpPr>
        <p:spPr>
          <a:xfrm>
            <a:off x="822960" y="1609344"/>
            <a:ext cx="2194560" cy="256032"/>
          </a:xfrm>
          <a:prstGeom prst="rect">
            <a:avLst/>
          </a:prstGeom>
          <a:noFill/>
          <a:ln/>
        </p:spPr>
        <p:txBody>
          <a:bodyPr wrap="square" lIns="0" tIns="0" rIns="0" bIns="0" rtlCol="0" anchor="ctr"/>
          <a:lstStyle/>
          <a:p>
            <a:pPr marL="0" indent="0">
              <a:buNone/>
            </a:pPr>
            <a:r>
              <a:rPr lang="en-US" sz="1800" b="1" dirty="0">
                <a:solidFill>
                  <a:srgbClr val="F8FAFC"/>
                </a:solidFill>
              </a:rPr>
              <a:t>Suggested rollout</a:t>
            </a:r>
            <a:endParaRPr lang="en-US" sz="1800" dirty="0"/>
          </a:p>
        </p:txBody>
      </p:sp>
      <p:sp>
        <p:nvSpPr>
          <p:cNvPr id="6" name="Shape 4"/>
          <p:cNvSpPr/>
          <p:nvPr/>
        </p:nvSpPr>
        <p:spPr>
          <a:xfrm>
            <a:off x="1005840" y="1993392"/>
            <a:ext cx="5623560" cy="822960"/>
          </a:xfrm>
          <a:prstGeom prst="roundRect">
            <a:avLst>
              <a:gd name="adj" fmla="val 8889"/>
            </a:avLst>
          </a:prstGeom>
          <a:solidFill>
            <a:srgbClr val="0F766E"/>
          </a:solidFill>
          <a:ln w="12700">
            <a:solidFill>
              <a:srgbClr val="0F766E"/>
            </a:solidFill>
            <a:prstDash val="solid"/>
          </a:ln>
        </p:spPr>
        <p:txBody>
          <a:bodyPr/>
          <a:lstStyle/>
          <a:p>
            <a:endParaRPr lang="en-US"/>
          </a:p>
        </p:txBody>
      </p:sp>
      <p:sp>
        <p:nvSpPr>
          <p:cNvPr id="7" name="Text 5"/>
          <p:cNvSpPr/>
          <p:nvPr/>
        </p:nvSpPr>
        <p:spPr>
          <a:xfrm>
            <a:off x="1234440" y="2139696"/>
            <a:ext cx="3291840" cy="201168"/>
          </a:xfrm>
          <a:prstGeom prst="rect">
            <a:avLst/>
          </a:prstGeom>
          <a:noFill/>
          <a:ln/>
        </p:spPr>
        <p:txBody>
          <a:bodyPr wrap="square" lIns="0" tIns="0" rIns="0" bIns="0" rtlCol="0" anchor="ctr"/>
          <a:lstStyle/>
          <a:p>
            <a:pPr marL="0" indent="0">
              <a:buNone/>
            </a:pPr>
            <a:r>
              <a:rPr lang="en-US" sz="1600" b="1" dirty="0">
                <a:solidFill>
                  <a:srgbClr val="FFFFFF"/>
                </a:solidFill>
              </a:rPr>
              <a:t>Phase 1A — Semantic foundation</a:t>
            </a:r>
            <a:endParaRPr lang="en-US" sz="1600" dirty="0"/>
          </a:p>
        </p:txBody>
      </p:sp>
      <p:sp>
        <p:nvSpPr>
          <p:cNvPr id="8" name="Text 6"/>
          <p:cNvSpPr/>
          <p:nvPr/>
        </p:nvSpPr>
        <p:spPr>
          <a:xfrm>
            <a:off x="1234440" y="2368296"/>
            <a:ext cx="5074920" cy="256032"/>
          </a:xfrm>
          <a:prstGeom prst="rect">
            <a:avLst/>
          </a:prstGeom>
          <a:noFill/>
          <a:ln/>
        </p:spPr>
        <p:txBody>
          <a:bodyPr wrap="square" lIns="0" tIns="0" rIns="0" bIns="0" rtlCol="0" anchor="ctr"/>
          <a:lstStyle/>
          <a:p>
            <a:pPr marL="0" indent="0">
              <a:buNone/>
            </a:pPr>
            <a:r>
              <a:rPr lang="en-US" sz="1250" dirty="0">
                <a:solidFill>
                  <a:srgbClr val="F8FAFC"/>
                </a:solidFill>
              </a:rPr>
              <a:t>Canonical names, status mapping, time fields, 2–3 governed KPIs, dbt tests, and a clean source-to-mart path.</a:t>
            </a:r>
            <a:endParaRPr lang="en-US" sz="1250" dirty="0"/>
          </a:p>
        </p:txBody>
      </p:sp>
      <p:sp>
        <p:nvSpPr>
          <p:cNvPr id="9" name="Shape 7"/>
          <p:cNvSpPr/>
          <p:nvPr/>
        </p:nvSpPr>
        <p:spPr>
          <a:xfrm>
            <a:off x="1005840" y="3108960"/>
            <a:ext cx="5623560" cy="822960"/>
          </a:xfrm>
          <a:prstGeom prst="roundRect">
            <a:avLst>
              <a:gd name="adj" fmla="val 8889"/>
            </a:avLst>
          </a:prstGeom>
          <a:solidFill>
            <a:srgbClr val="1D4ED8"/>
          </a:solidFill>
          <a:ln w="12700">
            <a:solidFill>
              <a:srgbClr val="1D4ED8"/>
            </a:solidFill>
            <a:prstDash val="solid"/>
          </a:ln>
        </p:spPr>
        <p:txBody>
          <a:bodyPr/>
          <a:lstStyle/>
          <a:p>
            <a:endParaRPr lang="en-US"/>
          </a:p>
        </p:txBody>
      </p:sp>
      <p:sp>
        <p:nvSpPr>
          <p:cNvPr id="10" name="Text 8"/>
          <p:cNvSpPr/>
          <p:nvPr/>
        </p:nvSpPr>
        <p:spPr>
          <a:xfrm>
            <a:off x="1234440" y="3255264"/>
            <a:ext cx="3291840" cy="201168"/>
          </a:xfrm>
          <a:prstGeom prst="rect">
            <a:avLst/>
          </a:prstGeom>
          <a:noFill/>
          <a:ln/>
        </p:spPr>
        <p:txBody>
          <a:bodyPr wrap="square" lIns="0" tIns="0" rIns="0" bIns="0" rtlCol="0" anchor="ctr"/>
          <a:lstStyle/>
          <a:p>
            <a:pPr marL="0" indent="0">
              <a:buNone/>
            </a:pPr>
            <a:r>
              <a:rPr lang="en-US" sz="1600" b="1" dirty="0">
                <a:solidFill>
                  <a:srgbClr val="FFFFFF"/>
                </a:solidFill>
              </a:rPr>
              <a:t>Phase 1B — Tool calling interface</a:t>
            </a:r>
            <a:endParaRPr lang="en-US" sz="1600" dirty="0"/>
          </a:p>
        </p:txBody>
      </p:sp>
      <p:sp>
        <p:nvSpPr>
          <p:cNvPr id="11" name="Text 9"/>
          <p:cNvSpPr/>
          <p:nvPr/>
        </p:nvSpPr>
        <p:spPr>
          <a:xfrm>
            <a:off x="1234440" y="3483864"/>
            <a:ext cx="5074920" cy="256032"/>
          </a:xfrm>
          <a:prstGeom prst="rect">
            <a:avLst/>
          </a:prstGeom>
          <a:noFill/>
          <a:ln/>
        </p:spPr>
        <p:txBody>
          <a:bodyPr wrap="square" lIns="0" tIns="0" rIns="0" bIns="0" rtlCol="0" anchor="ctr"/>
          <a:lstStyle/>
          <a:p>
            <a:pPr marL="0" indent="0">
              <a:buNone/>
            </a:pPr>
            <a:r>
              <a:rPr lang="en-US" sz="1250" dirty="0">
                <a:solidFill>
                  <a:srgbClr val="F8FAFC"/>
                </a:solidFill>
              </a:rPr>
              <a:t>Expose deterministic tools such as query_metric(metric, grain, filters) instead of letting the LLM write free-form SQL.</a:t>
            </a:r>
            <a:endParaRPr lang="en-US" sz="1250" dirty="0"/>
          </a:p>
        </p:txBody>
      </p:sp>
      <p:sp>
        <p:nvSpPr>
          <p:cNvPr id="12" name="Shape 10"/>
          <p:cNvSpPr/>
          <p:nvPr/>
        </p:nvSpPr>
        <p:spPr>
          <a:xfrm>
            <a:off x="1005840" y="4224528"/>
            <a:ext cx="5623560" cy="822960"/>
          </a:xfrm>
          <a:prstGeom prst="roundRect">
            <a:avLst>
              <a:gd name="adj" fmla="val 8889"/>
            </a:avLst>
          </a:prstGeom>
          <a:solidFill>
            <a:srgbClr val="92400E"/>
          </a:solidFill>
          <a:ln w="12700">
            <a:solidFill>
              <a:srgbClr val="92400E"/>
            </a:solidFill>
            <a:prstDash val="solid"/>
          </a:ln>
        </p:spPr>
        <p:txBody>
          <a:bodyPr/>
          <a:lstStyle/>
          <a:p>
            <a:endParaRPr lang="en-US"/>
          </a:p>
        </p:txBody>
      </p:sp>
      <p:sp>
        <p:nvSpPr>
          <p:cNvPr id="13" name="Text 11"/>
          <p:cNvSpPr/>
          <p:nvPr/>
        </p:nvSpPr>
        <p:spPr>
          <a:xfrm>
            <a:off x="1234440" y="4370832"/>
            <a:ext cx="3291840" cy="201168"/>
          </a:xfrm>
          <a:prstGeom prst="rect">
            <a:avLst/>
          </a:prstGeom>
          <a:noFill/>
          <a:ln/>
        </p:spPr>
        <p:txBody>
          <a:bodyPr wrap="square" lIns="0" tIns="0" rIns="0" bIns="0" rtlCol="0" anchor="ctr"/>
          <a:lstStyle/>
          <a:p>
            <a:pPr marL="0" indent="0">
              <a:buNone/>
            </a:pPr>
            <a:r>
              <a:rPr lang="en-US" sz="1600" b="1" dirty="0">
                <a:solidFill>
                  <a:srgbClr val="FFFFFF"/>
                </a:solidFill>
              </a:rPr>
              <a:t>Phase 1C — Eval harness</a:t>
            </a:r>
            <a:endParaRPr lang="en-US" sz="1600" dirty="0"/>
          </a:p>
        </p:txBody>
      </p:sp>
      <p:sp>
        <p:nvSpPr>
          <p:cNvPr id="14" name="Text 12"/>
          <p:cNvSpPr/>
          <p:nvPr/>
        </p:nvSpPr>
        <p:spPr>
          <a:xfrm>
            <a:off x="1234440" y="4599432"/>
            <a:ext cx="5074920" cy="256032"/>
          </a:xfrm>
          <a:prstGeom prst="rect">
            <a:avLst/>
          </a:prstGeom>
          <a:noFill/>
          <a:ln/>
        </p:spPr>
        <p:txBody>
          <a:bodyPr wrap="square" lIns="0" tIns="0" rIns="0" bIns="0" rtlCol="0" anchor="ctr"/>
          <a:lstStyle/>
          <a:p>
            <a:pPr marL="0" indent="0">
              <a:buNone/>
            </a:pPr>
            <a:r>
              <a:rPr lang="en-US" sz="1250" dirty="0">
                <a:solidFill>
                  <a:srgbClr val="F8FAFC"/>
                </a:solidFill>
              </a:rPr>
              <a:t>Golden prompts, metric accuracy, filter correctness, routing/tool selection, abstention, and judge-based narrative checks.</a:t>
            </a:r>
            <a:endParaRPr lang="en-US" sz="1250" dirty="0"/>
          </a:p>
        </p:txBody>
      </p:sp>
      <p:sp>
        <p:nvSpPr>
          <p:cNvPr id="15" name="Shape 13"/>
          <p:cNvSpPr/>
          <p:nvPr/>
        </p:nvSpPr>
        <p:spPr>
          <a:xfrm>
            <a:off x="1005840" y="5431536"/>
            <a:ext cx="5623560" cy="512064"/>
          </a:xfrm>
          <a:prstGeom prst="roundRect">
            <a:avLst>
              <a:gd name="adj" fmla="val 14286"/>
            </a:avLst>
          </a:prstGeom>
          <a:solidFill>
            <a:srgbClr val="07111F"/>
          </a:solidFill>
          <a:ln w="12700">
            <a:solidFill>
              <a:srgbClr val="49C6E5"/>
            </a:solidFill>
            <a:prstDash val="solid"/>
          </a:ln>
        </p:spPr>
        <p:txBody>
          <a:bodyPr/>
          <a:lstStyle/>
          <a:p>
            <a:endParaRPr lang="en-US"/>
          </a:p>
        </p:txBody>
      </p:sp>
      <p:sp>
        <p:nvSpPr>
          <p:cNvPr id="16" name="Text 14"/>
          <p:cNvSpPr/>
          <p:nvPr/>
        </p:nvSpPr>
        <p:spPr>
          <a:xfrm>
            <a:off x="1207008" y="5596128"/>
            <a:ext cx="5303520" cy="164592"/>
          </a:xfrm>
          <a:prstGeom prst="rect">
            <a:avLst/>
          </a:prstGeom>
          <a:noFill/>
          <a:ln/>
        </p:spPr>
        <p:txBody>
          <a:bodyPr wrap="square" lIns="0" tIns="0" rIns="0" bIns="0" rtlCol="0" anchor="ctr"/>
          <a:lstStyle/>
          <a:p>
            <a:pPr marL="0" indent="0">
              <a:buNone/>
            </a:pPr>
            <a:r>
              <a:rPr lang="en-US" sz="1300" b="1" dirty="0">
                <a:solidFill>
                  <a:srgbClr val="A5F3FC"/>
                </a:solidFill>
              </a:rPr>
              <a:t>Reason: tool calling becomes much safer once the business meaning is already governed in dbt.</a:t>
            </a:r>
            <a:endParaRPr lang="en-US" sz="1300" dirty="0"/>
          </a:p>
        </p:txBody>
      </p:sp>
      <p:sp>
        <p:nvSpPr>
          <p:cNvPr id="17" name="Shape 15"/>
          <p:cNvSpPr/>
          <p:nvPr/>
        </p:nvSpPr>
        <p:spPr>
          <a:xfrm>
            <a:off x="7360920" y="1325880"/>
            <a:ext cx="4315968" cy="4983480"/>
          </a:xfrm>
          <a:prstGeom prst="roundRect">
            <a:avLst>
              <a:gd name="adj" fmla="val 2542"/>
            </a:avLst>
          </a:prstGeom>
          <a:solidFill>
            <a:srgbClr val="0F172A"/>
          </a:solidFill>
          <a:ln w="12700">
            <a:solidFill>
              <a:srgbClr val="334155"/>
            </a:solidFill>
            <a:prstDash val="solid"/>
          </a:ln>
        </p:spPr>
        <p:txBody>
          <a:bodyPr/>
          <a:lstStyle/>
          <a:p>
            <a:endParaRPr lang="en-US"/>
          </a:p>
        </p:txBody>
      </p:sp>
      <p:sp>
        <p:nvSpPr>
          <p:cNvPr id="18" name="Text 16"/>
          <p:cNvSpPr/>
          <p:nvPr/>
        </p:nvSpPr>
        <p:spPr>
          <a:xfrm>
            <a:off x="7662672" y="1618488"/>
            <a:ext cx="1920240" cy="237744"/>
          </a:xfrm>
          <a:prstGeom prst="rect">
            <a:avLst/>
          </a:prstGeom>
          <a:noFill/>
          <a:ln/>
        </p:spPr>
        <p:txBody>
          <a:bodyPr wrap="square" lIns="0" tIns="0" rIns="0" bIns="0" rtlCol="0" anchor="ctr"/>
          <a:lstStyle/>
          <a:p>
            <a:pPr marL="0" indent="0">
              <a:buNone/>
            </a:pPr>
            <a:r>
              <a:rPr lang="en-US" sz="1800" b="1" dirty="0">
                <a:solidFill>
                  <a:srgbClr val="F8FAFC"/>
                </a:solidFill>
              </a:rPr>
              <a:t>Decision matrix</a:t>
            </a:r>
            <a:endParaRPr lang="en-US" sz="1800" dirty="0"/>
          </a:p>
        </p:txBody>
      </p:sp>
      <p:sp>
        <p:nvSpPr>
          <p:cNvPr id="19" name="Text 17"/>
          <p:cNvSpPr/>
          <p:nvPr/>
        </p:nvSpPr>
        <p:spPr>
          <a:xfrm>
            <a:off x="7662672" y="2029968"/>
            <a:ext cx="1828800" cy="182880"/>
          </a:xfrm>
          <a:prstGeom prst="rect">
            <a:avLst/>
          </a:prstGeom>
          <a:noFill/>
          <a:ln/>
        </p:spPr>
        <p:txBody>
          <a:bodyPr wrap="square" lIns="0" tIns="0" rIns="0" bIns="0" rtlCol="0" anchor="ctr"/>
          <a:lstStyle/>
          <a:p>
            <a:pPr marL="0" indent="0">
              <a:buNone/>
            </a:pPr>
            <a:r>
              <a:rPr lang="en-US" sz="1200" b="1" dirty="0">
                <a:solidFill>
                  <a:srgbClr val="94A3B8"/>
                </a:solidFill>
              </a:rPr>
              <a:t>Question</a:t>
            </a:r>
            <a:endParaRPr lang="en-US" sz="1200" dirty="0"/>
          </a:p>
        </p:txBody>
      </p:sp>
      <p:sp>
        <p:nvSpPr>
          <p:cNvPr id="20" name="Text 18"/>
          <p:cNvSpPr/>
          <p:nvPr/>
        </p:nvSpPr>
        <p:spPr>
          <a:xfrm>
            <a:off x="10561320" y="2029968"/>
            <a:ext cx="640080" cy="182880"/>
          </a:xfrm>
          <a:prstGeom prst="rect">
            <a:avLst/>
          </a:prstGeom>
          <a:noFill/>
          <a:ln/>
        </p:spPr>
        <p:txBody>
          <a:bodyPr wrap="square" lIns="0" tIns="0" rIns="0" bIns="0" rtlCol="0" anchor="ctr"/>
          <a:lstStyle/>
          <a:p>
            <a:pPr marL="0" indent="0" algn="ctr">
              <a:buNone/>
            </a:pPr>
            <a:r>
              <a:rPr lang="en-US" sz="1200" b="1" dirty="0">
                <a:solidFill>
                  <a:srgbClr val="94A3B8"/>
                </a:solidFill>
              </a:rPr>
              <a:t>Fit</a:t>
            </a:r>
            <a:endParaRPr lang="en-US" sz="1200" dirty="0"/>
          </a:p>
        </p:txBody>
      </p:sp>
      <p:sp>
        <p:nvSpPr>
          <p:cNvPr id="21" name="Shape 19"/>
          <p:cNvSpPr/>
          <p:nvPr/>
        </p:nvSpPr>
        <p:spPr>
          <a:xfrm>
            <a:off x="7635240" y="2267712"/>
            <a:ext cx="3657600" cy="0"/>
          </a:xfrm>
          <a:prstGeom prst="line">
            <a:avLst/>
          </a:prstGeom>
          <a:noFill/>
          <a:ln w="12700">
            <a:solidFill>
              <a:srgbClr val="334155"/>
            </a:solidFill>
            <a:prstDash val="solid"/>
          </a:ln>
        </p:spPr>
        <p:txBody>
          <a:bodyPr/>
          <a:lstStyle/>
          <a:p>
            <a:endParaRPr lang="en-US"/>
          </a:p>
        </p:txBody>
      </p:sp>
      <p:sp>
        <p:nvSpPr>
          <p:cNvPr id="22" name="Text 20"/>
          <p:cNvSpPr/>
          <p:nvPr/>
        </p:nvSpPr>
        <p:spPr>
          <a:xfrm>
            <a:off x="7662672" y="2542032"/>
            <a:ext cx="2606040" cy="384048"/>
          </a:xfrm>
          <a:prstGeom prst="rect">
            <a:avLst/>
          </a:prstGeom>
          <a:noFill/>
          <a:ln/>
        </p:spPr>
        <p:txBody>
          <a:bodyPr wrap="square" lIns="0" tIns="0" rIns="0" bIns="0" rtlCol="0" anchor="ctr"/>
          <a:lstStyle/>
          <a:p>
            <a:pPr marL="0" indent="0">
              <a:buNone/>
            </a:pPr>
            <a:r>
              <a:rPr lang="en-US" sz="1350" dirty="0">
                <a:solidFill>
                  <a:srgbClr val="F8FAFC"/>
                </a:solidFill>
              </a:rPr>
              <a:t>Should this paper change our dbt semantic layer design?</a:t>
            </a:r>
            <a:endParaRPr lang="en-US" sz="1350" dirty="0"/>
          </a:p>
        </p:txBody>
      </p:sp>
      <p:sp>
        <p:nvSpPr>
          <p:cNvPr id="23" name="Shape 21"/>
          <p:cNvSpPr/>
          <p:nvPr/>
        </p:nvSpPr>
        <p:spPr>
          <a:xfrm>
            <a:off x="10497312" y="2596896"/>
            <a:ext cx="841248" cy="256032"/>
          </a:xfrm>
          <a:prstGeom prst="roundRect">
            <a:avLst>
              <a:gd name="adj" fmla="val 28571"/>
            </a:avLst>
          </a:prstGeom>
          <a:solidFill>
            <a:srgbClr val="FB7185"/>
          </a:solidFill>
          <a:ln w="12700">
            <a:solidFill>
              <a:srgbClr val="FB7185"/>
            </a:solidFill>
            <a:prstDash val="solid"/>
          </a:ln>
        </p:spPr>
        <p:txBody>
          <a:bodyPr/>
          <a:lstStyle/>
          <a:p>
            <a:endParaRPr lang="en-US"/>
          </a:p>
        </p:txBody>
      </p:sp>
      <p:sp>
        <p:nvSpPr>
          <p:cNvPr id="24" name="Text 22"/>
          <p:cNvSpPr/>
          <p:nvPr/>
        </p:nvSpPr>
        <p:spPr>
          <a:xfrm>
            <a:off x="10616184" y="2642616"/>
            <a:ext cx="594360" cy="109728"/>
          </a:xfrm>
          <a:prstGeom prst="rect">
            <a:avLst/>
          </a:prstGeom>
          <a:noFill/>
          <a:ln/>
        </p:spPr>
        <p:txBody>
          <a:bodyPr wrap="square" lIns="0" tIns="0" rIns="0" bIns="0" rtlCol="0" anchor="ctr"/>
          <a:lstStyle/>
          <a:p>
            <a:pPr marL="0" indent="0" algn="ctr">
              <a:buNone/>
            </a:pPr>
            <a:r>
              <a:rPr lang="en-US" sz="1050" b="1" dirty="0">
                <a:solidFill>
                  <a:srgbClr val="FFFFFF"/>
                </a:solidFill>
              </a:rPr>
              <a:t>No</a:t>
            </a:r>
            <a:endParaRPr lang="en-US" sz="1050" dirty="0"/>
          </a:p>
        </p:txBody>
      </p:sp>
      <p:sp>
        <p:nvSpPr>
          <p:cNvPr id="25" name="Text 23"/>
          <p:cNvSpPr/>
          <p:nvPr/>
        </p:nvSpPr>
        <p:spPr>
          <a:xfrm>
            <a:off x="7662672" y="2980944"/>
            <a:ext cx="3566160" cy="219456"/>
          </a:xfrm>
          <a:prstGeom prst="rect">
            <a:avLst/>
          </a:prstGeom>
          <a:noFill/>
          <a:ln/>
        </p:spPr>
        <p:txBody>
          <a:bodyPr wrap="square" lIns="0" tIns="0" rIns="0" bIns="0" rtlCol="0" anchor="ctr"/>
          <a:lstStyle/>
          <a:p>
            <a:pPr marL="0" indent="0">
              <a:buNone/>
            </a:pPr>
            <a:r>
              <a:rPr lang="en-US" sz="1150" dirty="0">
                <a:solidFill>
                  <a:srgbClr val="94A3B8"/>
                </a:solidFill>
              </a:rPr>
              <a:t>Semantics still belong in governed dbt models + metrics.</a:t>
            </a:r>
            <a:endParaRPr lang="en-US" sz="1150" dirty="0"/>
          </a:p>
        </p:txBody>
      </p:sp>
      <p:sp>
        <p:nvSpPr>
          <p:cNvPr id="26" name="Text 24"/>
          <p:cNvSpPr/>
          <p:nvPr/>
        </p:nvSpPr>
        <p:spPr>
          <a:xfrm>
            <a:off x="7662672" y="3474720"/>
            <a:ext cx="2606040" cy="384048"/>
          </a:xfrm>
          <a:prstGeom prst="rect">
            <a:avLst/>
          </a:prstGeom>
          <a:noFill/>
          <a:ln/>
        </p:spPr>
        <p:txBody>
          <a:bodyPr wrap="square" lIns="0" tIns="0" rIns="0" bIns="0" rtlCol="0" anchor="ctr"/>
          <a:lstStyle/>
          <a:p>
            <a:pPr marL="0" indent="0">
              <a:buNone/>
            </a:pPr>
            <a:r>
              <a:rPr lang="en-US" sz="1350" dirty="0">
                <a:solidFill>
                  <a:srgbClr val="F8FAFC"/>
                </a:solidFill>
              </a:rPr>
              <a:t>Should we adopt tool calling as the LLM interface?</a:t>
            </a:r>
            <a:endParaRPr lang="en-US" sz="1350" dirty="0"/>
          </a:p>
        </p:txBody>
      </p:sp>
      <p:sp>
        <p:nvSpPr>
          <p:cNvPr id="27" name="Shape 25"/>
          <p:cNvSpPr/>
          <p:nvPr/>
        </p:nvSpPr>
        <p:spPr>
          <a:xfrm>
            <a:off x="10497312" y="3529584"/>
            <a:ext cx="841248" cy="256032"/>
          </a:xfrm>
          <a:prstGeom prst="roundRect">
            <a:avLst>
              <a:gd name="adj" fmla="val 28571"/>
            </a:avLst>
          </a:prstGeom>
          <a:solidFill>
            <a:srgbClr val="22C55E"/>
          </a:solidFill>
          <a:ln w="12700">
            <a:solidFill>
              <a:srgbClr val="22C55E"/>
            </a:solidFill>
            <a:prstDash val="solid"/>
          </a:ln>
        </p:spPr>
        <p:txBody>
          <a:bodyPr/>
          <a:lstStyle/>
          <a:p>
            <a:endParaRPr lang="en-US"/>
          </a:p>
        </p:txBody>
      </p:sp>
      <p:sp>
        <p:nvSpPr>
          <p:cNvPr id="28" name="Text 26"/>
          <p:cNvSpPr/>
          <p:nvPr/>
        </p:nvSpPr>
        <p:spPr>
          <a:xfrm>
            <a:off x="10616184" y="3575304"/>
            <a:ext cx="594360" cy="109728"/>
          </a:xfrm>
          <a:prstGeom prst="rect">
            <a:avLst/>
          </a:prstGeom>
          <a:noFill/>
          <a:ln/>
        </p:spPr>
        <p:txBody>
          <a:bodyPr wrap="square" lIns="0" tIns="0" rIns="0" bIns="0" rtlCol="0" anchor="ctr"/>
          <a:lstStyle/>
          <a:p>
            <a:pPr marL="0" indent="0" algn="ctr">
              <a:buNone/>
            </a:pPr>
            <a:r>
              <a:rPr lang="en-US" sz="1050" b="1" dirty="0">
                <a:solidFill>
                  <a:srgbClr val="FFFFFF"/>
                </a:solidFill>
              </a:rPr>
              <a:t>Yes</a:t>
            </a:r>
            <a:endParaRPr lang="en-US" sz="1050" dirty="0"/>
          </a:p>
        </p:txBody>
      </p:sp>
      <p:sp>
        <p:nvSpPr>
          <p:cNvPr id="29" name="Text 27"/>
          <p:cNvSpPr/>
          <p:nvPr/>
        </p:nvSpPr>
        <p:spPr>
          <a:xfrm>
            <a:off x="7662672" y="3913632"/>
            <a:ext cx="3566160" cy="219456"/>
          </a:xfrm>
          <a:prstGeom prst="rect">
            <a:avLst/>
          </a:prstGeom>
          <a:noFill/>
          <a:ln/>
        </p:spPr>
        <p:txBody>
          <a:bodyPr wrap="square" lIns="0" tIns="0" rIns="0" bIns="0" rtlCol="0" anchor="ctr"/>
          <a:lstStyle/>
          <a:p>
            <a:pPr marL="0" indent="0">
              <a:buNone/>
            </a:pPr>
            <a:r>
              <a:rPr lang="en-US" sz="1150" dirty="0">
                <a:solidFill>
                  <a:srgbClr val="94A3B8"/>
                </a:solidFill>
              </a:rPr>
              <a:t>It is a better control surface than raw SQL generation.</a:t>
            </a:r>
            <a:endParaRPr lang="en-US" sz="1150" dirty="0"/>
          </a:p>
        </p:txBody>
      </p:sp>
      <p:sp>
        <p:nvSpPr>
          <p:cNvPr id="30" name="Text 28"/>
          <p:cNvSpPr/>
          <p:nvPr/>
        </p:nvSpPr>
        <p:spPr>
          <a:xfrm>
            <a:off x="7662672" y="4407408"/>
            <a:ext cx="2606040" cy="384048"/>
          </a:xfrm>
          <a:prstGeom prst="rect">
            <a:avLst/>
          </a:prstGeom>
          <a:noFill/>
          <a:ln/>
        </p:spPr>
        <p:txBody>
          <a:bodyPr wrap="square" lIns="0" tIns="0" rIns="0" bIns="0" rtlCol="0" anchor="ctr"/>
          <a:lstStyle/>
          <a:p>
            <a:pPr marL="0" indent="0">
              <a:buNone/>
            </a:pPr>
            <a:r>
              <a:rPr lang="en-US" sz="1350" dirty="0">
                <a:solidFill>
                  <a:srgbClr val="F8FAFC"/>
                </a:solidFill>
              </a:rPr>
              <a:t>Should we borrow the evaluation approach?</a:t>
            </a:r>
            <a:endParaRPr lang="en-US" sz="1350" dirty="0"/>
          </a:p>
        </p:txBody>
      </p:sp>
      <p:sp>
        <p:nvSpPr>
          <p:cNvPr id="31" name="Shape 29"/>
          <p:cNvSpPr/>
          <p:nvPr/>
        </p:nvSpPr>
        <p:spPr>
          <a:xfrm>
            <a:off x="10497312" y="4462272"/>
            <a:ext cx="841248" cy="256032"/>
          </a:xfrm>
          <a:prstGeom prst="roundRect">
            <a:avLst>
              <a:gd name="adj" fmla="val 28571"/>
            </a:avLst>
          </a:prstGeom>
          <a:solidFill>
            <a:srgbClr val="22C55E"/>
          </a:solidFill>
          <a:ln w="12700">
            <a:solidFill>
              <a:srgbClr val="22C55E"/>
            </a:solidFill>
            <a:prstDash val="solid"/>
          </a:ln>
        </p:spPr>
        <p:txBody>
          <a:bodyPr/>
          <a:lstStyle/>
          <a:p>
            <a:endParaRPr lang="en-US"/>
          </a:p>
        </p:txBody>
      </p:sp>
      <p:sp>
        <p:nvSpPr>
          <p:cNvPr id="32" name="Text 30"/>
          <p:cNvSpPr/>
          <p:nvPr/>
        </p:nvSpPr>
        <p:spPr>
          <a:xfrm>
            <a:off x="10616184" y="4507992"/>
            <a:ext cx="594360" cy="109728"/>
          </a:xfrm>
          <a:prstGeom prst="rect">
            <a:avLst/>
          </a:prstGeom>
          <a:noFill/>
          <a:ln/>
        </p:spPr>
        <p:txBody>
          <a:bodyPr wrap="square" lIns="0" tIns="0" rIns="0" bIns="0" rtlCol="0" anchor="ctr"/>
          <a:lstStyle/>
          <a:p>
            <a:pPr marL="0" indent="0" algn="ctr">
              <a:buNone/>
            </a:pPr>
            <a:r>
              <a:rPr lang="en-US" sz="1050" b="1" dirty="0">
                <a:solidFill>
                  <a:srgbClr val="FFFFFF"/>
                </a:solidFill>
              </a:rPr>
              <a:t>Yes</a:t>
            </a:r>
            <a:endParaRPr lang="en-US" sz="1050" dirty="0"/>
          </a:p>
        </p:txBody>
      </p:sp>
      <p:sp>
        <p:nvSpPr>
          <p:cNvPr id="33" name="Text 31"/>
          <p:cNvSpPr/>
          <p:nvPr/>
        </p:nvSpPr>
        <p:spPr>
          <a:xfrm>
            <a:off x="7662672" y="4846320"/>
            <a:ext cx="3566160" cy="219456"/>
          </a:xfrm>
          <a:prstGeom prst="rect">
            <a:avLst/>
          </a:prstGeom>
          <a:noFill/>
          <a:ln/>
        </p:spPr>
        <p:txBody>
          <a:bodyPr wrap="square" lIns="0" tIns="0" rIns="0" bIns="0" rtlCol="0" anchor="ctr"/>
          <a:lstStyle/>
          <a:p>
            <a:pPr marL="0" indent="0">
              <a:buNone/>
            </a:pPr>
            <a:r>
              <a:rPr lang="en-US" sz="1150" dirty="0">
                <a:solidFill>
                  <a:srgbClr val="94A3B8"/>
                </a:solidFill>
              </a:rPr>
              <a:t>Use it to measure tool routing, filters, and answer correctness before scale.</a:t>
            </a:r>
            <a:endParaRPr lang="en-US" sz="1150" dirty="0"/>
          </a:p>
        </p:txBody>
      </p:sp>
      <p:sp>
        <p:nvSpPr>
          <p:cNvPr id="34" name="Shape 32"/>
          <p:cNvSpPr/>
          <p:nvPr/>
        </p:nvSpPr>
        <p:spPr>
          <a:xfrm>
            <a:off x="7635240" y="5413248"/>
            <a:ext cx="3703320" cy="530352"/>
          </a:xfrm>
          <a:prstGeom prst="roundRect">
            <a:avLst>
              <a:gd name="adj" fmla="val 13793"/>
            </a:avLst>
          </a:prstGeom>
          <a:solidFill>
            <a:srgbClr val="1E293B"/>
          </a:solidFill>
          <a:ln w="12700">
            <a:solidFill>
              <a:srgbClr val="1E293B"/>
            </a:solidFill>
            <a:prstDash val="solid"/>
          </a:ln>
        </p:spPr>
        <p:txBody>
          <a:bodyPr/>
          <a:lstStyle/>
          <a:p>
            <a:endParaRPr lang="en-US"/>
          </a:p>
        </p:txBody>
      </p:sp>
      <p:sp>
        <p:nvSpPr>
          <p:cNvPr id="35" name="Text 33"/>
          <p:cNvSpPr/>
          <p:nvPr/>
        </p:nvSpPr>
        <p:spPr>
          <a:xfrm>
            <a:off x="7845552" y="5559552"/>
            <a:ext cx="3291840" cy="182880"/>
          </a:xfrm>
          <a:prstGeom prst="rect">
            <a:avLst/>
          </a:prstGeom>
          <a:noFill/>
          <a:ln/>
        </p:spPr>
        <p:txBody>
          <a:bodyPr wrap="square" lIns="0" tIns="0" rIns="0" bIns="0" rtlCol="0" anchor="ctr"/>
          <a:lstStyle/>
          <a:p>
            <a:pPr marL="0" indent="0">
              <a:buNone/>
            </a:pPr>
            <a:r>
              <a:rPr lang="en-US" sz="1250" b="1" dirty="0">
                <a:solidFill>
                  <a:srgbClr val="F8FAFC"/>
                </a:solidFill>
              </a:rPr>
              <a:t>Message to manager: “dbt defines the truth; tool calling is the access pattern; evals are the guardrail.”</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4351</Words>
  <Application>Microsoft Macintosh PowerPoint</Application>
  <PresentationFormat>Widescreen</PresentationFormat>
  <Paragraphs>411</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1 Revised Technical Blueprint</dc:title>
  <dc:subject>Phase 1 Semantic GenAI for BI</dc:subject>
  <dc:creator>OpenAI</dc:creator>
  <cp:lastModifiedBy>OMSA Class</cp:lastModifiedBy>
  <cp:revision>4</cp:revision>
  <dcterms:created xsi:type="dcterms:W3CDTF">2026-03-19T18:00:12Z</dcterms:created>
  <dcterms:modified xsi:type="dcterms:W3CDTF">2026-03-23T06:57:21Z</dcterms:modified>
</cp:coreProperties>
</file>